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a Campus Lost and Found Management System. It replaces</a:t>
            </a:r>
          </a:p>
          <a:p>
            <a:r>
              <a:t>notice boards and WhatsApp forwards with one searchable database, and it is built to</a:t>
            </a:r>
          </a:p>
          <a:p>
            <a:r>
              <a:t>demonstrate OOPS and DBMS concepts in a real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move from why the project exists, to how it is designed, to a live</a:t>
            </a:r>
          </a:p>
          <a:p>
            <a:r>
              <a:t>demonstration, and finish with testing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how many of you have lost a bottle, ID card or charger this semester?</a:t>
            </a:r>
          </a:p>
          <a:p>
            <a:r>
              <a:t>The information exists, but it is scattered. The security office keeps a register,</a:t>
            </a:r>
          </a:p>
          <a:p>
            <a:r>
              <a:t>students post in groups, and the two never meet. That gap is our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system is one loop. Every report improves the matching pool, every claim</a:t>
            </a:r>
          </a:p>
          <a:p>
            <a:r>
              <a:t>has a verifier, and every recovery is recorded, so the college finally gets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one to four are the user-facing objectives. Point five is academic: this is not</a:t>
            </a:r>
          </a:p>
          <a:p>
            <a:r>
              <a:t>a CRUD toy, every concept in the syllabus is used because the problem genuinely needs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kept the boundary tight so the project could be finished and tested</a:t>
            </a:r>
          </a:p>
          <a:p>
            <a:r>
              <a:t>properly. Each out-of-scope item is a natural next step, which I will come back to at</a:t>
            </a:r>
          </a:p>
          <a:p>
            <a:r>
              <a:t>the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register is the closest existing system, and it fails on three counts: you</a:t>
            </a:r>
          </a:p>
          <a:p>
            <a:r>
              <a:t>cannot search it, anyone can claim an item, and nobody can produce a report at the end</a:t>
            </a:r>
          </a:p>
          <a:p>
            <a:r>
              <a:t>of the semester.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no framework on purpose. Spring or Hibernate would hide exactly the concepts</a:t>
            </a:r>
          </a:p>
          <a:p>
            <a:r>
              <a:t>the review wants to see: joins, transactions, prepared statements and object-relational</a:t>
            </a:r>
          </a:p>
          <a:p>
            <a:r>
              <a:t>mapping.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only knows the one below it. The UI has no SQL at all; the DAO has no</a:t>
            </a:r>
          </a:p>
          <a:p>
            <a:r>
              <a:t>business rules; the service has no Swing imports. That is what makes the claim</a:t>
            </a:r>
          </a:p>
          <a:p>
            <a:r>
              <a:t>transaction reusable and the code testable.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four separate examples bolted on; they are the same hierarchy seen from</a:t>
            </a:r>
          </a:p>
          <a:p>
            <a:r>
              <a:t>four angles.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OOPS design. If you asked for a single example of inheritance,</a:t>
            </a:r>
          </a:p>
          <a:p>
            <a:r>
              <a:t>abstraction and polymorphism, this hierarchy is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Encapsulation is not just getters and setters: the setter enforces the invariant that</a:t>
            </a:r>
          </a:p>
          <a:p>
            <a:r>
              <a:t>status is never null. Abstraction means the UI asks "are you lost or found?" without</a:t>
            </a:r>
          </a:p>
          <a:p>
            <a:r>
              <a:t>knowing which class it holds, and the service asks the DAO for data without knowing</a:t>
            </a:r>
          </a:p>
          <a:p>
            <a:r>
              <a:t>that JDBC exists.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has no if-else on type. Java dispatches to the right override, which is</a:t>
            </a:r>
          </a:p>
          <a:p>
            <a:r>
              <a:t>exactly what polymorphism buys us: new item types can be added without editing this</a:t>
            </a:r>
          </a:p>
          <a:p>
            <a:r>
              <a:t>loop.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interesting part is the middle: items is the super-table, and the two subtype</a:t>
            </a:r>
          </a:p>
          <a:p>
            <a:r>
              <a:t>tables hold only the fields specific to lost or found reports. That is the database</a:t>
            </a:r>
          </a:p>
          <a:p>
            <a:r>
              <a:t>mirror of the Java hierarchy.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constraints deserve a mention. The unique key on item + claimant blocks duplicate</a:t>
            </a:r>
          </a:p>
          <a:p>
            <a:r>
              <a:t>claims at database level, not just in Java. And the foreign keys make it impossible to</a:t>
            </a:r>
          </a:p>
          <a:p>
            <a:r>
              <a:t>attach a claim to a non-existent item.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JOIN is important: a lost row has no found_items row, so an inner join would</a:t>
            </a:r>
          </a:p>
          <a:p>
            <a:r>
              <a:t>silently drop half the data. The trigger means the audit trail cannot be forgotten by</a:t>
            </a:r>
          </a:p>
          <a:p>
            <a:r>
              <a:t>application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ACID slide. In ClaimService.runInTransaction we disable auto-commit, run the</a:t>
            </a:r>
          </a:p>
          <a:p>
            <a:r>
              <a:t>three statements, commit once. Any exception rolls all three back, so the database can</a:t>
            </a:r>
          </a:p>
          <a:p>
            <a:r>
              <a:t>never show an approved claim against an open item.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pairing happens in one SQL view, not in Java loops. The database is better at</a:t>
            </a:r>
          </a:p>
          <a:p>
            <a:r>
              <a:t>joining thousands of rows, and we can tune the weights by editing one view. The UI</a:t>
            </a:r>
          </a:p>
          <a:p>
            <a:r>
              <a:t>explains the score in words so a staff member can judge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Authorisation is enforced twice: the UI hides the verification buttons, and</a:t>
            </a:r>
          </a:p>
          <a:p>
            <a:r>
              <a:t>ClaimService.requireVerifier() throws if a student calls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OOPS hierarchy pays off in the UI: the form literally swaps panels,</a:t>
            </a:r>
          </a:p>
          <a:p>
            <a:r>
              <a:t>and the service receives either a LostItem or a FoundItem through the same method.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DAO builds the WHERE clause dynamically but every value is bound as a parameter.</a:t>
            </a:r>
          </a:p>
          <a:p>
            <a:r>
              <a:t>Nothing from the user is ever concatenated into SQL.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view is computed on demand, a new report appears in the match list</a:t>
            </a:r>
          </a:p>
          <a:p>
            <a:r>
              <a:t>immediately. There is no nightly job and no cache to invalidate.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workflow is enforced on both sides: the item moves to CLAIMED on approval,</a:t>
            </a:r>
          </a:p>
          <a:p>
            <a:r>
              <a:t>so a second claimant cannot file, and the unique key blocks a duplicate claim anyway.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recovery rate is the number the college actually cares about: recovered items</a:t>
            </a:r>
          </a:p>
          <a:p>
            <a:r>
              <a:t>divided by total reports. It is available because every handover is recorded, which</a:t>
            </a:r>
          </a:p>
          <a:p>
            <a:r>
              <a:t>the paper register cannot 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screens share one style class, so the application looks like a product rather</a:t>
            </a:r>
          </a:p>
          <a:p>
            <a:r>
              <a:t>than six separate assignments. Every table is sortable and refreshes on navigation.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was manual plus SQL-level checks. The two most important cases are nine and</a:t>
            </a:r>
          </a:p>
          <a:p>
            <a:r>
              <a:t>ten: the transaction is atomic, and authorisation does not depend on the UI.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you will see the numbers change: approve a claim, then the dashboard</a:t>
            </a:r>
          </a:p>
          <a:p>
            <a:r>
              <a:t>recovery rate and the item status update together.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explicit about the limits. Each one is a well-scoped extension rather than a</a:t>
            </a:r>
          </a:p>
          <a:p>
            <a:r>
              <a:t>rewrite, because the layers are separated.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project solves a real campus problem and, more importantly for this</a:t>
            </a:r>
          </a:p>
          <a:p>
            <a:r>
              <a:t>review, every concept we studied has a concrete job inside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happy to take questions, and we can demonstrate any screen live - including the</a:t>
            </a:r>
          </a:p>
          <a:p>
            <a:r>
              <a:t>database transaction behind the approve button.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A3E"/>
        </a:solidFill>
        <a:effectLst/>
      </p:bgPr>
    </p:bg>
    <p:spTree>
      <p:nvGrpSpPr>
        <p:cNvPr id="1" name=""/>
        <p:cNvGrpSpPr/>
        <p:nvPr/>
      </p:nvGrpSpPr>
      <p:grpSpPr/>
      <p:sp>
        <p:nvSpPr>
          <p:cNvPr id="2" name="Oval 1"/>
          <p:cNvSpPr/>
          <p:nvPr/>
        </p:nvSpPr>
        <p:spPr>
          <a:xfrm>
            <a:off x="7498079" y="3931920"/>
            <a:ext cx="4937760" cy="4937760"/>
          </a:xfrm>
          <a:prstGeom prst="ellipse">
            <a:avLst/>
          </a:prstGeom>
          <a:solidFill>
            <a:srgbClr val="9FC9D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737360"/>
            <a:ext cx="3840480" cy="3840480"/>
          </a:xfrm>
          <a:prstGeom prst="ellipse">
            <a:avLst/>
          </a:prstGeom>
          <a:solidFill>
            <a:srgbClr val="9FC9DD">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58368"/>
            <a:ext cx="2743200" cy="274320"/>
          </a:xfrm>
          <a:prstGeom prst="rect">
            <a:avLst/>
          </a:prstGeom>
          <a:noFill/>
        </p:spPr>
        <p:txBody>
          <a:bodyPr wrap="square" lIns="0" rIns="0" tIns="0" bIns="0" anchor="t">
            <a:spAutoFit/>
          </a:bodyPr>
          <a:lstStyle/>
          <a:p>
            <a:pPr algn="l">
              <a:lnSpc>
                <a:spcPct val="105000"/>
              </a:lnSpc>
            </a:pPr>
            <a:r>
              <a:rPr sz="1100" b="1" i="0">
                <a:solidFill>
                  <a:srgbClr val="8FD3DE"/>
                </a:solidFill>
                <a:latin typeface="Segoe UI"/>
              </a:rPr>
              <a:t>R  E  C</a:t>
            </a:r>
          </a:p>
        </p:txBody>
      </p:sp>
      <p:sp>
        <p:nvSpPr>
          <p:cNvPr id="5" name="TextBox 4"/>
          <p:cNvSpPr txBox="1"/>
          <p:nvPr/>
        </p:nvSpPr>
        <p:spPr>
          <a:xfrm>
            <a:off x="658368" y="1417320"/>
            <a:ext cx="8961120" cy="868680"/>
          </a:xfrm>
          <a:prstGeom prst="rect">
            <a:avLst/>
          </a:prstGeom>
          <a:noFill/>
        </p:spPr>
        <p:txBody>
          <a:bodyPr wrap="square" lIns="0" rIns="0" tIns="0" bIns="0" anchor="t">
            <a:spAutoFit/>
          </a:bodyPr>
          <a:lstStyle/>
          <a:p>
            <a:pPr algn="l">
              <a:lnSpc>
                <a:spcPct val="105000"/>
              </a:lnSpc>
            </a:pPr>
            <a:r>
              <a:rPr sz="4600" b="1" i="0">
                <a:solidFill>
                  <a:srgbClr val="FFFFFF"/>
                </a:solidFill>
                <a:latin typeface="Segoe UI"/>
              </a:rPr>
              <a:t>Campus Lost &amp; Found</a:t>
            </a:r>
          </a:p>
        </p:txBody>
      </p:sp>
      <p:sp>
        <p:nvSpPr>
          <p:cNvPr id="6" name="TextBox 5"/>
          <p:cNvSpPr txBox="1"/>
          <p:nvPr/>
        </p:nvSpPr>
        <p:spPr>
          <a:xfrm>
            <a:off x="658368" y="2267712"/>
            <a:ext cx="8961120" cy="548640"/>
          </a:xfrm>
          <a:prstGeom prst="rect">
            <a:avLst/>
          </a:prstGeom>
          <a:noFill/>
        </p:spPr>
        <p:txBody>
          <a:bodyPr wrap="square" lIns="0" rIns="0" tIns="0" bIns="0" anchor="t">
            <a:spAutoFit/>
          </a:bodyPr>
          <a:lstStyle/>
          <a:p>
            <a:pPr algn="l">
              <a:lnSpc>
                <a:spcPct val="105000"/>
              </a:lnSpc>
            </a:pPr>
            <a:r>
              <a:rPr sz="2700" b="0" i="0">
                <a:solidFill>
                  <a:srgbClr val="C9D6E2"/>
                </a:solidFill>
                <a:latin typeface="Segoe UI"/>
              </a:rPr>
              <a:t>Management System</a:t>
            </a:r>
          </a:p>
        </p:txBody>
      </p:sp>
      <p:sp>
        <p:nvSpPr>
          <p:cNvPr id="7" name="Rectangle 6"/>
          <p:cNvSpPr/>
          <p:nvPr/>
        </p:nvSpPr>
        <p:spPr>
          <a:xfrm>
            <a:off x="685800" y="2962656"/>
            <a:ext cx="1417320" cy="6400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00400"/>
            <a:ext cx="8138160" cy="822960"/>
          </a:xfrm>
          <a:prstGeom prst="rect">
            <a:avLst/>
          </a:prstGeom>
          <a:noFill/>
        </p:spPr>
        <p:txBody>
          <a:bodyPr wrap="square" lIns="0" rIns="0" tIns="0" bIns="0" anchor="t">
            <a:spAutoFit/>
          </a:bodyPr>
          <a:lstStyle/>
          <a:p>
            <a:pPr algn="l">
              <a:lnSpc>
                <a:spcPct val="130000"/>
              </a:lnSpc>
            </a:pPr>
            <a:r>
              <a:rPr sz="1550" b="0" i="0">
                <a:solidFill>
                  <a:srgbClr val="C9D6E2"/>
                </a:solidFill>
                <a:latin typeface="Segoe UI"/>
              </a:rPr>
              <a:t>One searchable desk for every lost bottle, ID card, key and</a:t>
            </a:r>
          </a:p>
          <a:p>
            <a:pPr algn="l">
              <a:lnSpc>
                <a:spcPct val="130000"/>
              </a:lnSpc>
            </a:pPr>
            <a:r>
              <a:rPr sz="1550" b="0" i="0">
                <a:solidFill>
                  <a:srgbClr val="C9D6E2"/>
                </a:solidFill>
                <a:latin typeface="Segoe UI"/>
              </a:rPr>
              <a:t>calculator on campus.</a:t>
            </a:r>
          </a:p>
        </p:txBody>
      </p:sp>
      <p:cxnSp>
        <p:nvCxnSpPr>
          <p:cNvPr id="9" name="Connector 8"/>
          <p:cNvCxnSpPr/>
          <p:nvPr/>
        </p:nvCxnSpPr>
        <p:spPr>
          <a:xfrm>
            <a:off x="658368" y="4956048"/>
            <a:ext cx="10874959" cy="0"/>
          </a:xfrm>
          <a:prstGeom prst="line">
            <a:avLst/>
          </a:prstGeom>
          <a:ln w="12700">
            <a:solidFill>
              <a:srgbClr val="35557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5138928"/>
            <a:ext cx="3566160" cy="228600"/>
          </a:xfrm>
          <a:prstGeom prst="rect">
            <a:avLst/>
          </a:prstGeom>
          <a:noFill/>
        </p:spPr>
        <p:txBody>
          <a:bodyPr wrap="square" lIns="0" rIns="0" tIns="0" bIns="0" anchor="t">
            <a:spAutoFit/>
          </a:bodyPr>
          <a:lstStyle/>
          <a:p>
            <a:pPr algn="l">
              <a:lnSpc>
                <a:spcPct val="105000"/>
              </a:lnSpc>
            </a:pPr>
            <a:r>
              <a:rPr sz="850" b="1" i="0">
                <a:solidFill>
                  <a:srgbClr val="6E8CA8"/>
                </a:solidFill>
                <a:latin typeface="Segoe UI"/>
              </a:rPr>
              <a:t>PRESENTED BY</a:t>
            </a:r>
          </a:p>
        </p:txBody>
      </p:sp>
      <p:sp>
        <p:nvSpPr>
          <p:cNvPr id="11" name="TextBox 10"/>
          <p:cNvSpPr txBox="1"/>
          <p:nvPr/>
        </p:nvSpPr>
        <p:spPr>
          <a:xfrm>
            <a:off x="658368" y="5394960"/>
            <a:ext cx="3566160" cy="274320"/>
          </a:xfrm>
          <a:prstGeom prst="rect">
            <a:avLst/>
          </a:prstGeom>
          <a:noFill/>
        </p:spPr>
        <p:txBody>
          <a:bodyPr wrap="square" lIns="0" rIns="0" tIns="0" bIns="0" anchor="t">
            <a:spAutoFit/>
          </a:bodyPr>
          <a:lstStyle/>
          <a:p>
            <a:pPr algn="l">
              <a:lnSpc>
                <a:spcPct val="105000"/>
              </a:lnSpc>
            </a:pPr>
            <a:r>
              <a:rPr sz="1250" b="0" i="0">
                <a:solidFill>
                  <a:srgbClr val="FFFFFF"/>
                </a:solidFill>
                <a:latin typeface="Segoe UI"/>
              </a:rPr>
              <a:t>‹Your Name›  ·  ‹Roll Number›</a:t>
            </a:r>
          </a:p>
        </p:txBody>
      </p:sp>
      <p:sp>
        <p:nvSpPr>
          <p:cNvPr id="12" name="TextBox 11"/>
          <p:cNvSpPr txBox="1"/>
          <p:nvPr/>
        </p:nvSpPr>
        <p:spPr>
          <a:xfrm>
            <a:off x="4407407" y="5138928"/>
            <a:ext cx="3566160" cy="228600"/>
          </a:xfrm>
          <a:prstGeom prst="rect">
            <a:avLst/>
          </a:prstGeom>
          <a:noFill/>
        </p:spPr>
        <p:txBody>
          <a:bodyPr wrap="square" lIns="0" rIns="0" tIns="0" bIns="0" anchor="t">
            <a:spAutoFit/>
          </a:bodyPr>
          <a:lstStyle/>
          <a:p>
            <a:pPr algn="l">
              <a:lnSpc>
                <a:spcPct val="105000"/>
              </a:lnSpc>
            </a:pPr>
            <a:r>
              <a:rPr sz="850" b="1" i="0">
                <a:solidFill>
                  <a:srgbClr val="6E8CA8"/>
                </a:solidFill>
                <a:latin typeface="Segoe UI"/>
              </a:rPr>
              <a:t>GUIDE</a:t>
            </a:r>
          </a:p>
        </p:txBody>
      </p:sp>
      <p:sp>
        <p:nvSpPr>
          <p:cNvPr id="13" name="TextBox 12"/>
          <p:cNvSpPr txBox="1"/>
          <p:nvPr/>
        </p:nvSpPr>
        <p:spPr>
          <a:xfrm>
            <a:off x="4407407" y="5394960"/>
            <a:ext cx="3566160" cy="274320"/>
          </a:xfrm>
          <a:prstGeom prst="rect">
            <a:avLst/>
          </a:prstGeom>
          <a:noFill/>
        </p:spPr>
        <p:txBody>
          <a:bodyPr wrap="square" lIns="0" rIns="0" tIns="0" bIns="0" anchor="t">
            <a:spAutoFit/>
          </a:bodyPr>
          <a:lstStyle/>
          <a:p>
            <a:pPr algn="l">
              <a:lnSpc>
                <a:spcPct val="105000"/>
              </a:lnSpc>
            </a:pPr>
            <a:r>
              <a:rPr sz="1250" b="0" i="0">
                <a:solidFill>
                  <a:srgbClr val="FFFFFF"/>
                </a:solidFill>
                <a:latin typeface="Segoe UI"/>
              </a:rPr>
              <a:t>‹Guide Name›  ·  ‹Department›</a:t>
            </a:r>
          </a:p>
        </p:txBody>
      </p:sp>
      <p:sp>
        <p:nvSpPr>
          <p:cNvPr id="14" name="TextBox 13"/>
          <p:cNvSpPr txBox="1"/>
          <p:nvPr/>
        </p:nvSpPr>
        <p:spPr>
          <a:xfrm>
            <a:off x="8156448" y="5138928"/>
            <a:ext cx="3566160" cy="228600"/>
          </a:xfrm>
          <a:prstGeom prst="rect">
            <a:avLst/>
          </a:prstGeom>
          <a:noFill/>
        </p:spPr>
        <p:txBody>
          <a:bodyPr wrap="square" lIns="0" rIns="0" tIns="0" bIns="0" anchor="t">
            <a:spAutoFit/>
          </a:bodyPr>
          <a:lstStyle/>
          <a:p>
            <a:pPr algn="l">
              <a:lnSpc>
                <a:spcPct val="105000"/>
              </a:lnSpc>
            </a:pPr>
            <a:r>
              <a:rPr sz="850" b="1" i="0">
                <a:solidFill>
                  <a:srgbClr val="6E8CA8"/>
                </a:solidFill>
                <a:latin typeface="Segoe UI"/>
              </a:rPr>
              <a:t>ACADEMIC YEAR</a:t>
            </a:r>
          </a:p>
        </p:txBody>
      </p:sp>
      <p:sp>
        <p:nvSpPr>
          <p:cNvPr id="15" name="TextBox 14"/>
          <p:cNvSpPr txBox="1"/>
          <p:nvPr/>
        </p:nvSpPr>
        <p:spPr>
          <a:xfrm>
            <a:off x="8156448" y="5394960"/>
            <a:ext cx="3566160" cy="274320"/>
          </a:xfrm>
          <a:prstGeom prst="rect">
            <a:avLst/>
          </a:prstGeom>
          <a:noFill/>
        </p:spPr>
        <p:txBody>
          <a:bodyPr wrap="square" lIns="0" rIns="0" tIns="0" bIns="0" anchor="t">
            <a:spAutoFit/>
          </a:bodyPr>
          <a:lstStyle/>
          <a:p>
            <a:pPr algn="l">
              <a:lnSpc>
                <a:spcPct val="105000"/>
              </a:lnSpc>
            </a:pPr>
            <a:r>
              <a:rPr sz="1250" b="0" i="0">
                <a:solidFill>
                  <a:srgbClr val="FFFFFF"/>
                </a:solidFill>
                <a:latin typeface="Segoe UI"/>
              </a:rPr>
              <a:t>2025 – 26</a:t>
            </a:r>
          </a:p>
        </p:txBody>
      </p:sp>
      <p:sp>
        <p:nvSpPr>
          <p:cNvPr id="16" name="TextBox 15"/>
          <p:cNvSpPr txBox="1"/>
          <p:nvPr/>
        </p:nvSpPr>
        <p:spPr>
          <a:xfrm>
            <a:off x="8607247" y="6419088"/>
            <a:ext cx="2926080" cy="228600"/>
          </a:xfrm>
          <a:prstGeom prst="rect">
            <a:avLst/>
          </a:prstGeom>
          <a:noFill/>
        </p:spPr>
        <p:txBody>
          <a:bodyPr wrap="square" lIns="0" rIns="0" tIns="0" bIns="0" anchor="t">
            <a:spAutoFit/>
          </a:bodyPr>
          <a:lstStyle/>
          <a:p>
            <a:pPr algn="r">
              <a:lnSpc>
                <a:spcPct val="105000"/>
              </a:lnSpc>
            </a:pPr>
            <a:r>
              <a:rPr sz="900" b="1" i="0">
                <a:solidFill>
                  <a:srgbClr val="8FD3DE"/>
                </a:solidFill>
                <a:latin typeface="Segoe UI"/>
              </a:rPr>
              <a:t>Java  ·  Swing  ·  JDBC  ·  MySQL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Agenda</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From the problem, to the design, to a live demonstration</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02</a:t>
            </a:r>
          </a:p>
        </p:txBody>
      </p:sp>
      <p:sp>
        <p:nvSpPr>
          <p:cNvPr id="8" name="Rounded Rectangle 7"/>
          <p:cNvSpPr/>
          <p:nvPr/>
        </p:nvSpPr>
        <p:spPr>
          <a:xfrm>
            <a:off x="795528" y="1783080"/>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1783080"/>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01</a:t>
            </a:r>
          </a:p>
        </p:txBody>
      </p:sp>
      <p:sp>
        <p:nvSpPr>
          <p:cNvPr id="10" name="TextBox 9"/>
          <p:cNvSpPr txBox="1"/>
          <p:nvPr/>
        </p:nvSpPr>
        <p:spPr>
          <a:xfrm>
            <a:off x="1417320" y="1801368"/>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Problem and motivation</a:t>
            </a:r>
          </a:p>
        </p:txBody>
      </p:sp>
      <p:sp>
        <p:nvSpPr>
          <p:cNvPr id="11" name="Rounded Rectangle 10"/>
          <p:cNvSpPr/>
          <p:nvPr/>
        </p:nvSpPr>
        <p:spPr>
          <a:xfrm>
            <a:off x="795528" y="2624328"/>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2624328"/>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02</a:t>
            </a:r>
          </a:p>
        </p:txBody>
      </p:sp>
      <p:sp>
        <p:nvSpPr>
          <p:cNvPr id="13" name="TextBox 12"/>
          <p:cNvSpPr txBox="1"/>
          <p:nvPr/>
        </p:nvSpPr>
        <p:spPr>
          <a:xfrm>
            <a:off x="1417320" y="2642616"/>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Objectives and scope</a:t>
            </a:r>
          </a:p>
        </p:txBody>
      </p:sp>
      <p:sp>
        <p:nvSpPr>
          <p:cNvPr id="14" name="Rounded Rectangle 13"/>
          <p:cNvSpPr/>
          <p:nvPr/>
        </p:nvSpPr>
        <p:spPr>
          <a:xfrm>
            <a:off x="795528" y="3465576"/>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5528" y="3465576"/>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03</a:t>
            </a:r>
          </a:p>
        </p:txBody>
      </p:sp>
      <p:sp>
        <p:nvSpPr>
          <p:cNvPr id="16" name="TextBox 15"/>
          <p:cNvSpPr txBox="1"/>
          <p:nvPr/>
        </p:nvSpPr>
        <p:spPr>
          <a:xfrm>
            <a:off x="1417320" y="3483864"/>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Existing systems and gaps</a:t>
            </a:r>
          </a:p>
        </p:txBody>
      </p:sp>
      <p:sp>
        <p:nvSpPr>
          <p:cNvPr id="17" name="Rounded Rectangle 16"/>
          <p:cNvSpPr/>
          <p:nvPr/>
        </p:nvSpPr>
        <p:spPr>
          <a:xfrm>
            <a:off x="795528" y="4306824"/>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4306824"/>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04</a:t>
            </a:r>
          </a:p>
        </p:txBody>
      </p:sp>
      <p:sp>
        <p:nvSpPr>
          <p:cNvPr id="19" name="TextBox 18"/>
          <p:cNvSpPr txBox="1"/>
          <p:nvPr/>
        </p:nvSpPr>
        <p:spPr>
          <a:xfrm>
            <a:off x="1417320" y="4325112"/>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Technology stack</a:t>
            </a:r>
          </a:p>
        </p:txBody>
      </p:sp>
      <p:sp>
        <p:nvSpPr>
          <p:cNvPr id="20" name="Rounded Rectangle 19"/>
          <p:cNvSpPr/>
          <p:nvPr/>
        </p:nvSpPr>
        <p:spPr>
          <a:xfrm>
            <a:off x="795528" y="5148072"/>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95528" y="5148072"/>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05</a:t>
            </a:r>
          </a:p>
        </p:txBody>
      </p:sp>
      <p:sp>
        <p:nvSpPr>
          <p:cNvPr id="22" name="TextBox 21"/>
          <p:cNvSpPr txBox="1"/>
          <p:nvPr/>
        </p:nvSpPr>
        <p:spPr>
          <a:xfrm>
            <a:off x="1417320" y="5166359"/>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System architecture</a:t>
            </a:r>
          </a:p>
        </p:txBody>
      </p:sp>
      <p:sp>
        <p:nvSpPr>
          <p:cNvPr id="23" name="Rounded Rectangle 22"/>
          <p:cNvSpPr/>
          <p:nvPr/>
        </p:nvSpPr>
        <p:spPr>
          <a:xfrm>
            <a:off x="6327648" y="1783080"/>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27648" y="1783080"/>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06</a:t>
            </a:r>
          </a:p>
        </p:txBody>
      </p:sp>
      <p:sp>
        <p:nvSpPr>
          <p:cNvPr id="25" name="TextBox 24"/>
          <p:cNvSpPr txBox="1"/>
          <p:nvPr/>
        </p:nvSpPr>
        <p:spPr>
          <a:xfrm>
            <a:off x="6949440" y="1801368"/>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OOPS design</a:t>
            </a:r>
          </a:p>
        </p:txBody>
      </p:sp>
      <p:sp>
        <p:nvSpPr>
          <p:cNvPr id="26" name="Rounded Rectangle 25"/>
          <p:cNvSpPr/>
          <p:nvPr/>
        </p:nvSpPr>
        <p:spPr>
          <a:xfrm>
            <a:off x="6327648" y="2624328"/>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27648" y="2624328"/>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07</a:t>
            </a:r>
          </a:p>
        </p:txBody>
      </p:sp>
      <p:sp>
        <p:nvSpPr>
          <p:cNvPr id="28" name="TextBox 27"/>
          <p:cNvSpPr txBox="1"/>
          <p:nvPr/>
        </p:nvSpPr>
        <p:spPr>
          <a:xfrm>
            <a:off x="6949440" y="2642616"/>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Database design</a:t>
            </a:r>
          </a:p>
        </p:txBody>
      </p:sp>
      <p:sp>
        <p:nvSpPr>
          <p:cNvPr id="29" name="Rounded Rectangle 28"/>
          <p:cNvSpPr/>
          <p:nvPr/>
        </p:nvSpPr>
        <p:spPr>
          <a:xfrm>
            <a:off x="6327648" y="3465576"/>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27648" y="3465576"/>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08</a:t>
            </a:r>
          </a:p>
        </p:txBody>
      </p:sp>
      <p:sp>
        <p:nvSpPr>
          <p:cNvPr id="31" name="TextBox 30"/>
          <p:cNvSpPr txBox="1"/>
          <p:nvPr/>
        </p:nvSpPr>
        <p:spPr>
          <a:xfrm>
            <a:off x="6949440" y="3483864"/>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Transactions and matching</a:t>
            </a:r>
          </a:p>
        </p:txBody>
      </p:sp>
      <p:sp>
        <p:nvSpPr>
          <p:cNvPr id="32" name="Rounded Rectangle 31"/>
          <p:cNvSpPr/>
          <p:nvPr/>
        </p:nvSpPr>
        <p:spPr>
          <a:xfrm>
            <a:off x="6327648" y="4306824"/>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4306824"/>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09</a:t>
            </a:r>
          </a:p>
        </p:txBody>
      </p:sp>
      <p:sp>
        <p:nvSpPr>
          <p:cNvPr id="34" name="TextBox 33"/>
          <p:cNvSpPr txBox="1"/>
          <p:nvPr/>
        </p:nvSpPr>
        <p:spPr>
          <a:xfrm>
            <a:off x="6949440" y="4325112"/>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Module walkthrough</a:t>
            </a:r>
          </a:p>
        </p:txBody>
      </p:sp>
      <p:sp>
        <p:nvSpPr>
          <p:cNvPr id="35" name="Rounded Rectangle 34"/>
          <p:cNvSpPr/>
          <p:nvPr/>
        </p:nvSpPr>
        <p:spPr>
          <a:xfrm>
            <a:off x="6327648" y="5148072"/>
            <a:ext cx="420624"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27648" y="5148072"/>
            <a:ext cx="420624" cy="420624"/>
          </a:xfrm>
          <a:prstGeom prst="rect">
            <a:avLst/>
          </a:prstGeom>
          <a:noFill/>
        </p:spPr>
        <p:txBody>
          <a:bodyPr wrap="square" lIns="0" rIns="0" tIns="0" bIns="0" anchor="ctr">
            <a:spAutoFit/>
          </a:bodyPr>
          <a:lstStyle/>
          <a:p>
            <a:pPr algn="ctr">
              <a:lnSpc>
                <a:spcPct val="105000"/>
              </a:lnSpc>
            </a:pPr>
            <a:r>
              <a:rPr sz="1000" b="1" i="0">
                <a:solidFill>
                  <a:srgbClr val="1F5C78"/>
                </a:solidFill>
                <a:latin typeface="Segoe UI"/>
              </a:rPr>
              <a:t>10</a:t>
            </a:r>
          </a:p>
        </p:txBody>
      </p:sp>
      <p:sp>
        <p:nvSpPr>
          <p:cNvPr id="37" name="TextBox 36"/>
          <p:cNvSpPr txBox="1"/>
          <p:nvPr/>
        </p:nvSpPr>
        <p:spPr>
          <a:xfrm>
            <a:off x="6949440" y="5166359"/>
            <a:ext cx="4480560" cy="384048"/>
          </a:xfrm>
          <a:prstGeom prst="rect">
            <a:avLst/>
          </a:prstGeom>
          <a:noFill/>
        </p:spPr>
        <p:txBody>
          <a:bodyPr wrap="square" lIns="0" rIns="0" tIns="0" bIns="0" anchor="ctr">
            <a:spAutoFit/>
          </a:bodyPr>
          <a:lstStyle/>
          <a:p>
            <a:pPr algn="l">
              <a:lnSpc>
                <a:spcPct val="105000"/>
              </a:lnSpc>
            </a:pPr>
            <a:r>
              <a:rPr sz="1450" b="0" i="0">
                <a:solidFill>
                  <a:srgbClr val="1F2A37"/>
                </a:solidFill>
                <a:latin typeface="Segoe UI"/>
              </a:rPr>
              <a:t>Testing, limits, conclusion</a:t>
            </a:r>
          </a:p>
        </p:txBody>
      </p:sp>
      <p:sp>
        <p:nvSpPr>
          <p:cNvPr id="38" name="TextBox 37"/>
          <p:cNvSpPr txBox="1"/>
          <p:nvPr/>
        </p:nvSpPr>
        <p:spPr>
          <a:xfrm>
            <a:off x="795528" y="5989320"/>
            <a:ext cx="10600639" cy="274320"/>
          </a:xfrm>
          <a:prstGeom prst="rect">
            <a:avLst/>
          </a:prstGeom>
          <a:noFill/>
        </p:spPr>
        <p:txBody>
          <a:bodyPr wrap="square" lIns="0" rIns="0" tIns="0" bIns="0" anchor="t">
            <a:spAutoFit/>
          </a:bodyPr>
          <a:lstStyle/>
          <a:p>
            <a:pPr algn="l">
              <a:lnSpc>
                <a:spcPct val="105000"/>
              </a:lnSpc>
            </a:pPr>
            <a:r>
              <a:rPr sz="1050" b="1" i="0">
                <a:solidFill>
                  <a:srgbClr val="6B7A8C"/>
                </a:solidFill>
                <a:latin typeface="Segoe UI"/>
              </a:rPr>
              <a:t>Plus a 5-minute live demo: report → match → claim → verify → recover.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The problem</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Information exists, but it is scattered and unverifiable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03</a:t>
            </a:r>
          </a:p>
        </p:txBody>
      </p:sp>
      <p:sp>
        <p:nvSpPr>
          <p:cNvPr id="8" name="Rounded Rectangle 7"/>
          <p:cNvSpPr/>
          <p:nvPr/>
        </p:nvSpPr>
        <p:spPr>
          <a:xfrm>
            <a:off x="658368" y="1664208"/>
            <a:ext cx="3383280" cy="214884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4400" y="1874519"/>
            <a:ext cx="475488" cy="47548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475488" cy="475488"/>
          </a:xfrm>
          <a:prstGeom prst="rect">
            <a:avLst/>
          </a:prstGeom>
          <a:noFill/>
        </p:spPr>
        <p:txBody>
          <a:bodyPr wrap="square" lIns="0" rIns="0" tIns="0" bIns="0" anchor="ctr">
            <a:spAutoFit/>
          </a:bodyPr>
          <a:lstStyle/>
          <a:p>
            <a:pPr algn="ctr">
              <a:lnSpc>
                <a:spcPct val="105000"/>
              </a:lnSpc>
            </a:pPr>
            <a:r>
              <a:rPr sz="1400" b="1" i="0">
                <a:solidFill>
                  <a:srgbClr val="FFFFFF"/>
                </a:solidFill>
                <a:latin typeface="Segoe UI"/>
              </a:rPr>
              <a:t>1</a:t>
            </a:r>
          </a:p>
        </p:txBody>
      </p:sp>
      <p:sp>
        <p:nvSpPr>
          <p:cNvPr id="11" name="TextBox 10"/>
          <p:cNvSpPr txBox="1"/>
          <p:nvPr/>
        </p:nvSpPr>
        <p:spPr>
          <a:xfrm>
            <a:off x="914400" y="2487168"/>
            <a:ext cx="2880360" cy="320040"/>
          </a:xfrm>
          <a:prstGeom prst="rect">
            <a:avLst/>
          </a:prstGeom>
          <a:noFill/>
        </p:spPr>
        <p:txBody>
          <a:bodyPr wrap="square" lIns="0" rIns="0" tIns="0" bIns="0" anchor="t">
            <a:spAutoFit/>
          </a:bodyPr>
          <a:lstStyle/>
          <a:p>
            <a:pPr algn="l">
              <a:lnSpc>
                <a:spcPct val="105000"/>
              </a:lnSpc>
            </a:pPr>
            <a:r>
              <a:rPr sz="1450" b="1" i="0">
                <a:solidFill>
                  <a:srgbClr val="1F2A37"/>
                </a:solidFill>
                <a:latin typeface="Segoe UI"/>
              </a:rPr>
              <a:t>Fragmented reporting</a:t>
            </a:r>
          </a:p>
        </p:txBody>
      </p:sp>
      <p:sp>
        <p:nvSpPr>
          <p:cNvPr id="12" name="TextBox 11"/>
          <p:cNvSpPr txBox="1"/>
          <p:nvPr/>
        </p:nvSpPr>
        <p:spPr>
          <a:xfrm>
            <a:off x="914400" y="2852928"/>
            <a:ext cx="2852928" cy="822960"/>
          </a:xfrm>
          <a:prstGeom prst="rect">
            <a:avLst/>
          </a:prstGeom>
          <a:noFill/>
        </p:spPr>
        <p:txBody>
          <a:bodyPr wrap="square" lIns="0" rIns="0" tIns="0" bIns="0" anchor="t">
            <a:spAutoFit/>
          </a:bodyPr>
          <a:lstStyle/>
          <a:p>
            <a:pPr algn="l">
              <a:lnSpc>
                <a:spcPct val="115000"/>
              </a:lnSpc>
            </a:pPr>
            <a:r>
              <a:rPr sz="1150" b="0" i="0">
                <a:solidFill>
                  <a:srgbClr val="6B7A8C"/>
                </a:solidFill>
                <a:latin typeface="Segoe UI"/>
              </a:rPr>
              <a:t>Notice boards, WhatsApp groups and a paper register. Each channel reaches a different audience.</a:t>
            </a:r>
          </a:p>
        </p:txBody>
      </p:sp>
      <p:sp>
        <p:nvSpPr>
          <p:cNvPr id="13" name="Rounded Rectangle 12"/>
          <p:cNvSpPr/>
          <p:nvPr/>
        </p:nvSpPr>
        <p:spPr>
          <a:xfrm>
            <a:off x="4398264" y="1664208"/>
            <a:ext cx="3383280" cy="214884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654296" y="1874519"/>
            <a:ext cx="475488" cy="475488"/>
          </a:xfrm>
          <a:prstGeom prst="ellipse">
            <a:avLst/>
          </a:prstGeom>
          <a:solidFill>
            <a:srgbClr val="C7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1874519"/>
            <a:ext cx="475488" cy="475488"/>
          </a:xfrm>
          <a:prstGeom prst="rect">
            <a:avLst/>
          </a:prstGeom>
          <a:noFill/>
        </p:spPr>
        <p:txBody>
          <a:bodyPr wrap="square" lIns="0" rIns="0" tIns="0" bIns="0" anchor="ctr">
            <a:spAutoFit/>
          </a:bodyPr>
          <a:lstStyle/>
          <a:p>
            <a:pPr algn="ctr">
              <a:lnSpc>
                <a:spcPct val="105000"/>
              </a:lnSpc>
            </a:pPr>
            <a:r>
              <a:rPr sz="1400" b="1" i="0">
                <a:solidFill>
                  <a:srgbClr val="FFFFFF"/>
                </a:solidFill>
                <a:latin typeface="Segoe UI"/>
              </a:rPr>
              <a:t>2</a:t>
            </a:r>
          </a:p>
        </p:txBody>
      </p:sp>
      <p:sp>
        <p:nvSpPr>
          <p:cNvPr id="16" name="TextBox 15"/>
          <p:cNvSpPr txBox="1"/>
          <p:nvPr/>
        </p:nvSpPr>
        <p:spPr>
          <a:xfrm>
            <a:off x="4654296" y="2487168"/>
            <a:ext cx="2880360" cy="320040"/>
          </a:xfrm>
          <a:prstGeom prst="rect">
            <a:avLst/>
          </a:prstGeom>
          <a:noFill/>
        </p:spPr>
        <p:txBody>
          <a:bodyPr wrap="square" lIns="0" rIns="0" tIns="0" bIns="0" anchor="t">
            <a:spAutoFit/>
          </a:bodyPr>
          <a:lstStyle/>
          <a:p>
            <a:pPr algn="l">
              <a:lnSpc>
                <a:spcPct val="105000"/>
              </a:lnSpc>
            </a:pPr>
            <a:r>
              <a:rPr sz="1450" b="1" i="0">
                <a:solidFill>
                  <a:srgbClr val="1F2A37"/>
                </a:solidFill>
                <a:latin typeface="Segoe UI"/>
              </a:rPr>
              <a:t>No proof of ownership</a:t>
            </a:r>
          </a:p>
        </p:txBody>
      </p:sp>
      <p:sp>
        <p:nvSpPr>
          <p:cNvPr id="17" name="TextBox 16"/>
          <p:cNvSpPr txBox="1"/>
          <p:nvPr/>
        </p:nvSpPr>
        <p:spPr>
          <a:xfrm>
            <a:off x="4654296" y="2852928"/>
            <a:ext cx="2852928" cy="822960"/>
          </a:xfrm>
          <a:prstGeom prst="rect">
            <a:avLst/>
          </a:prstGeom>
          <a:noFill/>
        </p:spPr>
        <p:txBody>
          <a:bodyPr wrap="square" lIns="0" rIns="0" tIns="0" bIns="0" anchor="t">
            <a:spAutoFit/>
          </a:bodyPr>
          <a:lstStyle/>
          <a:p>
            <a:pPr algn="l">
              <a:lnSpc>
                <a:spcPct val="115000"/>
              </a:lnSpc>
            </a:pPr>
            <a:r>
              <a:rPr sz="1150" b="0" i="0">
                <a:solidFill>
                  <a:srgbClr val="6B7A8C"/>
                </a:solidFill>
                <a:latin typeface="Segoe UI"/>
              </a:rPr>
              <a:t>Anyone can walk to the security office and describe an item well enough to take it.</a:t>
            </a:r>
          </a:p>
        </p:txBody>
      </p:sp>
      <p:sp>
        <p:nvSpPr>
          <p:cNvPr id="18" name="Rounded Rectangle 17"/>
          <p:cNvSpPr/>
          <p:nvPr/>
        </p:nvSpPr>
        <p:spPr>
          <a:xfrm>
            <a:off x="8138160" y="1664208"/>
            <a:ext cx="3383280" cy="214884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94192" y="1874519"/>
            <a:ext cx="475488" cy="475488"/>
          </a:xfrm>
          <a:prstGeom prst="ellipse">
            <a:avLst/>
          </a:prstGeom>
          <a:solidFill>
            <a:srgbClr val="2C7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1874519"/>
            <a:ext cx="475488" cy="475488"/>
          </a:xfrm>
          <a:prstGeom prst="rect">
            <a:avLst/>
          </a:prstGeom>
          <a:noFill/>
        </p:spPr>
        <p:txBody>
          <a:bodyPr wrap="square" lIns="0" rIns="0" tIns="0" bIns="0" anchor="ctr">
            <a:spAutoFit/>
          </a:bodyPr>
          <a:lstStyle/>
          <a:p>
            <a:pPr algn="ctr">
              <a:lnSpc>
                <a:spcPct val="105000"/>
              </a:lnSpc>
            </a:pPr>
            <a:r>
              <a:rPr sz="1400" b="1" i="0">
                <a:solidFill>
                  <a:srgbClr val="FFFFFF"/>
                </a:solidFill>
                <a:latin typeface="Segoe UI"/>
              </a:rPr>
              <a:t>3</a:t>
            </a:r>
          </a:p>
        </p:txBody>
      </p:sp>
      <p:sp>
        <p:nvSpPr>
          <p:cNvPr id="21" name="TextBox 20"/>
          <p:cNvSpPr txBox="1"/>
          <p:nvPr/>
        </p:nvSpPr>
        <p:spPr>
          <a:xfrm>
            <a:off x="8394192" y="2487168"/>
            <a:ext cx="2880360" cy="320040"/>
          </a:xfrm>
          <a:prstGeom prst="rect">
            <a:avLst/>
          </a:prstGeom>
          <a:noFill/>
        </p:spPr>
        <p:txBody>
          <a:bodyPr wrap="square" lIns="0" rIns="0" tIns="0" bIns="0" anchor="t">
            <a:spAutoFit/>
          </a:bodyPr>
          <a:lstStyle/>
          <a:p>
            <a:pPr algn="l">
              <a:lnSpc>
                <a:spcPct val="105000"/>
              </a:lnSpc>
            </a:pPr>
            <a:r>
              <a:rPr sz="1450" b="1" i="0">
                <a:solidFill>
                  <a:srgbClr val="1F2A37"/>
                </a:solidFill>
                <a:latin typeface="Segoe UI"/>
              </a:rPr>
              <a:t>No audit trail</a:t>
            </a:r>
          </a:p>
        </p:txBody>
      </p:sp>
      <p:sp>
        <p:nvSpPr>
          <p:cNvPr id="22" name="TextBox 21"/>
          <p:cNvSpPr txBox="1"/>
          <p:nvPr/>
        </p:nvSpPr>
        <p:spPr>
          <a:xfrm>
            <a:off x="8394192" y="2852928"/>
            <a:ext cx="2852928" cy="822960"/>
          </a:xfrm>
          <a:prstGeom prst="rect">
            <a:avLst/>
          </a:prstGeom>
          <a:noFill/>
        </p:spPr>
        <p:txBody>
          <a:bodyPr wrap="square" lIns="0" rIns="0" tIns="0" bIns="0" anchor="t">
            <a:spAutoFit/>
          </a:bodyPr>
          <a:lstStyle/>
          <a:p>
            <a:pPr algn="l">
              <a:lnSpc>
                <a:spcPct val="115000"/>
              </a:lnSpc>
            </a:pPr>
            <a:r>
              <a:rPr sz="1150" b="0" i="0">
                <a:solidFill>
                  <a:srgbClr val="6B7A8C"/>
                </a:solidFill>
                <a:latin typeface="Segoe UI"/>
              </a:rPr>
              <a:t>The college cannot say how many items were lost, claimed or actually recovered.</a:t>
            </a:r>
          </a:p>
        </p:txBody>
      </p:sp>
      <p:sp>
        <p:nvSpPr>
          <p:cNvPr id="23" name="Rounded Rectangle 22"/>
          <p:cNvSpPr/>
          <p:nvPr/>
        </p:nvSpPr>
        <p:spPr>
          <a:xfrm>
            <a:off x="658368" y="4160520"/>
            <a:ext cx="10874959" cy="713232"/>
          </a:xfrm>
          <a:prstGeom prst="roundRect">
            <a:avLst>
              <a:gd name="adj" fmla="val 8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4279392"/>
            <a:ext cx="54864" cy="4754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160520"/>
            <a:ext cx="10417759" cy="713232"/>
          </a:xfrm>
          <a:prstGeom prst="rect">
            <a:avLst/>
          </a:prstGeom>
          <a:noFill/>
        </p:spPr>
        <p:txBody>
          <a:bodyPr wrap="square" lIns="0" rIns="0" tIns="0" bIns="0" anchor="ctr">
            <a:spAutoFit/>
          </a:bodyPr>
          <a:lstStyle/>
          <a:p>
            <a:pPr algn="l">
              <a:lnSpc>
                <a:spcPct val="105000"/>
              </a:lnSpc>
            </a:pPr>
            <a:r>
              <a:rPr sz="1500" b="1" i="0">
                <a:solidFill>
                  <a:srgbClr val="8E2B20"/>
                </a:solidFill>
                <a:latin typeface="Segoe UI"/>
              </a:rPr>
              <a:t>Dozens of items are lost every month — only a handful are ever returned.</a:t>
            </a:r>
          </a:p>
        </p:txBody>
      </p:sp>
      <p:sp>
        <p:nvSpPr>
          <p:cNvPr id="26" name="TextBox 25"/>
          <p:cNvSpPr txBox="1"/>
          <p:nvPr/>
        </p:nvSpPr>
        <p:spPr>
          <a:xfrm>
            <a:off x="658368" y="5166360"/>
            <a:ext cx="10874959" cy="822960"/>
          </a:xfrm>
          <a:prstGeom prst="rect">
            <a:avLst/>
          </a:prstGeom>
          <a:noFill/>
        </p:spPr>
        <p:txBody>
          <a:bodyPr wrap="square" lIns="0" rIns="0" tIns="0" bIns="0" anchor="t">
            <a:spAutoFit/>
          </a:bodyPr>
          <a:lstStyle/>
          <a:p>
            <a:pPr algn="l">
              <a:lnSpc>
                <a:spcPct val="140000"/>
              </a:lnSpc>
            </a:pPr>
            <a:r>
              <a:rPr sz="1200" b="0" i="0">
                <a:solidFill>
                  <a:srgbClr val="6B7A8C"/>
                </a:solidFill>
                <a:latin typeface="Segoe UI"/>
              </a:rPr>
              <a:t>Ask the room: how many of you lost a bottle, ID card or charger this semester?</a:t>
            </a:r>
          </a:p>
          <a:p>
            <a:pPr algn="l">
              <a:lnSpc>
                <a:spcPct val="140000"/>
              </a:lnSpc>
            </a:pPr>
            <a:r>
              <a:rPr sz="1200" b="0" i="0">
                <a:solidFill>
                  <a:srgbClr val="6B7A8C"/>
                </a:solidFill>
                <a:latin typeface="Segoe UI"/>
              </a:rPr>
              <a:t>The information exists — it simply never meets the person who needs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Proposed solution</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One platform, four steps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04</a:t>
            </a:r>
          </a:p>
        </p:txBody>
      </p:sp>
      <p:sp>
        <p:nvSpPr>
          <p:cNvPr id="8" name="Rounded Rectangle 7"/>
          <p:cNvSpPr/>
          <p:nvPr/>
        </p:nvSpPr>
        <p:spPr>
          <a:xfrm>
            <a:off x="783183" y="1783080"/>
            <a:ext cx="2395728" cy="23317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2639" y="1965960"/>
            <a:ext cx="914400" cy="274320"/>
          </a:xfrm>
          <a:prstGeom prst="rect">
            <a:avLst/>
          </a:prstGeom>
          <a:noFill/>
        </p:spPr>
        <p:txBody>
          <a:bodyPr wrap="square" lIns="0" rIns="0" tIns="0" bIns="0" anchor="t">
            <a:spAutoFit/>
          </a:bodyPr>
          <a:lstStyle/>
          <a:p>
            <a:pPr algn="l">
              <a:lnSpc>
                <a:spcPct val="105000"/>
              </a:lnSpc>
            </a:pPr>
            <a:r>
              <a:rPr sz="1100" b="1" i="0">
                <a:solidFill>
                  <a:srgbClr val="2C7DA0"/>
                </a:solidFill>
                <a:latin typeface="Consolas"/>
              </a:rPr>
              <a:t>01</a:t>
            </a:r>
          </a:p>
        </p:txBody>
      </p:sp>
      <p:sp>
        <p:nvSpPr>
          <p:cNvPr id="10" name="TextBox 9"/>
          <p:cNvSpPr txBox="1"/>
          <p:nvPr/>
        </p:nvSpPr>
        <p:spPr>
          <a:xfrm>
            <a:off x="1002639" y="2267712"/>
            <a:ext cx="2011680" cy="365760"/>
          </a:xfrm>
          <a:prstGeom prst="rect">
            <a:avLst/>
          </a:prstGeom>
          <a:noFill/>
        </p:spPr>
        <p:txBody>
          <a:bodyPr wrap="square" lIns="0" rIns="0" tIns="0" bIns="0" anchor="t">
            <a:spAutoFit/>
          </a:bodyPr>
          <a:lstStyle/>
          <a:p>
            <a:pPr algn="l">
              <a:lnSpc>
                <a:spcPct val="105000"/>
              </a:lnSpc>
            </a:pPr>
            <a:r>
              <a:rPr sz="1700" b="1" i="0">
                <a:solidFill>
                  <a:srgbClr val="132A3E"/>
                </a:solidFill>
                <a:latin typeface="Segoe UI"/>
              </a:rPr>
              <a:t>Report</a:t>
            </a:r>
          </a:p>
        </p:txBody>
      </p:sp>
      <p:sp>
        <p:nvSpPr>
          <p:cNvPr id="11" name="TextBox 10"/>
          <p:cNvSpPr txBox="1"/>
          <p:nvPr/>
        </p:nvSpPr>
        <p:spPr>
          <a:xfrm>
            <a:off x="1002639" y="2697480"/>
            <a:ext cx="1965960" cy="1188720"/>
          </a:xfrm>
          <a:prstGeom prst="rect">
            <a:avLst/>
          </a:prstGeom>
          <a:noFill/>
        </p:spPr>
        <p:txBody>
          <a:bodyPr wrap="square" lIns="0" rIns="0" tIns="0" bIns="0" anchor="t">
            <a:spAutoFit/>
          </a:bodyPr>
          <a:lstStyle/>
          <a:p>
            <a:pPr algn="l">
              <a:lnSpc>
                <a:spcPct val="120000"/>
              </a:lnSpc>
            </a:pPr>
            <a:r>
              <a:rPr sz="1050" b="0" i="0">
                <a:solidFill>
                  <a:srgbClr val="6B7A8C"/>
                </a:solidFill>
                <a:latin typeface="Segoe UI"/>
              </a:rPr>
              <a:t>Lost or found item with description, category, location and date.</a:t>
            </a:r>
          </a:p>
        </p:txBody>
      </p:sp>
      <p:sp>
        <p:nvSpPr>
          <p:cNvPr id="12" name="Right Arrow 11"/>
          <p:cNvSpPr/>
          <p:nvPr/>
        </p:nvSpPr>
        <p:spPr>
          <a:xfrm>
            <a:off x="3270351" y="2834640"/>
            <a:ext cx="164592" cy="219456"/>
          </a:xfrm>
          <a:prstGeom prst="right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26383" y="1783080"/>
            <a:ext cx="2395728" cy="23317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745839" y="1965960"/>
            <a:ext cx="914400" cy="274320"/>
          </a:xfrm>
          <a:prstGeom prst="rect">
            <a:avLst/>
          </a:prstGeom>
          <a:noFill/>
        </p:spPr>
        <p:txBody>
          <a:bodyPr wrap="square" lIns="0" rIns="0" tIns="0" bIns="0" anchor="t">
            <a:spAutoFit/>
          </a:bodyPr>
          <a:lstStyle/>
          <a:p>
            <a:pPr algn="l">
              <a:lnSpc>
                <a:spcPct val="105000"/>
              </a:lnSpc>
            </a:pPr>
            <a:r>
              <a:rPr sz="1100" b="1" i="0">
                <a:solidFill>
                  <a:srgbClr val="1F5C78"/>
                </a:solidFill>
                <a:latin typeface="Consolas"/>
              </a:rPr>
              <a:t>02</a:t>
            </a:r>
          </a:p>
        </p:txBody>
      </p:sp>
      <p:sp>
        <p:nvSpPr>
          <p:cNvPr id="15" name="TextBox 14"/>
          <p:cNvSpPr txBox="1"/>
          <p:nvPr/>
        </p:nvSpPr>
        <p:spPr>
          <a:xfrm>
            <a:off x="3745839" y="2267712"/>
            <a:ext cx="2011680" cy="365760"/>
          </a:xfrm>
          <a:prstGeom prst="rect">
            <a:avLst/>
          </a:prstGeom>
          <a:noFill/>
        </p:spPr>
        <p:txBody>
          <a:bodyPr wrap="square" lIns="0" rIns="0" tIns="0" bIns="0" anchor="t">
            <a:spAutoFit/>
          </a:bodyPr>
          <a:lstStyle/>
          <a:p>
            <a:pPr algn="l">
              <a:lnSpc>
                <a:spcPct val="105000"/>
              </a:lnSpc>
            </a:pPr>
            <a:r>
              <a:rPr sz="1700" b="1" i="0">
                <a:solidFill>
                  <a:srgbClr val="132A3E"/>
                </a:solidFill>
                <a:latin typeface="Segoe UI"/>
              </a:rPr>
              <a:t>Match</a:t>
            </a:r>
          </a:p>
        </p:txBody>
      </p:sp>
      <p:sp>
        <p:nvSpPr>
          <p:cNvPr id="16" name="TextBox 15"/>
          <p:cNvSpPr txBox="1"/>
          <p:nvPr/>
        </p:nvSpPr>
        <p:spPr>
          <a:xfrm>
            <a:off x="3745839" y="2697480"/>
            <a:ext cx="1965960" cy="1188720"/>
          </a:xfrm>
          <a:prstGeom prst="rect">
            <a:avLst/>
          </a:prstGeom>
          <a:noFill/>
        </p:spPr>
        <p:txBody>
          <a:bodyPr wrap="square" lIns="0" rIns="0" tIns="0" bIns="0" anchor="t">
            <a:spAutoFit/>
          </a:bodyPr>
          <a:lstStyle/>
          <a:p>
            <a:pPr algn="l">
              <a:lnSpc>
                <a:spcPct val="120000"/>
              </a:lnSpc>
            </a:pPr>
            <a:r>
              <a:rPr sz="1050" b="0" i="0">
                <a:solidFill>
                  <a:srgbClr val="6B7A8C"/>
                </a:solidFill>
                <a:latin typeface="Segoe UI"/>
              </a:rPr>
              <a:t>Automatic candidate pairs scored out of 100 by category, place and date.</a:t>
            </a:r>
          </a:p>
        </p:txBody>
      </p:sp>
      <p:sp>
        <p:nvSpPr>
          <p:cNvPr id="17" name="Right Arrow 16"/>
          <p:cNvSpPr/>
          <p:nvPr/>
        </p:nvSpPr>
        <p:spPr>
          <a:xfrm>
            <a:off x="6013551" y="2834640"/>
            <a:ext cx="164592" cy="219456"/>
          </a:xfrm>
          <a:prstGeom prst="right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69583" y="1783080"/>
            <a:ext cx="2395728" cy="23317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89039" y="1965960"/>
            <a:ext cx="914400" cy="274320"/>
          </a:xfrm>
          <a:prstGeom prst="rect">
            <a:avLst/>
          </a:prstGeom>
          <a:noFill/>
        </p:spPr>
        <p:txBody>
          <a:bodyPr wrap="square" lIns="0" rIns="0" tIns="0" bIns="0" anchor="t">
            <a:spAutoFit/>
          </a:bodyPr>
          <a:lstStyle/>
          <a:p>
            <a:pPr algn="l">
              <a:lnSpc>
                <a:spcPct val="105000"/>
              </a:lnSpc>
            </a:pPr>
            <a:r>
              <a:rPr sz="1100" b="1" i="0">
                <a:solidFill>
                  <a:srgbClr val="C77D00"/>
                </a:solidFill>
                <a:latin typeface="Consolas"/>
              </a:rPr>
              <a:t>03</a:t>
            </a:r>
          </a:p>
        </p:txBody>
      </p:sp>
      <p:sp>
        <p:nvSpPr>
          <p:cNvPr id="20" name="TextBox 19"/>
          <p:cNvSpPr txBox="1"/>
          <p:nvPr/>
        </p:nvSpPr>
        <p:spPr>
          <a:xfrm>
            <a:off x="6489039" y="2267712"/>
            <a:ext cx="2011680" cy="365760"/>
          </a:xfrm>
          <a:prstGeom prst="rect">
            <a:avLst/>
          </a:prstGeom>
          <a:noFill/>
        </p:spPr>
        <p:txBody>
          <a:bodyPr wrap="square" lIns="0" rIns="0" tIns="0" bIns="0" anchor="t">
            <a:spAutoFit/>
          </a:bodyPr>
          <a:lstStyle/>
          <a:p>
            <a:pPr algn="l">
              <a:lnSpc>
                <a:spcPct val="105000"/>
              </a:lnSpc>
            </a:pPr>
            <a:r>
              <a:rPr sz="1700" b="1" i="0">
                <a:solidFill>
                  <a:srgbClr val="132A3E"/>
                </a:solidFill>
                <a:latin typeface="Segoe UI"/>
              </a:rPr>
              <a:t>Claim</a:t>
            </a:r>
          </a:p>
        </p:txBody>
      </p:sp>
      <p:sp>
        <p:nvSpPr>
          <p:cNvPr id="21" name="TextBox 20"/>
          <p:cNvSpPr txBox="1"/>
          <p:nvPr/>
        </p:nvSpPr>
        <p:spPr>
          <a:xfrm>
            <a:off x="6489039" y="2697480"/>
            <a:ext cx="1965960" cy="1188720"/>
          </a:xfrm>
          <a:prstGeom prst="rect">
            <a:avLst/>
          </a:prstGeom>
          <a:noFill/>
        </p:spPr>
        <p:txBody>
          <a:bodyPr wrap="square" lIns="0" rIns="0" tIns="0" bIns="0" anchor="t">
            <a:spAutoFit/>
          </a:bodyPr>
          <a:lstStyle/>
          <a:p>
            <a:pPr algn="l">
              <a:lnSpc>
                <a:spcPct val="120000"/>
              </a:lnSpc>
            </a:pPr>
            <a:r>
              <a:rPr sz="1050" b="0" i="0">
                <a:solidFill>
                  <a:srgbClr val="6B7A8C"/>
                </a:solidFill>
                <a:latin typeface="Segoe UI"/>
              </a:rPr>
              <a:t>Owner submits proof of ownership; staff verify it before handover.</a:t>
            </a:r>
          </a:p>
        </p:txBody>
      </p:sp>
      <p:sp>
        <p:nvSpPr>
          <p:cNvPr id="22" name="Right Arrow 21"/>
          <p:cNvSpPr/>
          <p:nvPr/>
        </p:nvSpPr>
        <p:spPr>
          <a:xfrm>
            <a:off x="8756751" y="2834640"/>
            <a:ext cx="164592" cy="219456"/>
          </a:xfrm>
          <a:prstGeom prst="right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12783" y="1783080"/>
            <a:ext cx="2395728" cy="23317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32239" y="1965960"/>
            <a:ext cx="914400" cy="274320"/>
          </a:xfrm>
          <a:prstGeom prst="rect">
            <a:avLst/>
          </a:prstGeom>
          <a:noFill/>
        </p:spPr>
        <p:txBody>
          <a:bodyPr wrap="square" lIns="0" rIns="0" tIns="0" bIns="0" anchor="t">
            <a:spAutoFit/>
          </a:bodyPr>
          <a:lstStyle/>
          <a:p>
            <a:pPr algn="l">
              <a:lnSpc>
                <a:spcPct val="105000"/>
              </a:lnSpc>
            </a:pPr>
            <a:r>
              <a:rPr sz="1100" b="1" i="0">
                <a:solidFill>
                  <a:srgbClr val="2E7D4F"/>
                </a:solidFill>
                <a:latin typeface="Consolas"/>
              </a:rPr>
              <a:t>04</a:t>
            </a:r>
          </a:p>
        </p:txBody>
      </p:sp>
      <p:sp>
        <p:nvSpPr>
          <p:cNvPr id="25" name="TextBox 24"/>
          <p:cNvSpPr txBox="1"/>
          <p:nvPr/>
        </p:nvSpPr>
        <p:spPr>
          <a:xfrm>
            <a:off x="9232239" y="2267712"/>
            <a:ext cx="2011680" cy="365760"/>
          </a:xfrm>
          <a:prstGeom prst="rect">
            <a:avLst/>
          </a:prstGeom>
          <a:noFill/>
        </p:spPr>
        <p:txBody>
          <a:bodyPr wrap="square" lIns="0" rIns="0" tIns="0" bIns="0" anchor="t">
            <a:spAutoFit/>
          </a:bodyPr>
          <a:lstStyle/>
          <a:p>
            <a:pPr algn="l">
              <a:lnSpc>
                <a:spcPct val="105000"/>
              </a:lnSpc>
            </a:pPr>
            <a:r>
              <a:rPr sz="1700" b="1" i="0">
                <a:solidFill>
                  <a:srgbClr val="132A3E"/>
                </a:solidFill>
                <a:latin typeface="Segoe UI"/>
              </a:rPr>
              <a:t>Recover</a:t>
            </a:r>
          </a:p>
        </p:txBody>
      </p:sp>
      <p:sp>
        <p:nvSpPr>
          <p:cNvPr id="26" name="TextBox 25"/>
          <p:cNvSpPr txBox="1"/>
          <p:nvPr/>
        </p:nvSpPr>
        <p:spPr>
          <a:xfrm>
            <a:off x="9232239" y="2697480"/>
            <a:ext cx="1965960" cy="1188720"/>
          </a:xfrm>
          <a:prstGeom prst="rect">
            <a:avLst/>
          </a:prstGeom>
          <a:noFill/>
        </p:spPr>
        <p:txBody>
          <a:bodyPr wrap="square" lIns="0" rIns="0" tIns="0" bIns="0" anchor="t">
            <a:spAutoFit/>
          </a:bodyPr>
          <a:lstStyle/>
          <a:p>
            <a:pPr algn="l">
              <a:lnSpc>
                <a:spcPct val="120000"/>
              </a:lnSpc>
            </a:pPr>
            <a:r>
              <a:rPr sz="1050" b="0" i="0">
                <a:solidFill>
                  <a:srgbClr val="6B7A8C"/>
                </a:solidFill>
                <a:latin typeface="Segoe UI"/>
              </a:rPr>
              <a:t>Item handed over, status updated, audit row written by a trigger.</a:t>
            </a:r>
          </a:p>
        </p:txBody>
      </p:sp>
      <p:sp>
        <p:nvSpPr>
          <p:cNvPr id="27" name="Rounded Rectangle 26"/>
          <p:cNvSpPr/>
          <p:nvPr/>
        </p:nvSpPr>
        <p:spPr>
          <a:xfrm>
            <a:off x="658368" y="4434840"/>
            <a:ext cx="10874959" cy="868680"/>
          </a:xfrm>
          <a:prstGeom prst="roundRect">
            <a:avLst>
              <a:gd name="adj" fmla="val 8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50976" y="4434840"/>
            <a:ext cx="10326319" cy="868680"/>
          </a:xfrm>
          <a:prstGeom prst="rect">
            <a:avLst/>
          </a:prstGeom>
          <a:noFill/>
        </p:spPr>
        <p:txBody>
          <a:bodyPr wrap="square" lIns="0" rIns="0" tIns="0" bIns="0" anchor="ctr">
            <a:spAutoFit/>
          </a:bodyPr>
          <a:lstStyle/>
          <a:p>
            <a:pPr algn="l">
              <a:lnSpc>
                <a:spcPct val="105000"/>
              </a:lnSpc>
            </a:pPr>
            <a:r>
              <a:rPr sz="1350" b="1" i="0">
                <a:solidFill>
                  <a:srgbClr val="1F5C78"/>
                </a:solidFill>
                <a:latin typeface="Segoe UI"/>
              </a:rPr>
              <a:t>Every report feeds the matching pool  ·  every claim has a verifier  ·  every handover is recorded</a:t>
            </a:r>
          </a:p>
        </p:txBody>
      </p:sp>
      <p:sp>
        <p:nvSpPr>
          <p:cNvPr id="29" name="TextBox 28"/>
          <p:cNvSpPr txBox="1"/>
          <p:nvPr/>
        </p:nvSpPr>
        <p:spPr>
          <a:xfrm>
            <a:off x="658368" y="5486400"/>
            <a:ext cx="10874959" cy="457200"/>
          </a:xfrm>
          <a:prstGeom prst="rect">
            <a:avLst/>
          </a:prstGeom>
          <a:noFill/>
        </p:spPr>
        <p:txBody>
          <a:bodyPr wrap="square" lIns="0" rIns="0" tIns="0" bIns="0" anchor="t">
            <a:spAutoFit/>
          </a:bodyPr>
          <a:lstStyle/>
          <a:p>
            <a:pPr algn="l">
              <a:lnSpc>
                <a:spcPct val="105000"/>
              </a:lnSpc>
            </a:pPr>
            <a:r>
              <a:rPr sz="1200" b="0" i="0">
                <a:solidFill>
                  <a:srgbClr val="6B7A8C"/>
                </a:solidFill>
                <a:latin typeface="Segoe UI"/>
              </a:rPr>
              <a:t>The result: one loop that turns scattered posts into a measurable recovery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Objectives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What the system must achieve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05</a:t>
            </a:r>
          </a:p>
        </p:txBody>
      </p:sp>
      <p:sp>
        <p:nvSpPr>
          <p:cNvPr id="8" name="TextBox 7"/>
          <p:cNvSpPr txBox="1"/>
          <p:nvPr/>
        </p:nvSpPr>
        <p:spPr>
          <a:xfrm>
            <a:off x="749808" y="1691640"/>
            <a:ext cx="502920" cy="320040"/>
          </a:xfrm>
          <a:prstGeom prst="rect">
            <a:avLst/>
          </a:prstGeom>
          <a:noFill/>
        </p:spPr>
        <p:txBody>
          <a:bodyPr wrap="square" lIns="0" rIns="0" tIns="0" bIns="0" anchor="t">
            <a:spAutoFit/>
          </a:bodyPr>
          <a:lstStyle/>
          <a:p>
            <a:pPr algn="l">
              <a:lnSpc>
                <a:spcPct val="105000"/>
              </a:lnSpc>
            </a:pPr>
            <a:r>
              <a:rPr sz="1600" b="1" i="0">
                <a:solidFill>
                  <a:srgbClr val="2C7DA0"/>
                </a:solidFill>
                <a:latin typeface="Consolas"/>
              </a:rPr>
              <a:t>1</a:t>
            </a:r>
          </a:p>
        </p:txBody>
      </p:sp>
      <p:sp>
        <p:nvSpPr>
          <p:cNvPr id="9" name="TextBox 8"/>
          <p:cNvSpPr txBox="1"/>
          <p:nvPr/>
        </p:nvSpPr>
        <p:spPr>
          <a:xfrm>
            <a:off x="1344168" y="1664208"/>
            <a:ext cx="2834640" cy="320040"/>
          </a:xfrm>
          <a:prstGeom prst="rect">
            <a:avLst/>
          </a:prstGeom>
          <a:noFill/>
        </p:spPr>
        <p:txBody>
          <a:bodyPr wrap="square" lIns="0" rIns="0" tIns="0" bIns="0" anchor="t">
            <a:spAutoFit/>
          </a:bodyPr>
          <a:lstStyle/>
          <a:p>
            <a:pPr algn="l">
              <a:lnSpc>
                <a:spcPct val="105000"/>
              </a:lnSpc>
            </a:pPr>
            <a:r>
              <a:rPr sz="1450" b="1" i="0">
                <a:solidFill>
                  <a:srgbClr val="132A3E"/>
                </a:solidFill>
                <a:latin typeface="Segoe UI"/>
              </a:rPr>
              <a:t>Single repository</a:t>
            </a:r>
          </a:p>
        </p:txBody>
      </p:sp>
      <p:sp>
        <p:nvSpPr>
          <p:cNvPr id="10" name="TextBox 9"/>
          <p:cNvSpPr txBox="1"/>
          <p:nvPr/>
        </p:nvSpPr>
        <p:spPr>
          <a:xfrm>
            <a:off x="4315968" y="1673352"/>
            <a:ext cx="7040880" cy="548640"/>
          </a:xfrm>
          <a:prstGeom prst="rect">
            <a:avLst/>
          </a:prstGeom>
          <a:noFill/>
        </p:spPr>
        <p:txBody>
          <a:bodyPr wrap="square" lIns="0" rIns="0" tIns="0" bIns="0" anchor="t">
            <a:spAutoFit/>
          </a:bodyPr>
          <a:lstStyle/>
          <a:p>
            <a:pPr algn="l">
              <a:lnSpc>
                <a:spcPct val="110000"/>
              </a:lnSpc>
            </a:pPr>
            <a:r>
              <a:rPr sz="1150" b="0" i="0">
                <a:solidFill>
                  <a:srgbClr val="6B7A8C"/>
                </a:solidFill>
                <a:latin typeface="Segoe UI"/>
              </a:rPr>
              <a:t>One searchable record of every lost and found item on campus.</a:t>
            </a:r>
          </a:p>
        </p:txBody>
      </p:sp>
      <p:cxnSp>
        <p:nvCxnSpPr>
          <p:cNvPr id="11" name="Connector 10"/>
          <p:cNvCxnSpPr/>
          <p:nvPr/>
        </p:nvCxnSpPr>
        <p:spPr>
          <a:xfrm>
            <a:off x="749808" y="2350008"/>
            <a:ext cx="1078351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2560320"/>
            <a:ext cx="502920" cy="320040"/>
          </a:xfrm>
          <a:prstGeom prst="rect">
            <a:avLst/>
          </a:prstGeom>
          <a:noFill/>
        </p:spPr>
        <p:txBody>
          <a:bodyPr wrap="square" lIns="0" rIns="0" tIns="0" bIns="0" anchor="t">
            <a:spAutoFit/>
          </a:bodyPr>
          <a:lstStyle/>
          <a:p>
            <a:pPr algn="l">
              <a:lnSpc>
                <a:spcPct val="105000"/>
              </a:lnSpc>
            </a:pPr>
            <a:r>
              <a:rPr sz="1600" b="1" i="0">
                <a:solidFill>
                  <a:srgbClr val="2C7DA0"/>
                </a:solidFill>
                <a:latin typeface="Consolas"/>
              </a:rPr>
              <a:t>2</a:t>
            </a:r>
          </a:p>
        </p:txBody>
      </p:sp>
      <p:sp>
        <p:nvSpPr>
          <p:cNvPr id="13" name="TextBox 12"/>
          <p:cNvSpPr txBox="1"/>
          <p:nvPr/>
        </p:nvSpPr>
        <p:spPr>
          <a:xfrm>
            <a:off x="1344168" y="2532888"/>
            <a:ext cx="2834640" cy="320040"/>
          </a:xfrm>
          <a:prstGeom prst="rect">
            <a:avLst/>
          </a:prstGeom>
          <a:noFill/>
        </p:spPr>
        <p:txBody>
          <a:bodyPr wrap="square" lIns="0" rIns="0" tIns="0" bIns="0" anchor="t">
            <a:spAutoFit/>
          </a:bodyPr>
          <a:lstStyle/>
          <a:p>
            <a:pPr algn="l">
              <a:lnSpc>
                <a:spcPct val="105000"/>
              </a:lnSpc>
            </a:pPr>
            <a:r>
              <a:rPr sz="1450" b="1" i="0">
                <a:solidFill>
                  <a:srgbClr val="132A3E"/>
                </a:solidFill>
                <a:latin typeface="Segoe UI"/>
              </a:rPr>
              <a:t>Faster recovery</a:t>
            </a:r>
          </a:p>
        </p:txBody>
      </p:sp>
      <p:sp>
        <p:nvSpPr>
          <p:cNvPr id="14" name="TextBox 13"/>
          <p:cNvSpPr txBox="1"/>
          <p:nvPr/>
        </p:nvSpPr>
        <p:spPr>
          <a:xfrm>
            <a:off x="4315968" y="2542032"/>
            <a:ext cx="7040880" cy="548640"/>
          </a:xfrm>
          <a:prstGeom prst="rect">
            <a:avLst/>
          </a:prstGeom>
          <a:noFill/>
        </p:spPr>
        <p:txBody>
          <a:bodyPr wrap="square" lIns="0" rIns="0" tIns="0" bIns="0" anchor="t">
            <a:spAutoFit/>
          </a:bodyPr>
          <a:lstStyle/>
          <a:p>
            <a:pPr algn="l">
              <a:lnSpc>
                <a:spcPct val="110000"/>
              </a:lnSpc>
            </a:pPr>
            <a:r>
              <a:rPr sz="1150" b="0" i="0">
                <a:solidFill>
                  <a:srgbClr val="6B7A8C"/>
                </a:solidFill>
                <a:latin typeface="Segoe UI"/>
              </a:rPr>
              <a:t>Suggest matches automatically instead of relying on someone scrolling a group.</a:t>
            </a:r>
          </a:p>
        </p:txBody>
      </p:sp>
      <p:cxnSp>
        <p:nvCxnSpPr>
          <p:cNvPr id="15" name="Connector 14"/>
          <p:cNvCxnSpPr/>
          <p:nvPr/>
        </p:nvCxnSpPr>
        <p:spPr>
          <a:xfrm>
            <a:off x="749808" y="3218687"/>
            <a:ext cx="1078351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3429000"/>
            <a:ext cx="502920" cy="320040"/>
          </a:xfrm>
          <a:prstGeom prst="rect">
            <a:avLst/>
          </a:prstGeom>
          <a:noFill/>
        </p:spPr>
        <p:txBody>
          <a:bodyPr wrap="square" lIns="0" rIns="0" tIns="0" bIns="0" anchor="t">
            <a:spAutoFit/>
          </a:bodyPr>
          <a:lstStyle/>
          <a:p>
            <a:pPr algn="l">
              <a:lnSpc>
                <a:spcPct val="105000"/>
              </a:lnSpc>
            </a:pPr>
            <a:r>
              <a:rPr sz="1600" b="1" i="0">
                <a:solidFill>
                  <a:srgbClr val="2C7DA0"/>
                </a:solidFill>
                <a:latin typeface="Consolas"/>
              </a:rPr>
              <a:t>3</a:t>
            </a:r>
          </a:p>
        </p:txBody>
      </p:sp>
      <p:sp>
        <p:nvSpPr>
          <p:cNvPr id="17" name="TextBox 16"/>
          <p:cNvSpPr txBox="1"/>
          <p:nvPr/>
        </p:nvSpPr>
        <p:spPr>
          <a:xfrm>
            <a:off x="1344168" y="3401568"/>
            <a:ext cx="2834640" cy="320040"/>
          </a:xfrm>
          <a:prstGeom prst="rect">
            <a:avLst/>
          </a:prstGeom>
          <a:noFill/>
        </p:spPr>
        <p:txBody>
          <a:bodyPr wrap="square" lIns="0" rIns="0" tIns="0" bIns="0" anchor="t">
            <a:spAutoFit/>
          </a:bodyPr>
          <a:lstStyle/>
          <a:p>
            <a:pPr algn="l">
              <a:lnSpc>
                <a:spcPct val="105000"/>
              </a:lnSpc>
            </a:pPr>
            <a:r>
              <a:rPr sz="1450" b="1" i="0">
                <a:solidFill>
                  <a:srgbClr val="132A3E"/>
                </a:solidFill>
                <a:latin typeface="Segoe UI"/>
              </a:rPr>
              <a:t>Verified ownership</a:t>
            </a:r>
          </a:p>
        </p:txBody>
      </p:sp>
      <p:sp>
        <p:nvSpPr>
          <p:cNvPr id="18" name="TextBox 17"/>
          <p:cNvSpPr txBox="1"/>
          <p:nvPr/>
        </p:nvSpPr>
        <p:spPr>
          <a:xfrm>
            <a:off x="4315968" y="3410712"/>
            <a:ext cx="7040880" cy="548640"/>
          </a:xfrm>
          <a:prstGeom prst="rect">
            <a:avLst/>
          </a:prstGeom>
          <a:noFill/>
        </p:spPr>
        <p:txBody>
          <a:bodyPr wrap="square" lIns="0" rIns="0" tIns="0" bIns="0" anchor="t">
            <a:spAutoFit/>
          </a:bodyPr>
          <a:lstStyle/>
          <a:p>
            <a:pPr algn="l">
              <a:lnSpc>
                <a:spcPct val="110000"/>
              </a:lnSpc>
            </a:pPr>
            <a:r>
              <a:rPr sz="1150" b="0" i="0">
                <a:solidFill>
                  <a:srgbClr val="6B7A8C"/>
                </a:solidFill>
                <a:latin typeface="Segoe UI"/>
              </a:rPr>
              <a:t>No item is released without checked proof and a recorded verifier.</a:t>
            </a:r>
          </a:p>
        </p:txBody>
      </p:sp>
      <p:cxnSp>
        <p:nvCxnSpPr>
          <p:cNvPr id="19" name="Connector 18"/>
          <p:cNvCxnSpPr/>
          <p:nvPr/>
        </p:nvCxnSpPr>
        <p:spPr>
          <a:xfrm>
            <a:off x="749808" y="4087368"/>
            <a:ext cx="1078351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9808" y="4297679"/>
            <a:ext cx="502920" cy="320040"/>
          </a:xfrm>
          <a:prstGeom prst="rect">
            <a:avLst/>
          </a:prstGeom>
          <a:noFill/>
        </p:spPr>
        <p:txBody>
          <a:bodyPr wrap="square" lIns="0" rIns="0" tIns="0" bIns="0" anchor="t">
            <a:spAutoFit/>
          </a:bodyPr>
          <a:lstStyle/>
          <a:p>
            <a:pPr algn="l">
              <a:lnSpc>
                <a:spcPct val="105000"/>
              </a:lnSpc>
            </a:pPr>
            <a:r>
              <a:rPr sz="1600" b="1" i="0">
                <a:solidFill>
                  <a:srgbClr val="2C7DA0"/>
                </a:solidFill>
                <a:latin typeface="Consolas"/>
              </a:rPr>
              <a:t>4</a:t>
            </a:r>
          </a:p>
        </p:txBody>
      </p:sp>
      <p:sp>
        <p:nvSpPr>
          <p:cNvPr id="21" name="TextBox 20"/>
          <p:cNvSpPr txBox="1"/>
          <p:nvPr/>
        </p:nvSpPr>
        <p:spPr>
          <a:xfrm>
            <a:off x="1344168" y="4270247"/>
            <a:ext cx="2834640" cy="320040"/>
          </a:xfrm>
          <a:prstGeom prst="rect">
            <a:avLst/>
          </a:prstGeom>
          <a:noFill/>
        </p:spPr>
        <p:txBody>
          <a:bodyPr wrap="square" lIns="0" rIns="0" tIns="0" bIns="0" anchor="t">
            <a:spAutoFit/>
          </a:bodyPr>
          <a:lstStyle/>
          <a:p>
            <a:pPr algn="l">
              <a:lnSpc>
                <a:spcPct val="105000"/>
              </a:lnSpc>
            </a:pPr>
            <a:r>
              <a:rPr sz="1450" b="1" i="0">
                <a:solidFill>
                  <a:srgbClr val="132A3E"/>
                </a:solidFill>
                <a:latin typeface="Segoe UI"/>
              </a:rPr>
              <a:t>Management reporting</a:t>
            </a:r>
          </a:p>
        </p:txBody>
      </p:sp>
      <p:sp>
        <p:nvSpPr>
          <p:cNvPr id="22" name="TextBox 21"/>
          <p:cNvSpPr txBox="1"/>
          <p:nvPr/>
        </p:nvSpPr>
        <p:spPr>
          <a:xfrm>
            <a:off x="4315968" y="4279392"/>
            <a:ext cx="7040880" cy="548640"/>
          </a:xfrm>
          <a:prstGeom prst="rect">
            <a:avLst/>
          </a:prstGeom>
          <a:noFill/>
        </p:spPr>
        <p:txBody>
          <a:bodyPr wrap="square" lIns="0" rIns="0" tIns="0" bIns="0" anchor="t">
            <a:spAutoFit/>
          </a:bodyPr>
          <a:lstStyle/>
          <a:p>
            <a:pPr algn="l">
              <a:lnSpc>
                <a:spcPct val="110000"/>
              </a:lnSpc>
            </a:pPr>
            <a:r>
              <a:rPr sz="1150" b="0" i="0">
                <a:solidFill>
                  <a:srgbClr val="6B7A8C"/>
                </a:solidFill>
                <a:latin typeface="Segoe UI"/>
              </a:rPr>
              <a:t>Live counts of lost, found, claimed and recovered items, exportable to CSV.</a:t>
            </a:r>
          </a:p>
        </p:txBody>
      </p:sp>
      <p:cxnSp>
        <p:nvCxnSpPr>
          <p:cNvPr id="23" name="Connector 22"/>
          <p:cNvCxnSpPr/>
          <p:nvPr/>
        </p:nvCxnSpPr>
        <p:spPr>
          <a:xfrm>
            <a:off x="749808" y="4956047"/>
            <a:ext cx="1078351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9808" y="5166360"/>
            <a:ext cx="502920" cy="320040"/>
          </a:xfrm>
          <a:prstGeom prst="rect">
            <a:avLst/>
          </a:prstGeom>
          <a:noFill/>
        </p:spPr>
        <p:txBody>
          <a:bodyPr wrap="square" lIns="0" rIns="0" tIns="0" bIns="0" anchor="t">
            <a:spAutoFit/>
          </a:bodyPr>
          <a:lstStyle/>
          <a:p>
            <a:pPr algn="l">
              <a:lnSpc>
                <a:spcPct val="105000"/>
              </a:lnSpc>
            </a:pPr>
            <a:r>
              <a:rPr sz="1600" b="1" i="0">
                <a:solidFill>
                  <a:srgbClr val="2C7DA0"/>
                </a:solidFill>
                <a:latin typeface="Consolas"/>
              </a:rPr>
              <a:t>5</a:t>
            </a:r>
          </a:p>
        </p:txBody>
      </p:sp>
      <p:sp>
        <p:nvSpPr>
          <p:cNvPr id="25" name="TextBox 24"/>
          <p:cNvSpPr txBox="1"/>
          <p:nvPr/>
        </p:nvSpPr>
        <p:spPr>
          <a:xfrm>
            <a:off x="1344168" y="5138928"/>
            <a:ext cx="2834640" cy="320040"/>
          </a:xfrm>
          <a:prstGeom prst="rect">
            <a:avLst/>
          </a:prstGeom>
          <a:noFill/>
        </p:spPr>
        <p:txBody>
          <a:bodyPr wrap="square" lIns="0" rIns="0" tIns="0" bIns="0" anchor="t">
            <a:spAutoFit/>
          </a:bodyPr>
          <a:lstStyle/>
          <a:p>
            <a:pPr algn="l">
              <a:lnSpc>
                <a:spcPct val="105000"/>
              </a:lnSpc>
            </a:pPr>
            <a:r>
              <a:rPr sz="1450" b="1" i="0">
                <a:solidFill>
                  <a:srgbClr val="132A3E"/>
                </a:solidFill>
                <a:latin typeface="Segoe UI"/>
              </a:rPr>
              <a:t>Academic demonstration</a:t>
            </a:r>
          </a:p>
        </p:txBody>
      </p:sp>
      <p:sp>
        <p:nvSpPr>
          <p:cNvPr id="26" name="TextBox 25"/>
          <p:cNvSpPr txBox="1"/>
          <p:nvPr/>
        </p:nvSpPr>
        <p:spPr>
          <a:xfrm>
            <a:off x="4315968" y="5148072"/>
            <a:ext cx="7040880" cy="548640"/>
          </a:xfrm>
          <a:prstGeom prst="rect">
            <a:avLst/>
          </a:prstGeom>
          <a:noFill/>
        </p:spPr>
        <p:txBody>
          <a:bodyPr wrap="square" lIns="0" rIns="0" tIns="0" bIns="0" anchor="t">
            <a:spAutoFit/>
          </a:bodyPr>
          <a:lstStyle/>
          <a:p>
            <a:pPr algn="l">
              <a:lnSpc>
                <a:spcPct val="110000"/>
              </a:lnSpc>
            </a:pPr>
            <a:r>
              <a:rPr sz="1150" b="0" i="0">
                <a:solidFill>
                  <a:srgbClr val="6B7A8C"/>
                </a:solidFill>
                <a:latin typeface="Segoe UI"/>
              </a:rPr>
              <a:t>Use all four OOPS pillars and the core DBMS features for a real reason.</a:t>
            </a:r>
          </a:p>
        </p:txBody>
      </p:sp>
      <p:sp>
        <p:nvSpPr>
          <p:cNvPr id="27" name="TextBox 26"/>
          <p:cNvSpPr txBox="1"/>
          <p:nvPr/>
        </p:nvSpPr>
        <p:spPr>
          <a:xfrm>
            <a:off x="658368" y="5943600"/>
            <a:ext cx="10874959" cy="274320"/>
          </a:xfrm>
          <a:prstGeom prst="rect">
            <a:avLst/>
          </a:prstGeom>
          <a:noFill/>
        </p:spPr>
        <p:txBody>
          <a:bodyPr wrap="square" lIns="0" rIns="0" tIns="0" bIns="0" anchor="t">
            <a:spAutoFit/>
          </a:bodyPr>
          <a:lstStyle/>
          <a:p>
            <a:pPr algn="l">
              <a:lnSpc>
                <a:spcPct val="105000"/>
              </a:lnSpc>
            </a:pPr>
            <a:r>
              <a:rPr sz="1050" b="0" i="1">
                <a:solidFill>
                  <a:srgbClr val="6B7A8C"/>
                </a:solidFill>
                <a:latin typeface="Segoe UI"/>
              </a:rPr>
              <a:t>Points 1–4 are user-facing. Point 5 is academic: the concepts are used because the problem needs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Scope and stakeholders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A deliberately tight boundary, so the project could be finished and tested</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06</a:t>
            </a:r>
          </a:p>
        </p:txBody>
      </p:sp>
      <p:sp>
        <p:nvSpPr>
          <p:cNvPr id="8" name="Rounded Rectangle 7"/>
          <p:cNvSpPr/>
          <p:nvPr/>
        </p:nvSpPr>
        <p:spPr>
          <a:xfrm>
            <a:off x="658368" y="1645920"/>
            <a:ext cx="5349240" cy="288036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1810512"/>
            <a:ext cx="3657600" cy="274320"/>
          </a:xfrm>
          <a:prstGeom prst="rect">
            <a:avLst/>
          </a:prstGeom>
          <a:noFill/>
        </p:spPr>
        <p:txBody>
          <a:bodyPr wrap="square" lIns="0" rIns="0" tIns="0" bIns="0" anchor="t">
            <a:spAutoFit/>
          </a:bodyPr>
          <a:lstStyle/>
          <a:p>
            <a:pPr algn="l">
              <a:lnSpc>
                <a:spcPct val="105000"/>
              </a:lnSpc>
            </a:pPr>
            <a:r>
              <a:rPr sz="950" b="1" i="0">
                <a:solidFill>
                  <a:srgbClr val="2E7D4F"/>
                </a:solidFill>
                <a:latin typeface="Consolas"/>
              </a:rPr>
              <a:t>IN SCOPE</a:t>
            </a:r>
          </a:p>
        </p:txBody>
      </p:sp>
      <p:sp>
        <p:nvSpPr>
          <p:cNvPr id="10" name="TextBox 9"/>
          <p:cNvSpPr txBox="1"/>
          <p:nvPr/>
        </p:nvSpPr>
        <p:spPr>
          <a:xfrm>
            <a:off x="932688" y="2176272"/>
            <a:ext cx="4800600" cy="365760"/>
          </a:xfrm>
          <a:prstGeom prst="rect">
            <a:avLst/>
          </a:prstGeom>
          <a:noFill/>
        </p:spPr>
        <p:txBody>
          <a:bodyPr wrap="square" lIns="0" rIns="0" tIns="0" bIns="0">
            <a:spAutoFit/>
          </a:bodyPr>
          <a:lstStyle/>
          <a:p>
            <a:pPr>
              <a:lnSpc>
                <a:spcPct val="105000"/>
              </a:lnSpc>
              <a:spcAft>
                <a:spcPts val="700"/>
              </a:spcAft>
            </a:pPr>
            <a:r>
              <a:rPr sz="1150" b="1">
                <a:solidFill>
                  <a:srgbClr val="2E7D4F"/>
                </a:solidFill>
                <a:latin typeface="Segoe UI"/>
              </a:rPr>
              <a:t>•  </a:t>
            </a:r>
            <a:r>
              <a:rPr sz="1150" b="0" i="0">
                <a:solidFill>
                  <a:srgbClr val="1F2A37"/>
                </a:solidFill>
                <a:latin typeface="Segoe UI"/>
              </a:rPr>
              <a:t>Single campus, single MySQL database</a:t>
            </a:r>
          </a:p>
          <a:p>
            <a:pPr>
              <a:lnSpc>
                <a:spcPct val="105000"/>
              </a:lnSpc>
              <a:spcAft>
                <a:spcPts val="700"/>
              </a:spcAft>
            </a:pPr>
            <a:r>
              <a:rPr sz="1150" b="1">
                <a:solidFill>
                  <a:srgbClr val="2E7D4F"/>
                </a:solidFill>
                <a:latin typeface="Segoe UI"/>
              </a:rPr>
              <a:t>•  </a:t>
            </a:r>
            <a:r>
              <a:rPr sz="1150" b="0" i="0">
                <a:solidFill>
                  <a:srgbClr val="1F2A37"/>
                </a:solidFill>
                <a:latin typeface="Segoe UI"/>
              </a:rPr>
              <a:t>Desktop client for students, staff and admin</a:t>
            </a:r>
          </a:p>
          <a:p>
            <a:pPr>
              <a:lnSpc>
                <a:spcPct val="105000"/>
              </a:lnSpc>
              <a:spcAft>
                <a:spcPts val="700"/>
              </a:spcAft>
            </a:pPr>
            <a:r>
              <a:rPr sz="1150" b="1">
                <a:solidFill>
                  <a:srgbClr val="2E7D4F"/>
                </a:solidFill>
                <a:latin typeface="Segoe UI"/>
              </a:rPr>
              <a:t>•  </a:t>
            </a:r>
            <a:r>
              <a:rPr sz="1150" b="0" i="0">
                <a:solidFill>
                  <a:srgbClr val="1F2A37"/>
                </a:solidFill>
                <a:latin typeface="Segoe UI"/>
              </a:rPr>
              <a:t>Lost and found reports with search and filters</a:t>
            </a:r>
          </a:p>
          <a:p>
            <a:pPr>
              <a:lnSpc>
                <a:spcPct val="105000"/>
              </a:lnSpc>
              <a:spcAft>
                <a:spcPts val="700"/>
              </a:spcAft>
            </a:pPr>
            <a:r>
              <a:rPr sz="1150" b="1">
                <a:solidFill>
                  <a:srgbClr val="2E7D4F"/>
                </a:solidFill>
                <a:latin typeface="Segoe UI"/>
              </a:rPr>
              <a:t>•  </a:t>
            </a:r>
            <a:r>
              <a:rPr sz="1150" b="0" i="0">
                <a:solidFill>
                  <a:srgbClr val="1F2A37"/>
                </a:solidFill>
                <a:latin typeface="Segoe UI"/>
              </a:rPr>
              <a:t>Automatic matching and verified claims</a:t>
            </a:r>
          </a:p>
          <a:p>
            <a:pPr>
              <a:lnSpc>
                <a:spcPct val="105000"/>
              </a:lnSpc>
              <a:spcAft>
                <a:spcPts val="700"/>
              </a:spcAft>
            </a:pPr>
            <a:r>
              <a:rPr sz="1150" b="1">
                <a:solidFill>
                  <a:srgbClr val="2E7D4F"/>
                </a:solidFill>
                <a:latin typeface="Segoe UI"/>
              </a:rPr>
              <a:t>•  </a:t>
            </a:r>
            <a:r>
              <a:rPr sz="1150" b="0" i="0">
                <a:solidFill>
                  <a:srgbClr val="1F2A37"/>
                </a:solidFill>
                <a:latin typeface="Segoe UI"/>
              </a:rPr>
              <a:t>Recovery tracking, audit trail and CSV reports</a:t>
            </a:r>
          </a:p>
        </p:txBody>
      </p:sp>
      <p:sp>
        <p:nvSpPr>
          <p:cNvPr id="11" name="Rounded Rectangle 10"/>
          <p:cNvSpPr/>
          <p:nvPr/>
        </p:nvSpPr>
        <p:spPr>
          <a:xfrm>
            <a:off x="6190488" y="1645920"/>
            <a:ext cx="5349240" cy="288036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64807" y="1810512"/>
            <a:ext cx="3657600" cy="274320"/>
          </a:xfrm>
          <a:prstGeom prst="rect">
            <a:avLst/>
          </a:prstGeom>
          <a:noFill/>
        </p:spPr>
        <p:txBody>
          <a:bodyPr wrap="square" lIns="0" rIns="0" tIns="0" bIns="0" anchor="t">
            <a:spAutoFit/>
          </a:bodyPr>
          <a:lstStyle/>
          <a:p>
            <a:pPr algn="l">
              <a:lnSpc>
                <a:spcPct val="105000"/>
              </a:lnSpc>
            </a:pPr>
            <a:r>
              <a:rPr sz="950" b="1" i="0">
                <a:solidFill>
                  <a:srgbClr val="6B7A8C"/>
                </a:solidFill>
                <a:latin typeface="Consolas"/>
              </a:rPr>
              <a:t>OUT OF SCOPE  (FUTURE)</a:t>
            </a:r>
          </a:p>
        </p:txBody>
      </p:sp>
      <p:sp>
        <p:nvSpPr>
          <p:cNvPr id="13" name="TextBox 12"/>
          <p:cNvSpPr txBox="1"/>
          <p:nvPr/>
        </p:nvSpPr>
        <p:spPr>
          <a:xfrm>
            <a:off x="6464807" y="2176272"/>
            <a:ext cx="4800600" cy="365760"/>
          </a:xfrm>
          <a:prstGeom prst="rect">
            <a:avLst/>
          </a:prstGeom>
          <a:noFill/>
        </p:spPr>
        <p:txBody>
          <a:bodyPr wrap="square" lIns="0" rIns="0" tIns="0" bIns="0">
            <a:spAutoFit/>
          </a:bodyPr>
          <a:lstStyle/>
          <a:p>
            <a:pPr>
              <a:lnSpc>
                <a:spcPct val="105000"/>
              </a:lnSpc>
              <a:spcAft>
                <a:spcPts val="700"/>
              </a:spcAft>
            </a:pPr>
            <a:r>
              <a:rPr sz="1150" b="1">
                <a:solidFill>
                  <a:srgbClr val="6B7A8C"/>
                </a:solidFill>
                <a:latin typeface="Segoe UI"/>
              </a:rPr>
              <a:t>•  </a:t>
            </a:r>
            <a:r>
              <a:rPr sz="1150" b="0" i="0">
                <a:solidFill>
                  <a:srgbClr val="1F2A37"/>
                </a:solidFill>
                <a:latin typeface="Segoe UI"/>
              </a:rPr>
              <a:t>Mobile app and e-mail / SMS notifications</a:t>
            </a:r>
          </a:p>
          <a:p>
            <a:pPr>
              <a:lnSpc>
                <a:spcPct val="105000"/>
              </a:lnSpc>
              <a:spcAft>
                <a:spcPts val="700"/>
              </a:spcAft>
            </a:pPr>
            <a:r>
              <a:rPr sz="1150" b="1">
                <a:solidFill>
                  <a:srgbClr val="6B7A8C"/>
                </a:solidFill>
                <a:latin typeface="Segoe UI"/>
              </a:rPr>
              <a:t>•  </a:t>
            </a:r>
            <a:r>
              <a:rPr sz="1150" b="0" i="0">
                <a:solidFill>
                  <a:srgbClr val="1F2A37"/>
                </a:solidFill>
                <a:latin typeface="Segoe UI"/>
              </a:rPr>
              <a:t>Photo upload and image similarity</a:t>
            </a:r>
          </a:p>
          <a:p>
            <a:pPr>
              <a:lnSpc>
                <a:spcPct val="105000"/>
              </a:lnSpc>
              <a:spcAft>
                <a:spcPts val="700"/>
              </a:spcAft>
            </a:pPr>
            <a:r>
              <a:rPr sz="1150" b="1">
                <a:solidFill>
                  <a:srgbClr val="6B7A8C"/>
                </a:solidFill>
                <a:latin typeface="Segoe UI"/>
              </a:rPr>
              <a:t>•  </a:t>
            </a:r>
            <a:r>
              <a:rPr sz="1150" b="0" i="0">
                <a:solidFill>
                  <a:srgbClr val="1F2A37"/>
                </a:solidFill>
                <a:latin typeface="Segoe UI"/>
              </a:rPr>
              <a:t>QR-code tags on lab equipment</a:t>
            </a:r>
          </a:p>
          <a:p>
            <a:pPr>
              <a:lnSpc>
                <a:spcPct val="105000"/>
              </a:lnSpc>
              <a:spcAft>
                <a:spcPts val="700"/>
              </a:spcAft>
            </a:pPr>
            <a:r>
              <a:rPr sz="1150" b="1">
                <a:solidFill>
                  <a:srgbClr val="6B7A8C"/>
                </a:solidFill>
                <a:latin typeface="Segoe UI"/>
              </a:rPr>
              <a:t>•  </a:t>
            </a:r>
            <a:r>
              <a:rPr sz="1150" b="0" i="0">
                <a:solidFill>
                  <a:srgbClr val="1F2A37"/>
                </a:solidFill>
                <a:latin typeface="Segoe UI"/>
              </a:rPr>
              <a:t>Cloud deployment and multi-campus tenancy</a:t>
            </a:r>
          </a:p>
          <a:p>
            <a:pPr>
              <a:lnSpc>
                <a:spcPct val="105000"/>
              </a:lnSpc>
              <a:spcAft>
                <a:spcPts val="700"/>
              </a:spcAft>
            </a:pPr>
            <a:r>
              <a:rPr sz="1150" b="1">
                <a:solidFill>
                  <a:srgbClr val="6B7A8C"/>
                </a:solidFill>
                <a:latin typeface="Segoe UI"/>
              </a:rPr>
              <a:t>•  </a:t>
            </a:r>
            <a:r>
              <a:rPr sz="1150" b="0" i="0">
                <a:solidFill>
                  <a:srgbClr val="1F2A37"/>
                </a:solidFill>
                <a:latin typeface="Segoe UI"/>
              </a:rPr>
              <a:t>Single sign-on with the college portal</a:t>
            </a:r>
          </a:p>
        </p:txBody>
      </p:sp>
      <p:sp>
        <p:nvSpPr>
          <p:cNvPr id="14" name="TextBox 13"/>
          <p:cNvSpPr txBox="1"/>
          <p:nvPr/>
        </p:nvSpPr>
        <p:spPr>
          <a:xfrm>
            <a:off x="658368" y="4828032"/>
            <a:ext cx="2743200" cy="228600"/>
          </a:xfrm>
          <a:prstGeom prst="rect">
            <a:avLst/>
          </a:prstGeom>
          <a:noFill/>
        </p:spPr>
        <p:txBody>
          <a:bodyPr wrap="square" lIns="0" rIns="0" tIns="0" bIns="0" anchor="t">
            <a:spAutoFit/>
          </a:bodyPr>
          <a:lstStyle/>
          <a:p>
            <a:pPr algn="l">
              <a:lnSpc>
                <a:spcPct val="105000"/>
              </a:lnSpc>
            </a:pPr>
            <a:r>
              <a:rPr sz="950" b="1" i="0">
                <a:solidFill>
                  <a:srgbClr val="6B7A8C"/>
                </a:solidFill>
                <a:latin typeface="Consolas"/>
              </a:rPr>
              <a:t>ACTORS</a:t>
            </a:r>
          </a:p>
        </p:txBody>
      </p:sp>
      <p:sp>
        <p:nvSpPr>
          <p:cNvPr id="15" name="Rounded Rectangle 14"/>
          <p:cNvSpPr/>
          <p:nvPr/>
        </p:nvSpPr>
        <p:spPr>
          <a:xfrm>
            <a:off x="658368" y="5120640"/>
            <a:ext cx="1691640" cy="420624"/>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8368" y="5120640"/>
            <a:ext cx="1691640" cy="420624"/>
          </a:xfrm>
          <a:prstGeom prst="rect">
            <a:avLst/>
          </a:prstGeom>
          <a:noFill/>
        </p:spPr>
        <p:txBody>
          <a:bodyPr wrap="square" lIns="0" rIns="0" tIns="0" bIns="0" anchor="ctr">
            <a:spAutoFit/>
          </a:bodyPr>
          <a:lstStyle/>
          <a:p>
            <a:pPr algn="ctr">
              <a:lnSpc>
                <a:spcPct val="105000"/>
              </a:lnSpc>
            </a:pPr>
            <a:r>
              <a:rPr sz="1100" b="1" i="0">
                <a:solidFill>
                  <a:srgbClr val="1F5C78"/>
                </a:solidFill>
                <a:latin typeface="Segoe UI"/>
              </a:rPr>
              <a:t>Student</a:t>
            </a:r>
          </a:p>
        </p:txBody>
      </p:sp>
      <p:sp>
        <p:nvSpPr>
          <p:cNvPr id="17" name="Rounded Rectangle 16"/>
          <p:cNvSpPr/>
          <p:nvPr/>
        </p:nvSpPr>
        <p:spPr>
          <a:xfrm>
            <a:off x="2532887" y="5120640"/>
            <a:ext cx="1965960" cy="420624"/>
          </a:xfrm>
          <a:prstGeom prst="roundRect">
            <a:avLst>
              <a:gd name="adj" fmla="val 50000"/>
            </a:avLst>
          </a:prstGeom>
          <a:solidFill>
            <a:srgbClr val="2C7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32887" y="5120640"/>
            <a:ext cx="1965960" cy="420624"/>
          </a:xfrm>
          <a:prstGeom prst="rect">
            <a:avLst/>
          </a:prstGeom>
          <a:noFill/>
        </p:spPr>
        <p:txBody>
          <a:bodyPr wrap="square" lIns="0" rIns="0" tIns="0" bIns="0" anchor="ctr">
            <a:spAutoFit/>
          </a:bodyPr>
          <a:lstStyle/>
          <a:p>
            <a:pPr algn="ctr">
              <a:lnSpc>
                <a:spcPct val="105000"/>
              </a:lnSpc>
            </a:pPr>
            <a:r>
              <a:rPr sz="1100" b="1" i="0">
                <a:solidFill>
                  <a:srgbClr val="FFFFFF"/>
                </a:solidFill>
                <a:latin typeface="Segoe UI"/>
              </a:rPr>
              <a:t>Security staff</a:t>
            </a:r>
          </a:p>
        </p:txBody>
      </p:sp>
      <p:sp>
        <p:nvSpPr>
          <p:cNvPr id="19" name="Rounded Rectangle 18"/>
          <p:cNvSpPr/>
          <p:nvPr/>
        </p:nvSpPr>
        <p:spPr>
          <a:xfrm>
            <a:off x="4681728" y="5120640"/>
            <a:ext cx="1783080" cy="420624"/>
          </a:xfrm>
          <a:prstGeom prst="roundRect">
            <a:avLst>
              <a:gd name="adj" fmla="val 50000"/>
            </a:avLst>
          </a:prstGeom>
          <a:solidFill>
            <a:srgbClr val="13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81728" y="5120640"/>
            <a:ext cx="1783080" cy="420624"/>
          </a:xfrm>
          <a:prstGeom prst="rect">
            <a:avLst/>
          </a:prstGeom>
          <a:noFill/>
        </p:spPr>
        <p:txBody>
          <a:bodyPr wrap="square" lIns="0" rIns="0" tIns="0" bIns="0" anchor="ctr">
            <a:spAutoFit/>
          </a:bodyPr>
          <a:lstStyle/>
          <a:p>
            <a:pPr algn="ctr">
              <a:lnSpc>
                <a:spcPct val="105000"/>
              </a:lnSpc>
            </a:pPr>
            <a:r>
              <a:rPr sz="1100" b="1" i="0">
                <a:solidFill>
                  <a:srgbClr val="FFFFFF"/>
                </a:solidFill>
                <a:latin typeface="Segoe UI"/>
              </a:rPr>
              <a:t>Administrator</a:t>
            </a:r>
          </a:p>
        </p:txBody>
      </p:sp>
      <p:sp>
        <p:nvSpPr>
          <p:cNvPr id="21" name="TextBox 20"/>
          <p:cNvSpPr txBox="1"/>
          <p:nvPr/>
        </p:nvSpPr>
        <p:spPr>
          <a:xfrm>
            <a:off x="658368" y="5806440"/>
            <a:ext cx="10874959" cy="365760"/>
          </a:xfrm>
          <a:prstGeom prst="rect">
            <a:avLst/>
          </a:prstGeom>
          <a:noFill/>
        </p:spPr>
        <p:txBody>
          <a:bodyPr wrap="square" lIns="0" rIns="0" tIns="0" bIns="0" anchor="t">
            <a:spAutoFit/>
          </a:bodyPr>
          <a:lstStyle/>
          <a:p>
            <a:pPr algn="l">
              <a:lnSpc>
                <a:spcPct val="105000"/>
              </a:lnSpc>
            </a:pPr>
            <a:r>
              <a:rPr sz="1150" b="0" i="1">
                <a:solidFill>
                  <a:srgbClr val="6B7A8C"/>
                </a:solidFill>
                <a:latin typeface="Segoe UI"/>
              </a:rPr>
              <a:t>Each out-of-scope item is a natural next step, not a rewrite — the layers are separated.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Existing systems and gaps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The paper register is the closest alternative — and it fails on three counts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07</a:t>
            </a:r>
          </a:p>
        </p:txBody>
      </p:sp>
      <p:graphicFrame>
        <p:nvGraphicFramePr>
          <p:cNvPr id="8" name="Table 7"/>
          <p:cNvGraphicFramePr>
            <a:graphicFrameLocks noGrp="1"/>
          </p:cNvGraphicFramePr>
          <p:nvPr/>
        </p:nvGraphicFramePr>
        <p:xfrm>
          <a:off x="749808" y="1737360"/>
          <a:ext cx="10692077" cy="2514600"/>
        </p:xfrm>
        <a:graphic>
          <a:graphicData uri="http://schemas.openxmlformats.org/drawingml/2006/table">
            <a:tbl>
              <a:tblPr/>
              <a:tblGrid>
                <a:gridCol w="3635306"/>
                <a:gridCol w="2352257"/>
                <a:gridCol w="2352257"/>
                <a:gridCol w="2352257"/>
              </a:tblGrid>
              <a:tr h="502920">
                <a:tc>
                  <a:txBody>
                    <a:bodyPr wrap="square"/>
                    <a:lstStyle/>
                    <a:p>
                      <a:pPr algn="l">
                        <a:lnSpc>
                          <a:spcPct val="95000"/>
                        </a:lnSpc>
                      </a:pPr>
                      <a:r>
                        <a:rPr sz="1250" b="1" i="0">
                          <a:solidFill>
                            <a:srgbClr val="FFFFFF"/>
                          </a:solidFill>
                          <a:latin typeface="Segoe UI"/>
                        </a:rPr>
                        <a:t>Channel</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1250" b="1" i="0">
                          <a:solidFill>
                            <a:srgbClr val="FFFFFF"/>
                          </a:solidFill>
                          <a:latin typeface="Segoe UI"/>
                        </a:rPr>
                        <a:t>Searchable</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1250" b="1" i="0">
                          <a:solidFill>
                            <a:srgbClr val="FFFFFF"/>
                          </a:solidFill>
                          <a:latin typeface="Segoe UI"/>
                        </a:rPr>
                        <a:t>Ownership proof</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1250" b="1" i="0">
                          <a:solidFill>
                            <a:srgbClr val="FFFFFF"/>
                          </a:solidFill>
                          <a:latin typeface="Segoe UI"/>
                        </a:rPr>
                        <a:t>Audit trail</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502920">
                <a:tc>
                  <a:txBody>
                    <a:bodyPr wrap="square"/>
                    <a:lstStyle/>
                    <a:p>
                      <a:pPr algn="l">
                        <a:lnSpc>
                          <a:spcPct val="95000"/>
                        </a:lnSpc>
                      </a:pPr>
                      <a:r>
                        <a:rPr sz="1250" b="0" i="0">
                          <a:solidFill>
                            <a:srgbClr val="1F2A37"/>
                          </a:solidFill>
                          <a:latin typeface="Segoe UI"/>
                        </a:rPr>
                        <a:t>Notice board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502920">
                <a:tc>
                  <a:txBody>
                    <a:bodyPr wrap="square"/>
                    <a:lstStyle/>
                    <a:p>
                      <a:pPr algn="l">
                        <a:lnSpc>
                          <a:spcPct val="95000"/>
                        </a:lnSpc>
                      </a:pPr>
                      <a:r>
                        <a:rPr sz="1250" b="0" i="0">
                          <a:solidFill>
                            <a:srgbClr val="1F2A37"/>
                          </a:solidFill>
                          <a:latin typeface="Segoe UI"/>
                        </a:rPr>
                        <a:t>WhatsApp group</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Partly (scrolling)</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502920">
                <a:tc>
                  <a:txBody>
                    <a:bodyPr wrap="square"/>
                    <a:lstStyle/>
                    <a:p>
                      <a:pPr algn="l">
                        <a:lnSpc>
                          <a:spcPct val="95000"/>
                        </a:lnSpc>
                      </a:pPr>
                      <a:r>
                        <a:rPr sz="1250" b="0" i="0">
                          <a:solidFill>
                            <a:srgbClr val="1F2A37"/>
                          </a:solidFill>
                          <a:latin typeface="Segoe UI"/>
                        </a:rPr>
                        <a:t>Paper register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Informal</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50" b="0" i="0">
                          <a:solidFill>
                            <a:srgbClr val="1F2A37"/>
                          </a:solidFill>
                          <a:latin typeface="Segoe UI"/>
                        </a:rPr>
                        <a:t>Manual</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502920">
                <a:tc>
                  <a:txBody>
                    <a:bodyPr wrap="square"/>
                    <a:lstStyle/>
                    <a:p>
                      <a:pPr algn="l">
                        <a:lnSpc>
                          <a:spcPct val="95000"/>
                        </a:lnSpc>
                      </a:pPr>
                      <a:r>
                        <a:rPr sz="1250" b="0" i="0">
                          <a:solidFill>
                            <a:srgbClr val="1F2A37"/>
                          </a:solidFill>
                          <a:latin typeface="Segoe UI"/>
                        </a:rPr>
                        <a:t>This system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Yes — SQL</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Yes — claims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50" b="0" i="0">
                          <a:solidFill>
                            <a:srgbClr val="1F2A37"/>
                          </a:solidFill>
                          <a:latin typeface="Segoe UI"/>
                        </a:rPr>
                        <a:t>Yes — triggers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9" name="Rounded Rectangle 8"/>
          <p:cNvSpPr/>
          <p:nvPr/>
        </p:nvSpPr>
        <p:spPr>
          <a:xfrm>
            <a:off x="749808" y="4617720"/>
            <a:ext cx="10692079" cy="123444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4754880"/>
            <a:ext cx="2743200" cy="274320"/>
          </a:xfrm>
          <a:prstGeom prst="rect">
            <a:avLst/>
          </a:prstGeom>
          <a:noFill/>
        </p:spPr>
        <p:txBody>
          <a:bodyPr wrap="square" lIns="0" rIns="0" tIns="0" bIns="0" anchor="t">
            <a:spAutoFit/>
          </a:bodyPr>
          <a:lstStyle/>
          <a:p>
            <a:pPr algn="l">
              <a:lnSpc>
                <a:spcPct val="105000"/>
              </a:lnSpc>
            </a:pPr>
            <a:r>
              <a:rPr sz="950" b="1" i="0">
                <a:solidFill>
                  <a:srgbClr val="2C7DA0"/>
                </a:solidFill>
                <a:latin typeface="Consolas"/>
              </a:rPr>
              <a:t>THE GAP</a:t>
            </a:r>
          </a:p>
        </p:txBody>
      </p:sp>
      <p:sp>
        <p:nvSpPr>
          <p:cNvPr id="11" name="TextBox 10"/>
          <p:cNvSpPr txBox="1"/>
          <p:nvPr/>
        </p:nvSpPr>
        <p:spPr>
          <a:xfrm>
            <a:off x="1024128" y="5047488"/>
            <a:ext cx="10051999" cy="731520"/>
          </a:xfrm>
          <a:prstGeom prst="rect">
            <a:avLst/>
          </a:prstGeom>
          <a:noFill/>
        </p:spPr>
        <p:txBody>
          <a:bodyPr wrap="square" lIns="0" rIns="0" tIns="0" bIns="0" anchor="t">
            <a:spAutoFit/>
          </a:bodyPr>
          <a:lstStyle/>
          <a:p>
            <a:pPr algn="l">
              <a:lnSpc>
                <a:spcPct val="130000"/>
              </a:lnSpc>
            </a:pPr>
            <a:r>
              <a:rPr sz="1200" b="0" i="0">
                <a:solidFill>
                  <a:srgbClr val="1F2A37"/>
                </a:solidFill>
                <a:latin typeface="Segoe UI"/>
              </a:rPr>
              <a:t>A record that cannot be searched is not a system. A handover that cannot be verified is not a process. A semester that cannot be summarised is not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Technology stack</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No framework, on purpose: SQL and OOPS stay visible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08</a:t>
            </a:r>
          </a:p>
        </p:txBody>
      </p:sp>
      <p:graphicFrame>
        <p:nvGraphicFramePr>
          <p:cNvPr id="8" name="Table 7"/>
          <p:cNvGraphicFramePr>
            <a:graphicFrameLocks noGrp="1"/>
          </p:cNvGraphicFramePr>
          <p:nvPr/>
        </p:nvGraphicFramePr>
        <p:xfrm>
          <a:off x="749808" y="1691640"/>
          <a:ext cx="10692077" cy="2377440"/>
        </p:xfrm>
        <a:graphic>
          <a:graphicData uri="http://schemas.openxmlformats.org/drawingml/2006/table">
            <a:tbl>
              <a:tblPr/>
              <a:tblGrid>
                <a:gridCol w="2138415"/>
                <a:gridCol w="2886861"/>
                <a:gridCol w="5666801"/>
              </a:tblGrid>
              <a:tr h="475488">
                <a:tc>
                  <a:txBody>
                    <a:bodyPr wrap="square"/>
                    <a:lstStyle/>
                    <a:p>
                      <a:pPr algn="l">
                        <a:lnSpc>
                          <a:spcPct val="95000"/>
                        </a:lnSpc>
                      </a:pPr>
                      <a:r>
                        <a:rPr sz="1200" b="1" i="0">
                          <a:solidFill>
                            <a:srgbClr val="FFFFFF"/>
                          </a:solidFill>
                          <a:latin typeface="Segoe UI"/>
                        </a:rPr>
                        <a:t>Layer</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1200" b="1" i="0">
                          <a:solidFill>
                            <a:srgbClr val="FFFFFF"/>
                          </a:solidFill>
                          <a:latin typeface="Segoe UI"/>
                        </a:rPr>
                        <a:t>Technology</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1200" b="1" i="0">
                          <a:solidFill>
                            <a:srgbClr val="FFFFFF"/>
                          </a:solidFill>
                          <a:latin typeface="Segoe UI"/>
                        </a:rPr>
                        <a:t>Responsibility</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475488">
                <a:tc>
                  <a:txBody>
                    <a:bodyPr wrap="square"/>
                    <a:lstStyle/>
                    <a:p>
                      <a:pPr algn="l">
                        <a:lnSpc>
                          <a:spcPct val="95000"/>
                        </a:lnSpc>
                      </a:pPr>
                      <a:r>
                        <a:rPr sz="1200" b="0" i="0">
                          <a:solidFill>
                            <a:srgbClr val="1F2A37"/>
                          </a:solidFill>
                          <a:latin typeface="Segoe UI"/>
                        </a:rPr>
                        <a:t>Presentation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00" b="0" i="0">
                          <a:solidFill>
                            <a:srgbClr val="1F2A37"/>
                          </a:solidFill>
                          <a:latin typeface="Segoe UI"/>
                        </a:rPr>
                        <a:t>Java Swing / AWT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00" b="0" i="0">
                          <a:solidFill>
                            <a:srgbClr val="1F2A37"/>
                          </a:solidFill>
                          <a:latin typeface="Segoe UI"/>
                        </a:rPr>
                        <a:t>Windows, forms, tables, dialogs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475488">
                <a:tc>
                  <a:txBody>
                    <a:bodyPr wrap="square"/>
                    <a:lstStyle/>
                    <a:p>
                      <a:pPr algn="l">
                        <a:lnSpc>
                          <a:spcPct val="95000"/>
                        </a:lnSpc>
                      </a:pPr>
                      <a:r>
                        <a:rPr sz="1200" b="0" i="0">
                          <a:solidFill>
                            <a:srgbClr val="1F2A37"/>
                          </a:solidFill>
                          <a:latin typeface="Segoe UI"/>
                        </a:rPr>
                        <a:t>Business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00" b="0" i="0">
                          <a:solidFill>
                            <a:srgbClr val="1F2A37"/>
                          </a:solidFill>
                          <a:latin typeface="Segoe UI"/>
                        </a:rPr>
                        <a:t>Plain Java classes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00" b="0" i="0">
                          <a:solidFill>
                            <a:srgbClr val="1F2A37"/>
                          </a:solidFill>
                          <a:latin typeface="Segoe UI"/>
                        </a:rPr>
                        <a:t>Validation, rules, transactions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475488">
                <a:tc>
                  <a:txBody>
                    <a:bodyPr wrap="square"/>
                    <a:lstStyle/>
                    <a:p>
                      <a:pPr algn="l">
                        <a:lnSpc>
                          <a:spcPct val="95000"/>
                        </a:lnSpc>
                      </a:pPr>
                      <a:r>
                        <a:rPr sz="1200" b="0" i="0">
                          <a:solidFill>
                            <a:srgbClr val="1F2A37"/>
                          </a:solidFill>
                          <a:latin typeface="Segoe UI"/>
                        </a:rPr>
                        <a:t>Persistence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00" b="0" i="0">
                          <a:solidFill>
                            <a:srgbClr val="1F2A37"/>
                          </a:solidFill>
                          <a:latin typeface="Segoe UI"/>
                        </a:rPr>
                        <a:t>JDBC + DAO pattern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1200" b="0" i="0">
                          <a:solidFill>
                            <a:srgbClr val="1F2A37"/>
                          </a:solidFill>
                          <a:latin typeface="Segoe UI"/>
                        </a:rPr>
                        <a:t>SQL execution, row mapping</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475488">
                <a:tc>
                  <a:txBody>
                    <a:bodyPr wrap="square"/>
                    <a:lstStyle/>
                    <a:p>
                      <a:pPr algn="l">
                        <a:lnSpc>
                          <a:spcPct val="95000"/>
                        </a:lnSpc>
                      </a:pPr>
                      <a:r>
                        <a:rPr sz="1200" b="0" i="0">
                          <a:solidFill>
                            <a:srgbClr val="1F2A37"/>
                          </a:solidFill>
                          <a:latin typeface="Segoe UI"/>
                        </a:rPr>
                        <a:t>Database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00" b="0" i="0">
                          <a:solidFill>
                            <a:srgbClr val="1F2A37"/>
                          </a:solidFill>
                          <a:latin typeface="Segoe UI"/>
                        </a:rPr>
                        <a:t>MySQL 8</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1200" b="0" i="0">
                          <a:solidFill>
                            <a:srgbClr val="1F2A37"/>
                          </a:solidFill>
                          <a:latin typeface="Segoe UI"/>
                        </a:rPr>
                        <a:t>Tables, keys, views, triggers, transactions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9" name="Rounded Rectangle 8"/>
          <p:cNvSpPr/>
          <p:nvPr/>
        </p:nvSpPr>
        <p:spPr>
          <a:xfrm>
            <a:off x="749808" y="4434840"/>
            <a:ext cx="10692079" cy="146304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7" y="4572000"/>
            <a:ext cx="2377440" cy="274320"/>
          </a:xfrm>
          <a:prstGeom prst="rect">
            <a:avLst/>
          </a:prstGeom>
          <a:noFill/>
        </p:spPr>
        <p:txBody>
          <a:bodyPr wrap="square" lIns="0" rIns="0" tIns="0" bIns="0" anchor="t">
            <a:spAutoFit/>
          </a:bodyPr>
          <a:lstStyle/>
          <a:p>
            <a:pPr algn="l">
              <a:lnSpc>
                <a:spcPct val="105000"/>
              </a:lnSpc>
            </a:pPr>
            <a:r>
              <a:rPr sz="950" b="1" i="0">
                <a:solidFill>
                  <a:srgbClr val="2C7DA0"/>
                </a:solidFill>
                <a:latin typeface="Consolas"/>
              </a:rPr>
              <a:t>WHY THIS STACK</a:t>
            </a:r>
          </a:p>
        </p:txBody>
      </p:sp>
      <p:sp>
        <p:nvSpPr>
          <p:cNvPr id="11" name="TextBox 10"/>
          <p:cNvSpPr txBox="1"/>
          <p:nvPr/>
        </p:nvSpPr>
        <p:spPr>
          <a:xfrm>
            <a:off x="978407" y="4864608"/>
            <a:ext cx="10051999" cy="914400"/>
          </a:xfrm>
          <a:prstGeom prst="rect">
            <a:avLst/>
          </a:prstGeom>
          <a:noFill/>
        </p:spPr>
        <p:txBody>
          <a:bodyPr wrap="square" lIns="0" rIns="0" tIns="0" bIns="0" anchor="t">
            <a:spAutoFit/>
          </a:bodyPr>
          <a:lstStyle/>
          <a:p>
            <a:pPr algn="l">
              <a:lnSpc>
                <a:spcPct val="130000"/>
              </a:lnSpc>
            </a:pPr>
            <a:r>
              <a:rPr sz="1150" b="0" i="0">
                <a:solidFill>
                  <a:srgbClr val="1F2A37"/>
                </a:solidFill>
                <a:latin typeface="Segoe UI"/>
              </a:rPr>
              <a:t>Spring or Hibernate would hide exactly what the review wants to see: joins, prepared statements, transactions and object-relational mapping. Every layer here is small enough to read in the viva.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System architecture</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Three layers, one dependency direction: downwards only</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09</a:t>
            </a:r>
          </a:p>
        </p:txBody>
      </p:sp>
      <p:sp>
        <p:nvSpPr>
          <p:cNvPr id="8" name="Rounded Rectangle 7"/>
          <p:cNvSpPr/>
          <p:nvPr/>
        </p:nvSpPr>
        <p:spPr>
          <a:xfrm>
            <a:off x="868680" y="1664208"/>
            <a:ext cx="5394960" cy="841248"/>
          </a:xfrm>
          <a:prstGeom prst="roundRect">
            <a:avLst>
              <a:gd name="adj" fmla="val 6000"/>
            </a:avLst>
          </a:prstGeom>
          <a:solidFill>
            <a:srgbClr val="13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51560" y="1783080"/>
            <a:ext cx="1920240" cy="228600"/>
          </a:xfrm>
          <a:prstGeom prst="rect">
            <a:avLst/>
          </a:prstGeom>
          <a:noFill/>
        </p:spPr>
        <p:txBody>
          <a:bodyPr wrap="square" lIns="0" rIns="0" tIns="0" bIns="0" anchor="t">
            <a:spAutoFit/>
          </a:bodyPr>
          <a:lstStyle/>
          <a:p>
            <a:pPr algn="l">
              <a:lnSpc>
                <a:spcPct val="105000"/>
              </a:lnSpc>
            </a:pPr>
            <a:r>
              <a:rPr sz="1050" b="1" i="0">
                <a:solidFill>
                  <a:srgbClr val="FFFFFF"/>
                </a:solidFill>
                <a:latin typeface="Consolas"/>
              </a:rPr>
              <a:t>PRESENTATION</a:t>
            </a:r>
          </a:p>
        </p:txBody>
      </p:sp>
      <p:sp>
        <p:nvSpPr>
          <p:cNvPr id="10" name="TextBox 9"/>
          <p:cNvSpPr txBox="1"/>
          <p:nvPr/>
        </p:nvSpPr>
        <p:spPr>
          <a:xfrm>
            <a:off x="2788920" y="1764792"/>
            <a:ext cx="1828800" cy="228600"/>
          </a:xfrm>
          <a:prstGeom prst="rect">
            <a:avLst/>
          </a:prstGeom>
          <a:noFill/>
        </p:spPr>
        <p:txBody>
          <a:bodyPr wrap="square" lIns="0" rIns="0" tIns="0" bIns="0" anchor="t">
            <a:spAutoFit/>
          </a:bodyPr>
          <a:lstStyle/>
          <a:p>
            <a:pPr algn="r">
              <a:lnSpc>
                <a:spcPct val="105000"/>
              </a:lnSpc>
            </a:pPr>
            <a:r>
              <a:rPr sz="900" b="1" i="0">
                <a:solidFill>
                  <a:srgbClr val="9FC9DD"/>
                </a:solidFill>
                <a:latin typeface="Segoe UI"/>
              </a:rPr>
              <a:t>Swing</a:t>
            </a:r>
          </a:p>
        </p:txBody>
      </p:sp>
      <p:sp>
        <p:nvSpPr>
          <p:cNvPr id="11" name="TextBox 10"/>
          <p:cNvSpPr txBox="1"/>
          <p:nvPr/>
        </p:nvSpPr>
        <p:spPr>
          <a:xfrm>
            <a:off x="1051560" y="2066544"/>
            <a:ext cx="4937760" cy="320040"/>
          </a:xfrm>
          <a:prstGeom prst="rect">
            <a:avLst/>
          </a:prstGeom>
          <a:noFill/>
        </p:spPr>
        <p:txBody>
          <a:bodyPr wrap="square" lIns="0" rIns="0" tIns="0" bIns="0" anchor="t">
            <a:spAutoFit/>
          </a:bodyPr>
          <a:lstStyle/>
          <a:p>
            <a:pPr algn="l">
              <a:lnSpc>
                <a:spcPct val="105000"/>
              </a:lnSpc>
            </a:pPr>
            <a:r>
              <a:rPr sz="950" b="0" i="0">
                <a:solidFill>
                  <a:srgbClr val="E3EEF5"/>
                </a:solidFill>
                <a:latin typeface="Segoe UI"/>
              </a:rPr>
              <a:t>LoginFrame · MainFrame · 6 panels · dialogs</a:t>
            </a:r>
          </a:p>
        </p:txBody>
      </p:sp>
      <p:sp>
        <p:nvSpPr>
          <p:cNvPr id="12" name="Down Arrow 11"/>
          <p:cNvSpPr/>
          <p:nvPr/>
        </p:nvSpPr>
        <p:spPr>
          <a:xfrm>
            <a:off x="3401568" y="2532888"/>
            <a:ext cx="292608" cy="201168"/>
          </a:xfrm>
          <a:prstGeom prst="down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2761488"/>
            <a:ext cx="5394960" cy="841248"/>
          </a:xfrm>
          <a:prstGeom prst="roundRect">
            <a:avLst>
              <a:gd name="adj" fmla="val 6000"/>
            </a:avLst>
          </a:prstGeom>
          <a:solidFill>
            <a:srgbClr val="1D3D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1920240" cy="228600"/>
          </a:xfrm>
          <a:prstGeom prst="rect">
            <a:avLst/>
          </a:prstGeom>
          <a:noFill/>
        </p:spPr>
        <p:txBody>
          <a:bodyPr wrap="square" lIns="0" rIns="0" tIns="0" bIns="0" anchor="t">
            <a:spAutoFit/>
          </a:bodyPr>
          <a:lstStyle/>
          <a:p>
            <a:pPr algn="l">
              <a:lnSpc>
                <a:spcPct val="105000"/>
              </a:lnSpc>
            </a:pPr>
            <a:r>
              <a:rPr sz="1050" b="1" i="0">
                <a:solidFill>
                  <a:srgbClr val="FFFFFF"/>
                </a:solidFill>
                <a:latin typeface="Consolas"/>
              </a:rPr>
              <a:t>SERVICE</a:t>
            </a:r>
          </a:p>
        </p:txBody>
      </p:sp>
      <p:sp>
        <p:nvSpPr>
          <p:cNvPr id="15" name="TextBox 14"/>
          <p:cNvSpPr txBox="1"/>
          <p:nvPr/>
        </p:nvSpPr>
        <p:spPr>
          <a:xfrm>
            <a:off x="2788920" y="2862072"/>
            <a:ext cx="1828800" cy="228600"/>
          </a:xfrm>
          <a:prstGeom prst="rect">
            <a:avLst/>
          </a:prstGeom>
          <a:noFill/>
        </p:spPr>
        <p:txBody>
          <a:bodyPr wrap="square" lIns="0" rIns="0" tIns="0" bIns="0" anchor="t">
            <a:spAutoFit/>
          </a:bodyPr>
          <a:lstStyle/>
          <a:p>
            <a:pPr algn="r">
              <a:lnSpc>
                <a:spcPct val="105000"/>
              </a:lnSpc>
            </a:pPr>
            <a:r>
              <a:rPr sz="900" b="1" i="0">
                <a:solidFill>
                  <a:srgbClr val="9FC9DD"/>
                </a:solidFill>
                <a:latin typeface="Segoe UI"/>
              </a:rPr>
              <a:t>Business rules</a:t>
            </a:r>
          </a:p>
        </p:txBody>
      </p:sp>
      <p:sp>
        <p:nvSpPr>
          <p:cNvPr id="16" name="TextBox 15"/>
          <p:cNvSpPr txBox="1"/>
          <p:nvPr/>
        </p:nvSpPr>
        <p:spPr>
          <a:xfrm>
            <a:off x="1051560" y="3163824"/>
            <a:ext cx="4937760" cy="320040"/>
          </a:xfrm>
          <a:prstGeom prst="rect">
            <a:avLst/>
          </a:prstGeom>
          <a:noFill/>
        </p:spPr>
        <p:txBody>
          <a:bodyPr wrap="square" lIns="0" rIns="0" tIns="0" bIns="0" anchor="t">
            <a:spAutoFit/>
          </a:bodyPr>
          <a:lstStyle/>
          <a:p>
            <a:pPr algn="l">
              <a:lnSpc>
                <a:spcPct val="105000"/>
              </a:lnSpc>
            </a:pPr>
            <a:r>
              <a:rPr sz="950" b="0" i="0">
                <a:solidFill>
                  <a:srgbClr val="E3EEF5"/>
                </a:solidFill>
                <a:latin typeface="Segoe UI"/>
              </a:rPr>
              <a:t>Auth · Item · Claim · Match · Report</a:t>
            </a:r>
          </a:p>
        </p:txBody>
      </p:sp>
      <p:sp>
        <p:nvSpPr>
          <p:cNvPr id="17" name="Down Arrow 16"/>
          <p:cNvSpPr/>
          <p:nvPr/>
        </p:nvSpPr>
        <p:spPr>
          <a:xfrm>
            <a:off x="3401568" y="3630168"/>
            <a:ext cx="292608" cy="201168"/>
          </a:xfrm>
          <a:prstGeom prst="down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858768"/>
            <a:ext cx="5394960" cy="841248"/>
          </a:xfrm>
          <a:prstGeom prst="roundRect">
            <a:avLst>
              <a:gd name="adj" fmla="val 6000"/>
            </a:avLst>
          </a:prstGeom>
          <a:solidFill>
            <a:srgbClr val="1F5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51560" y="3977639"/>
            <a:ext cx="1920240" cy="228600"/>
          </a:xfrm>
          <a:prstGeom prst="rect">
            <a:avLst/>
          </a:prstGeom>
          <a:noFill/>
        </p:spPr>
        <p:txBody>
          <a:bodyPr wrap="square" lIns="0" rIns="0" tIns="0" bIns="0" anchor="t">
            <a:spAutoFit/>
          </a:bodyPr>
          <a:lstStyle/>
          <a:p>
            <a:pPr algn="l">
              <a:lnSpc>
                <a:spcPct val="105000"/>
              </a:lnSpc>
            </a:pPr>
            <a:r>
              <a:rPr sz="1050" b="1" i="0">
                <a:solidFill>
                  <a:srgbClr val="FFFFFF"/>
                </a:solidFill>
                <a:latin typeface="Consolas"/>
              </a:rPr>
              <a:t>PERSISTENCE</a:t>
            </a:r>
          </a:p>
        </p:txBody>
      </p:sp>
      <p:sp>
        <p:nvSpPr>
          <p:cNvPr id="20" name="TextBox 19"/>
          <p:cNvSpPr txBox="1"/>
          <p:nvPr/>
        </p:nvSpPr>
        <p:spPr>
          <a:xfrm>
            <a:off x="2788920" y="3959352"/>
            <a:ext cx="1828800" cy="228600"/>
          </a:xfrm>
          <a:prstGeom prst="rect">
            <a:avLst/>
          </a:prstGeom>
          <a:noFill/>
        </p:spPr>
        <p:txBody>
          <a:bodyPr wrap="square" lIns="0" rIns="0" tIns="0" bIns="0" anchor="t">
            <a:spAutoFit/>
          </a:bodyPr>
          <a:lstStyle/>
          <a:p>
            <a:pPr algn="r">
              <a:lnSpc>
                <a:spcPct val="105000"/>
              </a:lnSpc>
            </a:pPr>
            <a:r>
              <a:rPr sz="900" b="1" i="0">
                <a:solidFill>
                  <a:srgbClr val="9FC9DD"/>
                </a:solidFill>
                <a:latin typeface="Segoe UI"/>
              </a:rPr>
              <a:t>JDBC / DAO</a:t>
            </a:r>
          </a:p>
        </p:txBody>
      </p:sp>
      <p:sp>
        <p:nvSpPr>
          <p:cNvPr id="21" name="TextBox 20"/>
          <p:cNvSpPr txBox="1"/>
          <p:nvPr/>
        </p:nvSpPr>
        <p:spPr>
          <a:xfrm>
            <a:off x="1051560" y="4261104"/>
            <a:ext cx="4937760" cy="320040"/>
          </a:xfrm>
          <a:prstGeom prst="rect">
            <a:avLst/>
          </a:prstGeom>
          <a:noFill/>
        </p:spPr>
        <p:txBody>
          <a:bodyPr wrap="square" lIns="0" rIns="0" tIns="0" bIns="0" anchor="t">
            <a:spAutoFit/>
          </a:bodyPr>
          <a:lstStyle/>
          <a:p>
            <a:pPr algn="l">
              <a:lnSpc>
                <a:spcPct val="105000"/>
              </a:lnSpc>
            </a:pPr>
            <a:r>
              <a:rPr sz="950" b="0" i="0">
                <a:solidFill>
                  <a:srgbClr val="E3EEF5"/>
                </a:solidFill>
                <a:latin typeface="Segoe UI"/>
              </a:rPr>
              <a:t>GenericDAO · 4 JDBC DAOs · row mapping</a:t>
            </a:r>
          </a:p>
        </p:txBody>
      </p:sp>
      <p:sp>
        <p:nvSpPr>
          <p:cNvPr id="22" name="Down Arrow 21"/>
          <p:cNvSpPr/>
          <p:nvPr/>
        </p:nvSpPr>
        <p:spPr>
          <a:xfrm>
            <a:off x="3401568" y="4727448"/>
            <a:ext cx="292608" cy="201168"/>
          </a:xfrm>
          <a:prstGeom prst="down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4956048"/>
            <a:ext cx="5394960" cy="841248"/>
          </a:xfrm>
          <a:prstGeom prst="roundRect">
            <a:avLst>
              <a:gd name="adj" fmla="val 6000"/>
            </a:avLst>
          </a:prstGeom>
          <a:solidFill>
            <a:srgbClr val="2C7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51560" y="5074920"/>
            <a:ext cx="1920240" cy="228600"/>
          </a:xfrm>
          <a:prstGeom prst="rect">
            <a:avLst/>
          </a:prstGeom>
          <a:noFill/>
        </p:spPr>
        <p:txBody>
          <a:bodyPr wrap="square" lIns="0" rIns="0" tIns="0" bIns="0" anchor="t">
            <a:spAutoFit/>
          </a:bodyPr>
          <a:lstStyle/>
          <a:p>
            <a:pPr algn="l">
              <a:lnSpc>
                <a:spcPct val="105000"/>
              </a:lnSpc>
            </a:pPr>
            <a:r>
              <a:rPr sz="1050" b="1" i="0">
                <a:solidFill>
                  <a:srgbClr val="FFFFFF"/>
                </a:solidFill>
                <a:latin typeface="Consolas"/>
              </a:rPr>
              <a:t>DATABASE</a:t>
            </a:r>
          </a:p>
        </p:txBody>
      </p:sp>
      <p:sp>
        <p:nvSpPr>
          <p:cNvPr id="25" name="TextBox 24"/>
          <p:cNvSpPr txBox="1"/>
          <p:nvPr/>
        </p:nvSpPr>
        <p:spPr>
          <a:xfrm>
            <a:off x="2788920" y="5056632"/>
            <a:ext cx="1828800" cy="228600"/>
          </a:xfrm>
          <a:prstGeom prst="rect">
            <a:avLst/>
          </a:prstGeom>
          <a:noFill/>
        </p:spPr>
        <p:txBody>
          <a:bodyPr wrap="square" lIns="0" rIns="0" tIns="0" bIns="0" anchor="t">
            <a:spAutoFit/>
          </a:bodyPr>
          <a:lstStyle/>
          <a:p>
            <a:pPr algn="r">
              <a:lnSpc>
                <a:spcPct val="105000"/>
              </a:lnSpc>
            </a:pPr>
            <a:r>
              <a:rPr sz="900" b="1" i="0">
                <a:solidFill>
                  <a:srgbClr val="9FC9DD"/>
                </a:solidFill>
                <a:latin typeface="Segoe UI"/>
              </a:rPr>
              <a:t>MySQL 8</a:t>
            </a:r>
          </a:p>
        </p:txBody>
      </p:sp>
      <p:sp>
        <p:nvSpPr>
          <p:cNvPr id="26" name="TextBox 25"/>
          <p:cNvSpPr txBox="1"/>
          <p:nvPr/>
        </p:nvSpPr>
        <p:spPr>
          <a:xfrm>
            <a:off x="1051560" y="5358384"/>
            <a:ext cx="4937760" cy="320040"/>
          </a:xfrm>
          <a:prstGeom prst="rect">
            <a:avLst/>
          </a:prstGeom>
          <a:noFill/>
        </p:spPr>
        <p:txBody>
          <a:bodyPr wrap="square" lIns="0" rIns="0" tIns="0" bIns="0" anchor="t">
            <a:spAutoFit/>
          </a:bodyPr>
          <a:lstStyle/>
          <a:p>
            <a:pPr algn="l">
              <a:lnSpc>
                <a:spcPct val="105000"/>
              </a:lnSpc>
            </a:pPr>
            <a:r>
              <a:rPr sz="950" b="0" i="0">
                <a:solidFill>
                  <a:srgbClr val="E3EEF5"/>
                </a:solidFill>
                <a:latin typeface="Segoe UI"/>
              </a:rPr>
              <a:t>8 tables · 2 views · 2 triggers · 6 indexes</a:t>
            </a:r>
          </a:p>
        </p:txBody>
      </p:sp>
      <p:sp>
        <p:nvSpPr>
          <p:cNvPr id="27" name="Rounded Rectangle 26"/>
          <p:cNvSpPr/>
          <p:nvPr/>
        </p:nvSpPr>
        <p:spPr>
          <a:xfrm>
            <a:off x="6629400" y="1664208"/>
            <a:ext cx="4892040" cy="39319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0" y="1828800"/>
            <a:ext cx="3657600" cy="274320"/>
          </a:xfrm>
          <a:prstGeom prst="rect">
            <a:avLst/>
          </a:prstGeom>
          <a:noFill/>
        </p:spPr>
        <p:txBody>
          <a:bodyPr wrap="square" lIns="0" rIns="0" tIns="0" bIns="0" anchor="t">
            <a:spAutoFit/>
          </a:bodyPr>
          <a:lstStyle/>
          <a:p>
            <a:pPr algn="l">
              <a:lnSpc>
                <a:spcPct val="105000"/>
              </a:lnSpc>
            </a:pPr>
            <a:r>
              <a:rPr sz="950" b="1" i="0">
                <a:solidFill>
                  <a:srgbClr val="2C7DA0"/>
                </a:solidFill>
                <a:latin typeface="Consolas"/>
              </a:rPr>
              <a:t>LAYER RULES</a:t>
            </a:r>
          </a:p>
        </p:txBody>
      </p:sp>
      <p:sp>
        <p:nvSpPr>
          <p:cNvPr id="29" name="TextBox 28"/>
          <p:cNvSpPr txBox="1"/>
          <p:nvPr/>
        </p:nvSpPr>
        <p:spPr>
          <a:xfrm>
            <a:off x="6858000" y="2212848"/>
            <a:ext cx="4434840" cy="365760"/>
          </a:xfrm>
          <a:prstGeom prst="rect">
            <a:avLst/>
          </a:prstGeom>
          <a:noFill/>
        </p:spPr>
        <p:txBody>
          <a:bodyPr wrap="square" lIns="0" rIns="0" tIns="0" bIns="0">
            <a:spAutoFit/>
          </a:bodyPr>
          <a:lstStyle/>
          <a:p>
            <a:pPr>
              <a:lnSpc>
                <a:spcPct val="105000"/>
              </a:lnSpc>
              <a:spcAft>
                <a:spcPts val="1200"/>
              </a:spcAft>
            </a:pPr>
            <a:r>
              <a:rPr sz="1100" b="1">
                <a:solidFill>
                  <a:srgbClr val="2C7DA0"/>
                </a:solidFill>
                <a:latin typeface="Segoe UI"/>
              </a:rPr>
              <a:t>•  </a:t>
            </a:r>
            <a:r>
              <a:rPr sz="1100" b="0" i="0">
                <a:solidFill>
                  <a:srgbClr val="1F2A37"/>
                </a:solidFill>
                <a:latin typeface="Segoe UI"/>
              </a:rPr>
              <a:t>UI contains </a:t>
            </a:r>
            <a:r>
              <a:rPr sz="1100" b="1" i="0">
                <a:solidFill>
                  <a:srgbClr val="1F2A37"/>
                </a:solidFill>
                <a:latin typeface="Segoe UI"/>
              </a:rPr>
              <a:t>no SQL</a:t>
            </a:r>
            <a:r>
              <a:rPr sz="1100" b="0" i="0">
                <a:solidFill>
                  <a:srgbClr val="1F2A37"/>
                </a:solidFill>
                <a:latin typeface="Segoe UI"/>
              </a:rPr>
              <a:t> and no JDBC import.</a:t>
            </a:r>
          </a:p>
          <a:p>
            <a:pPr>
              <a:lnSpc>
                <a:spcPct val="105000"/>
              </a:lnSpc>
              <a:spcAft>
                <a:spcPts val="1200"/>
              </a:spcAft>
            </a:pPr>
            <a:r>
              <a:rPr sz="1100" b="1">
                <a:solidFill>
                  <a:srgbClr val="2C7DA0"/>
                </a:solidFill>
                <a:latin typeface="Segoe UI"/>
              </a:rPr>
              <a:t>•  </a:t>
            </a:r>
            <a:r>
              <a:rPr sz="1100" b="0" i="0">
                <a:solidFill>
                  <a:srgbClr val="1F2A37"/>
                </a:solidFill>
                <a:latin typeface="Segoe UI"/>
              </a:rPr>
              <a:t>Service contains </a:t>
            </a:r>
            <a:r>
              <a:rPr sz="1100" b="1" i="0">
                <a:solidFill>
                  <a:srgbClr val="1F2A37"/>
                </a:solidFill>
                <a:latin typeface="Segoe UI"/>
              </a:rPr>
              <a:t>no Swing</a:t>
            </a:r>
            <a:r>
              <a:rPr sz="1100" b="0" i="0">
                <a:solidFill>
                  <a:srgbClr val="1F2A37"/>
                </a:solidFill>
                <a:latin typeface="Segoe UI"/>
              </a:rPr>
              <a:t> import.</a:t>
            </a:r>
          </a:p>
          <a:p>
            <a:pPr>
              <a:lnSpc>
                <a:spcPct val="105000"/>
              </a:lnSpc>
              <a:spcAft>
                <a:spcPts val="1200"/>
              </a:spcAft>
            </a:pPr>
            <a:r>
              <a:rPr sz="1100" b="1">
                <a:solidFill>
                  <a:srgbClr val="2C7DA0"/>
                </a:solidFill>
                <a:latin typeface="Segoe UI"/>
              </a:rPr>
              <a:t>•  </a:t>
            </a:r>
            <a:r>
              <a:rPr sz="1100" b="0" i="0">
                <a:solidFill>
                  <a:srgbClr val="1F2A37"/>
                </a:solidFill>
                <a:latin typeface="Segoe UI"/>
              </a:rPr>
              <a:t>DAO holds no business rules — only statements and mapping.</a:t>
            </a:r>
          </a:p>
          <a:p>
            <a:pPr>
              <a:lnSpc>
                <a:spcPct val="105000"/>
              </a:lnSpc>
              <a:spcAft>
                <a:spcPts val="1200"/>
              </a:spcAft>
            </a:pPr>
            <a:r>
              <a:rPr sz="1100" b="1">
                <a:solidFill>
                  <a:srgbClr val="2C7DA0"/>
                </a:solidFill>
                <a:latin typeface="Segoe UI"/>
              </a:rPr>
              <a:t>•  </a:t>
            </a:r>
            <a:r>
              <a:rPr sz="1100" b="0" i="0">
                <a:solidFill>
                  <a:srgbClr val="1F2A37"/>
                </a:solidFill>
                <a:latin typeface="Segoe UI"/>
              </a:rPr>
              <a:t>Services depend on </a:t>
            </a:r>
            <a:r>
              <a:rPr sz="1100" b="1" i="0">
                <a:solidFill>
                  <a:srgbClr val="1F2A37"/>
                </a:solidFill>
                <a:latin typeface="Segoe UI"/>
              </a:rPr>
              <a:t>interfaces</a:t>
            </a:r>
            <a:r>
              <a:rPr sz="1100" b="0" i="0">
                <a:solidFill>
                  <a:srgbClr val="1F2A37"/>
                </a:solidFill>
                <a:latin typeface="Segoe UI"/>
              </a:rPr>
              <a:t>, not on JdbcXxxDAO.</a:t>
            </a:r>
          </a:p>
          <a:p>
            <a:pPr>
              <a:lnSpc>
                <a:spcPct val="105000"/>
              </a:lnSpc>
              <a:spcAft>
                <a:spcPts val="1200"/>
              </a:spcAft>
            </a:pPr>
            <a:r>
              <a:rPr sz="1100" b="1">
                <a:solidFill>
                  <a:srgbClr val="2C7DA0"/>
                </a:solidFill>
                <a:latin typeface="Segoe UI"/>
              </a:rPr>
              <a:t>•  </a:t>
            </a:r>
            <a:r>
              <a:rPr sz="1100" b="0" i="0">
                <a:solidFill>
                  <a:srgbClr val="1F2A37"/>
                </a:solidFill>
                <a:latin typeface="Segoe UI"/>
              </a:rPr>
              <a:t>One transaction boundary: ClaimService.</a:t>
            </a:r>
          </a:p>
        </p:txBody>
      </p:sp>
      <p:sp>
        <p:nvSpPr>
          <p:cNvPr id="30" name="TextBox 29"/>
          <p:cNvSpPr txBox="1"/>
          <p:nvPr/>
        </p:nvSpPr>
        <p:spPr>
          <a:xfrm>
            <a:off x="6858000" y="4809744"/>
            <a:ext cx="4434840" cy="685800"/>
          </a:xfrm>
          <a:prstGeom prst="rect">
            <a:avLst/>
          </a:prstGeom>
          <a:noFill/>
        </p:spPr>
        <p:txBody>
          <a:bodyPr wrap="square" lIns="0" rIns="0" tIns="0" bIns="0" anchor="t">
            <a:spAutoFit/>
          </a:bodyPr>
          <a:lstStyle/>
          <a:p>
            <a:pPr algn="l">
              <a:lnSpc>
                <a:spcPct val="130000"/>
              </a:lnSpc>
            </a:pPr>
            <a:r>
              <a:rPr sz="1050" b="0" i="1">
                <a:solidFill>
                  <a:srgbClr val="6B7A8C"/>
                </a:solidFill>
                <a:latin typeface="Segoe UI"/>
              </a:rPr>
              <a:t>Swap MySQL for another database by writing new DAO classes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OOPS at a glance</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Four pillars, one hierarchy — seen from four angles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10</a:t>
            </a:r>
          </a:p>
        </p:txBody>
      </p:sp>
      <p:sp>
        <p:nvSpPr>
          <p:cNvPr id="8" name="Rounded Rectangle 7"/>
          <p:cNvSpPr/>
          <p:nvPr/>
        </p:nvSpPr>
        <p:spPr>
          <a:xfrm>
            <a:off x="658368" y="1645920"/>
            <a:ext cx="5330952" cy="1856231"/>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14400" y="1920240"/>
            <a:ext cx="54864" cy="38404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865376"/>
            <a:ext cx="4480560" cy="320040"/>
          </a:xfrm>
          <a:prstGeom prst="rect">
            <a:avLst/>
          </a:prstGeom>
          <a:noFill/>
        </p:spPr>
        <p:txBody>
          <a:bodyPr wrap="square" lIns="0" rIns="0" tIns="0" bIns="0" anchor="t">
            <a:spAutoFit/>
          </a:bodyPr>
          <a:lstStyle/>
          <a:p>
            <a:pPr algn="l">
              <a:lnSpc>
                <a:spcPct val="105000"/>
              </a:lnSpc>
            </a:pPr>
            <a:r>
              <a:rPr sz="1500" b="1" i="0">
                <a:solidFill>
                  <a:srgbClr val="132A3E"/>
                </a:solidFill>
                <a:latin typeface="Segoe UI"/>
              </a:rPr>
              <a:t>Encapsulation</a:t>
            </a:r>
          </a:p>
        </p:txBody>
      </p:sp>
      <p:sp>
        <p:nvSpPr>
          <p:cNvPr id="11" name="TextBox 10"/>
          <p:cNvSpPr txBox="1"/>
          <p:nvPr/>
        </p:nvSpPr>
        <p:spPr>
          <a:xfrm>
            <a:off x="1097280" y="2267712"/>
            <a:ext cx="4617720" cy="274320"/>
          </a:xfrm>
          <a:prstGeom prst="rect">
            <a:avLst/>
          </a:prstGeom>
          <a:noFill/>
        </p:spPr>
        <p:txBody>
          <a:bodyPr wrap="square" lIns="0" rIns="0" tIns="0" bIns="0" anchor="t">
            <a:spAutoFit/>
          </a:bodyPr>
          <a:lstStyle/>
          <a:p>
            <a:pPr algn="l">
              <a:lnSpc>
                <a:spcPct val="105000"/>
              </a:lnSpc>
            </a:pPr>
            <a:r>
              <a:rPr sz="1150" b="0" i="0">
                <a:solidFill>
                  <a:srgbClr val="1F2A37"/>
                </a:solidFill>
                <a:latin typeface="Segoe UI"/>
              </a:rPr>
              <a:t>Data is private; behaviour is public.</a:t>
            </a:r>
          </a:p>
        </p:txBody>
      </p:sp>
      <p:sp>
        <p:nvSpPr>
          <p:cNvPr id="12" name="TextBox 11"/>
          <p:cNvSpPr txBox="1"/>
          <p:nvPr/>
        </p:nvSpPr>
        <p:spPr>
          <a:xfrm>
            <a:off x="1097280" y="2606040"/>
            <a:ext cx="4617720" cy="274320"/>
          </a:xfrm>
          <a:prstGeom prst="rect">
            <a:avLst/>
          </a:prstGeom>
          <a:noFill/>
        </p:spPr>
        <p:txBody>
          <a:bodyPr wrap="square" lIns="0" rIns="0" tIns="0" bIns="0" anchor="t">
            <a:spAutoFit/>
          </a:bodyPr>
          <a:lstStyle/>
          <a:p>
            <a:pPr algn="l">
              <a:lnSpc>
                <a:spcPct val="105000"/>
              </a:lnSpc>
            </a:pPr>
            <a:r>
              <a:rPr sz="1000" b="1" i="0">
                <a:solidFill>
                  <a:srgbClr val="2C7DA0"/>
                </a:solidFill>
                <a:latin typeface="Consolas"/>
              </a:rPr>
              <a:t>Item · User · DBConnection</a:t>
            </a:r>
          </a:p>
        </p:txBody>
      </p:sp>
      <p:sp>
        <p:nvSpPr>
          <p:cNvPr id="13" name="TextBox 12"/>
          <p:cNvSpPr txBox="1"/>
          <p:nvPr/>
        </p:nvSpPr>
        <p:spPr>
          <a:xfrm>
            <a:off x="1097280" y="2944368"/>
            <a:ext cx="4617720" cy="32004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setStatus never allows null</a:t>
            </a:r>
          </a:p>
        </p:txBody>
      </p:sp>
      <p:sp>
        <p:nvSpPr>
          <p:cNvPr id="14" name="Rounded Rectangle 13"/>
          <p:cNvSpPr/>
          <p:nvPr/>
        </p:nvSpPr>
        <p:spPr>
          <a:xfrm>
            <a:off x="6199631" y="1645920"/>
            <a:ext cx="5330952" cy="1856231"/>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55664" y="1920240"/>
            <a:ext cx="54864" cy="384048"/>
          </a:xfrm>
          <a:prstGeom prst="rect">
            <a:avLst/>
          </a:prstGeom>
          <a:solidFill>
            <a:srgbClr val="1F5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1865376"/>
            <a:ext cx="4480560" cy="320040"/>
          </a:xfrm>
          <a:prstGeom prst="rect">
            <a:avLst/>
          </a:prstGeom>
          <a:noFill/>
        </p:spPr>
        <p:txBody>
          <a:bodyPr wrap="square" lIns="0" rIns="0" tIns="0" bIns="0" anchor="t">
            <a:spAutoFit/>
          </a:bodyPr>
          <a:lstStyle/>
          <a:p>
            <a:pPr algn="l">
              <a:lnSpc>
                <a:spcPct val="105000"/>
              </a:lnSpc>
            </a:pPr>
            <a:r>
              <a:rPr sz="1500" b="1" i="0">
                <a:solidFill>
                  <a:srgbClr val="132A3E"/>
                </a:solidFill>
                <a:latin typeface="Segoe UI"/>
              </a:rPr>
              <a:t>Abstraction</a:t>
            </a:r>
          </a:p>
        </p:txBody>
      </p:sp>
      <p:sp>
        <p:nvSpPr>
          <p:cNvPr id="17" name="TextBox 16"/>
          <p:cNvSpPr txBox="1"/>
          <p:nvPr/>
        </p:nvSpPr>
        <p:spPr>
          <a:xfrm>
            <a:off x="6638544" y="2267712"/>
            <a:ext cx="4617720" cy="274320"/>
          </a:xfrm>
          <a:prstGeom prst="rect">
            <a:avLst/>
          </a:prstGeom>
          <a:noFill/>
        </p:spPr>
        <p:txBody>
          <a:bodyPr wrap="square" lIns="0" rIns="0" tIns="0" bIns="0" anchor="t">
            <a:spAutoFit/>
          </a:bodyPr>
          <a:lstStyle/>
          <a:p>
            <a:pPr algn="l">
              <a:lnSpc>
                <a:spcPct val="105000"/>
              </a:lnSpc>
            </a:pPr>
            <a:r>
              <a:rPr sz="1150" b="0" i="0">
                <a:solidFill>
                  <a:srgbClr val="1F2A37"/>
                </a:solidFill>
                <a:latin typeface="Segoe UI"/>
              </a:rPr>
              <a:t>Expose what, hide how.</a:t>
            </a:r>
          </a:p>
        </p:txBody>
      </p:sp>
      <p:sp>
        <p:nvSpPr>
          <p:cNvPr id="18" name="TextBox 17"/>
          <p:cNvSpPr txBox="1"/>
          <p:nvPr/>
        </p:nvSpPr>
        <p:spPr>
          <a:xfrm>
            <a:off x="6638544" y="2606040"/>
            <a:ext cx="4617720" cy="274320"/>
          </a:xfrm>
          <a:prstGeom prst="rect">
            <a:avLst/>
          </a:prstGeom>
          <a:noFill/>
        </p:spPr>
        <p:txBody>
          <a:bodyPr wrap="square" lIns="0" rIns="0" tIns="0" bIns="0" anchor="t">
            <a:spAutoFit/>
          </a:bodyPr>
          <a:lstStyle/>
          <a:p>
            <a:pPr algn="l">
              <a:lnSpc>
                <a:spcPct val="105000"/>
              </a:lnSpc>
            </a:pPr>
            <a:r>
              <a:rPr sz="1000" b="1" i="0">
                <a:solidFill>
                  <a:srgbClr val="1F5C78"/>
                </a:solidFill>
                <a:latin typeface="Consolas"/>
              </a:rPr>
              <a:t>abstract Item · GenericDAO&lt;T&gt;</a:t>
            </a:r>
          </a:p>
        </p:txBody>
      </p:sp>
      <p:sp>
        <p:nvSpPr>
          <p:cNvPr id="19" name="TextBox 18"/>
          <p:cNvSpPr txBox="1"/>
          <p:nvPr/>
        </p:nvSpPr>
        <p:spPr>
          <a:xfrm>
            <a:off x="6638544" y="2944368"/>
            <a:ext cx="4617720" cy="32004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UI asks for an item type, not a class</a:t>
            </a:r>
          </a:p>
        </p:txBody>
      </p:sp>
      <p:sp>
        <p:nvSpPr>
          <p:cNvPr id="20" name="Rounded Rectangle 19"/>
          <p:cNvSpPr/>
          <p:nvPr/>
        </p:nvSpPr>
        <p:spPr>
          <a:xfrm>
            <a:off x="658368" y="3703320"/>
            <a:ext cx="5330952" cy="1856231"/>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4400" y="3977639"/>
            <a:ext cx="54864" cy="384048"/>
          </a:xfrm>
          <a:prstGeom prst="rect">
            <a:avLst/>
          </a:prstGeom>
          <a:solidFill>
            <a:srgbClr val="C7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922776"/>
            <a:ext cx="4480560" cy="320040"/>
          </a:xfrm>
          <a:prstGeom prst="rect">
            <a:avLst/>
          </a:prstGeom>
          <a:noFill/>
        </p:spPr>
        <p:txBody>
          <a:bodyPr wrap="square" lIns="0" rIns="0" tIns="0" bIns="0" anchor="t">
            <a:spAutoFit/>
          </a:bodyPr>
          <a:lstStyle/>
          <a:p>
            <a:pPr algn="l">
              <a:lnSpc>
                <a:spcPct val="105000"/>
              </a:lnSpc>
            </a:pPr>
            <a:r>
              <a:rPr sz="1500" b="1" i="0">
                <a:solidFill>
                  <a:srgbClr val="132A3E"/>
                </a:solidFill>
                <a:latin typeface="Segoe UI"/>
              </a:rPr>
              <a:t>Inheritance</a:t>
            </a:r>
          </a:p>
        </p:txBody>
      </p:sp>
      <p:sp>
        <p:nvSpPr>
          <p:cNvPr id="23" name="TextBox 22"/>
          <p:cNvSpPr txBox="1"/>
          <p:nvPr/>
        </p:nvSpPr>
        <p:spPr>
          <a:xfrm>
            <a:off x="1097280" y="4325112"/>
            <a:ext cx="4617720" cy="274320"/>
          </a:xfrm>
          <a:prstGeom prst="rect">
            <a:avLst/>
          </a:prstGeom>
          <a:noFill/>
        </p:spPr>
        <p:txBody>
          <a:bodyPr wrap="square" lIns="0" rIns="0" tIns="0" bIns="0" anchor="t">
            <a:spAutoFit/>
          </a:bodyPr>
          <a:lstStyle/>
          <a:p>
            <a:pPr algn="l">
              <a:lnSpc>
                <a:spcPct val="105000"/>
              </a:lnSpc>
            </a:pPr>
            <a:r>
              <a:rPr sz="1150" b="0" i="0">
                <a:solidFill>
                  <a:srgbClr val="1F2A37"/>
                </a:solidFill>
                <a:latin typeface="Segoe UI"/>
              </a:rPr>
              <a:t>Reuse common state and behaviour.</a:t>
            </a:r>
          </a:p>
        </p:txBody>
      </p:sp>
      <p:sp>
        <p:nvSpPr>
          <p:cNvPr id="24" name="TextBox 23"/>
          <p:cNvSpPr txBox="1"/>
          <p:nvPr/>
        </p:nvSpPr>
        <p:spPr>
          <a:xfrm>
            <a:off x="1097280" y="4663440"/>
            <a:ext cx="4617720" cy="274320"/>
          </a:xfrm>
          <a:prstGeom prst="rect">
            <a:avLst/>
          </a:prstGeom>
          <a:noFill/>
        </p:spPr>
        <p:txBody>
          <a:bodyPr wrap="square" lIns="0" rIns="0" tIns="0" bIns="0" anchor="t">
            <a:spAutoFit/>
          </a:bodyPr>
          <a:lstStyle/>
          <a:p>
            <a:pPr algn="l">
              <a:lnSpc>
                <a:spcPct val="105000"/>
              </a:lnSpc>
            </a:pPr>
            <a:r>
              <a:rPr sz="1000" b="1" i="0">
                <a:solidFill>
                  <a:srgbClr val="C77D00"/>
                </a:solidFill>
                <a:latin typeface="Consolas"/>
              </a:rPr>
              <a:t>LostItem / FoundItem extend Item</a:t>
            </a:r>
          </a:p>
        </p:txBody>
      </p:sp>
      <p:sp>
        <p:nvSpPr>
          <p:cNvPr id="25" name="TextBox 24"/>
          <p:cNvSpPr txBox="1"/>
          <p:nvPr/>
        </p:nvSpPr>
        <p:spPr>
          <a:xfrm>
            <a:off x="1097280" y="5001768"/>
            <a:ext cx="4617720" cy="32004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Common fields declared once</a:t>
            </a:r>
          </a:p>
        </p:txBody>
      </p:sp>
      <p:sp>
        <p:nvSpPr>
          <p:cNvPr id="26" name="Rounded Rectangle 25"/>
          <p:cNvSpPr/>
          <p:nvPr/>
        </p:nvSpPr>
        <p:spPr>
          <a:xfrm>
            <a:off x="6199631" y="3703320"/>
            <a:ext cx="5330952" cy="1856231"/>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455664" y="3977639"/>
            <a:ext cx="54864" cy="384048"/>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8544" y="3922776"/>
            <a:ext cx="4480560" cy="320040"/>
          </a:xfrm>
          <a:prstGeom prst="rect">
            <a:avLst/>
          </a:prstGeom>
          <a:noFill/>
        </p:spPr>
        <p:txBody>
          <a:bodyPr wrap="square" lIns="0" rIns="0" tIns="0" bIns="0" anchor="t">
            <a:spAutoFit/>
          </a:bodyPr>
          <a:lstStyle/>
          <a:p>
            <a:pPr algn="l">
              <a:lnSpc>
                <a:spcPct val="105000"/>
              </a:lnSpc>
            </a:pPr>
            <a:r>
              <a:rPr sz="1500" b="1" i="0">
                <a:solidFill>
                  <a:srgbClr val="132A3E"/>
                </a:solidFill>
                <a:latin typeface="Segoe UI"/>
              </a:rPr>
              <a:t>Polymorphism</a:t>
            </a:r>
          </a:p>
        </p:txBody>
      </p:sp>
      <p:sp>
        <p:nvSpPr>
          <p:cNvPr id="29" name="TextBox 28"/>
          <p:cNvSpPr txBox="1"/>
          <p:nvPr/>
        </p:nvSpPr>
        <p:spPr>
          <a:xfrm>
            <a:off x="6638544" y="4325112"/>
            <a:ext cx="4617720" cy="274320"/>
          </a:xfrm>
          <a:prstGeom prst="rect">
            <a:avLst/>
          </a:prstGeom>
          <a:noFill/>
        </p:spPr>
        <p:txBody>
          <a:bodyPr wrap="square" lIns="0" rIns="0" tIns="0" bIns="0" anchor="t">
            <a:spAutoFit/>
          </a:bodyPr>
          <a:lstStyle/>
          <a:p>
            <a:pPr algn="l">
              <a:lnSpc>
                <a:spcPct val="105000"/>
              </a:lnSpc>
            </a:pPr>
            <a:r>
              <a:rPr sz="1150" b="0" i="0">
                <a:solidFill>
                  <a:srgbClr val="1F2A37"/>
                </a:solidFill>
                <a:latin typeface="Segoe UI"/>
              </a:rPr>
              <a:t>One reference, many runtime forms.</a:t>
            </a:r>
          </a:p>
        </p:txBody>
      </p:sp>
      <p:sp>
        <p:nvSpPr>
          <p:cNvPr id="30" name="TextBox 29"/>
          <p:cNvSpPr txBox="1"/>
          <p:nvPr/>
        </p:nvSpPr>
        <p:spPr>
          <a:xfrm>
            <a:off x="6638544" y="4663440"/>
            <a:ext cx="4617720" cy="274320"/>
          </a:xfrm>
          <a:prstGeom prst="rect">
            <a:avLst/>
          </a:prstGeom>
          <a:noFill/>
        </p:spPr>
        <p:txBody>
          <a:bodyPr wrap="square" lIns="0" rIns="0" tIns="0" bIns="0" anchor="t">
            <a:spAutoFit/>
          </a:bodyPr>
          <a:lstStyle/>
          <a:p>
            <a:pPr algn="l">
              <a:lnSpc>
                <a:spcPct val="105000"/>
              </a:lnSpc>
            </a:pPr>
            <a:r>
              <a:rPr sz="1000" b="1" i="0">
                <a:solidFill>
                  <a:srgbClr val="2E7D4F"/>
                </a:solidFill>
                <a:latin typeface="Consolas"/>
              </a:rPr>
              <a:t>List&lt;Item&gt; · overridden methods</a:t>
            </a:r>
          </a:p>
        </p:txBody>
      </p:sp>
      <p:sp>
        <p:nvSpPr>
          <p:cNvPr id="31" name="TextBox 30"/>
          <p:cNvSpPr txBox="1"/>
          <p:nvPr/>
        </p:nvSpPr>
        <p:spPr>
          <a:xfrm>
            <a:off x="6638544" y="5001768"/>
            <a:ext cx="4617720" cy="32004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No instanceof in the 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Class design: the Item hierarchy</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The single best example of inheritance, abstraction and polymorphism</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11</a:t>
            </a:r>
          </a:p>
        </p:txBody>
      </p:sp>
      <p:sp>
        <p:nvSpPr>
          <p:cNvPr id="8" name="Rounded Rectangle 7"/>
          <p:cNvSpPr/>
          <p:nvPr/>
        </p:nvSpPr>
        <p:spPr>
          <a:xfrm>
            <a:off x="3566160" y="1627632"/>
            <a:ext cx="5029200" cy="1600200"/>
          </a:xfrm>
          <a:prstGeom prst="roundRect">
            <a:avLst>
              <a:gd name="adj" fmla="val 3000"/>
            </a:avLst>
          </a:prstGeom>
          <a:solidFill>
            <a:srgbClr val="FFFFFF"/>
          </a:solidFill>
          <a:ln w="12700">
            <a:solidFill>
              <a:srgbClr val="132A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1719072"/>
            <a:ext cx="4754880" cy="228600"/>
          </a:xfrm>
          <a:prstGeom prst="rect">
            <a:avLst/>
          </a:prstGeom>
          <a:noFill/>
        </p:spPr>
        <p:txBody>
          <a:bodyPr wrap="square" lIns="0" rIns="0" tIns="0" bIns="0" anchor="t">
            <a:spAutoFit/>
          </a:bodyPr>
          <a:lstStyle/>
          <a:p>
            <a:pPr algn="l">
              <a:lnSpc>
                <a:spcPct val="105000"/>
              </a:lnSpc>
            </a:pPr>
            <a:r>
              <a:rPr sz="1000" b="1" i="0">
                <a:solidFill>
                  <a:srgbClr val="1F5C78"/>
                </a:solidFill>
                <a:latin typeface="Consolas"/>
              </a:rPr>
              <a:t>«abstract»  Item</a:t>
            </a:r>
          </a:p>
        </p:txBody>
      </p:sp>
      <p:sp>
        <p:nvSpPr>
          <p:cNvPr id="10" name="TextBox 9"/>
          <p:cNvSpPr txBox="1"/>
          <p:nvPr/>
        </p:nvSpPr>
        <p:spPr>
          <a:xfrm>
            <a:off x="3749039" y="1956816"/>
            <a:ext cx="4754880" cy="228600"/>
          </a:xfrm>
          <a:prstGeom prst="rect">
            <a:avLst/>
          </a:prstGeom>
          <a:noFill/>
        </p:spPr>
        <p:txBody>
          <a:bodyPr wrap="square" lIns="0" rIns="0" tIns="0" bIns="0" anchor="t">
            <a:spAutoFit/>
          </a:bodyPr>
          <a:lstStyle/>
          <a:p>
            <a:pPr algn="l">
              <a:lnSpc>
                <a:spcPct val="105000"/>
              </a:lnSpc>
            </a:pPr>
            <a:r>
              <a:rPr sz="1500" b="1" i="0">
                <a:solidFill>
                  <a:srgbClr val="132A3E"/>
                </a:solidFill>
                <a:latin typeface="Segoe UI"/>
              </a:rPr>
              <a:t>Item</a:t>
            </a:r>
          </a:p>
        </p:txBody>
      </p:sp>
      <p:sp>
        <p:nvSpPr>
          <p:cNvPr id="11" name="TextBox 10"/>
          <p:cNvSpPr txBox="1"/>
          <p:nvPr/>
        </p:nvSpPr>
        <p:spPr>
          <a:xfrm>
            <a:off x="3749039" y="2240280"/>
            <a:ext cx="4663440" cy="365760"/>
          </a:xfrm>
          <a:prstGeom prst="rect">
            <a:avLst/>
          </a:prstGeom>
          <a:noFill/>
        </p:spPr>
        <p:txBody>
          <a:bodyPr wrap="square" lIns="0" rIns="0" tIns="0" bIns="0" anchor="t">
            <a:spAutoFit/>
          </a:bodyPr>
          <a:lstStyle/>
          <a:p>
            <a:pPr algn="l">
              <a:lnSpc>
                <a:spcPct val="110000"/>
              </a:lnSpc>
            </a:pPr>
            <a:r>
              <a:rPr sz="880" b="0" i="0">
                <a:solidFill>
                  <a:srgbClr val="6B7A8C"/>
                </a:solidFill>
                <a:latin typeface="Consolas"/>
              </a:rPr>
              <a:t>- itemId · title · description · category · location</a:t>
            </a:r>
          </a:p>
          <a:p>
            <a:pPr algn="l">
              <a:lnSpc>
                <a:spcPct val="110000"/>
              </a:lnSpc>
            </a:pPr>
            <a:r>
              <a:rPr sz="880" b="0" i="0">
                <a:solidFill>
                  <a:srgbClr val="6B7A8C"/>
                </a:solidFill>
                <a:latin typeface="Consolas"/>
              </a:rPr>
              <a:t>- eventDate · reportedBy · status</a:t>
            </a:r>
          </a:p>
        </p:txBody>
      </p:sp>
      <p:sp>
        <p:nvSpPr>
          <p:cNvPr id="12" name="TextBox 11"/>
          <p:cNvSpPr txBox="1"/>
          <p:nvPr/>
        </p:nvSpPr>
        <p:spPr>
          <a:xfrm>
            <a:off x="3749039" y="2761488"/>
            <a:ext cx="4663440" cy="365760"/>
          </a:xfrm>
          <a:prstGeom prst="rect">
            <a:avLst/>
          </a:prstGeom>
          <a:noFill/>
        </p:spPr>
        <p:txBody>
          <a:bodyPr wrap="square" lIns="0" rIns="0" tIns="0" bIns="0" anchor="t">
            <a:spAutoFit/>
          </a:bodyPr>
          <a:lstStyle/>
          <a:p>
            <a:pPr algn="l">
              <a:lnSpc>
                <a:spcPct val="110000"/>
              </a:lnSpc>
            </a:pPr>
            <a:r>
              <a:rPr sz="880" b="0" i="0">
                <a:solidFill>
                  <a:srgbClr val="1F2A37"/>
                </a:solidFill>
                <a:latin typeface="Consolas"/>
              </a:rPr>
              <a:t>+ getItemType()        «abstract»</a:t>
            </a:r>
          </a:p>
          <a:p>
            <a:pPr algn="l">
              <a:lnSpc>
                <a:spcPct val="110000"/>
              </a:lnSpc>
            </a:pPr>
            <a:r>
              <a:rPr sz="880" b="0" i="0">
                <a:solidFill>
                  <a:srgbClr val="1F2A37"/>
                </a:solidFill>
                <a:latin typeface="Consolas"/>
              </a:rPr>
              <a:t>+ getSpecificDetails()  «abstract»</a:t>
            </a:r>
          </a:p>
        </p:txBody>
      </p:sp>
      <p:sp>
        <p:nvSpPr>
          <p:cNvPr id="13" name="Rounded Rectangle 12"/>
          <p:cNvSpPr/>
          <p:nvPr/>
        </p:nvSpPr>
        <p:spPr>
          <a:xfrm>
            <a:off x="1234440" y="3931920"/>
            <a:ext cx="3977639" cy="1691640"/>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20" y="4041648"/>
            <a:ext cx="3566160" cy="256032"/>
          </a:xfrm>
          <a:prstGeom prst="rect">
            <a:avLst/>
          </a:prstGeom>
          <a:noFill/>
        </p:spPr>
        <p:txBody>
          <a:bodyPr wrap="square" lIns="0" rIns="0" tIns="0" bIns="0" anchor="t">
            <a:spAutoFit/>
          </a:bodyPr>
          <a:lstStyle/>
          <a:p>
            <a:pPr algn="l">
              <a:lnSpc>
                <a:spcPct val="105000"/>
              </a:lnSpc>
            </a:pPr>
            <a:r>
              <a:rPr sz="1400" b="1" i="0">
                <a:solidFill>
                  <a:srgbClr val="C77D00"/>
                </a:solidFill>
                <a:latin typeface="Segoe UI"/>
              </a:rPr>
              <a:t>LostItem</a:t>
            </a:r>
          </a:p>
        </p:txBody>
      </p:sp>
      <p:sp>
        <p:nvSpPr>
          <p:cNvPr id="15" name="TextBox 14"/>
          <p:cNvSpPr txBox="1"/>
          <p:nvPr/>
        </p:nvSpPr>
        <p:spPr>
          <a:xfrm>
            <a:off x="1417320" y="4315968"/>
            <a:ext cx="3566160" cy="822960"/>
          </a:xfrm>
          <a:prstGeom prst="rect">
            <a:avLst/>
          </a:prstGeom>
          <a:noFill/>
        </p:spPr>
        <p:txBody>
          <a:bodyPr wrap="square" lIns="0" rIns="0" tIns="0" bIns="0" anchor="t">
            <a:spAutoFit/>
          </a:bodyPr>
          <a:lstStyle/>
          <a:p>
            <a:pPr algn="l">
              <a:lnSpc>
                <a:spcPct val="115000"/>
              </a:lnSpc>
            </a:pPr>
            <a:r>
              <a:rPr sz="900" b="0" i="0">
                <a:solidFill>
                  <a:srgbClr val="6B7A8C"/>
                </a:solidFill>
                <a:latin typeface="Consolas"/>
              </a:rPr>
              <a:t>- contact : String</a:t>
            </a:r>
          </a:p>
          <a:p>
            <a:pPr algn="l">
              <a:lnSpc>
                <a:spcPct val="115000"/>
              </a:lnSpc>
            </a:pPr>
            <a:r>
              <a:rPr sz="900" b="0" i="0">
                <a:solidFill>
                  <a:srgbClr val="6B7A8C"/>
                </a:solidFill>
                <a:latin typeface="Consolas"/>
              </a:rPr>
              <a:t>- rewardOffered : BigDecimal</a:t>
            </a:r>
          </a:p>
          <a:p>
            <a:pPr algn="l">
              <a:lnSpc>
                <a:spcPct val="115000"/>
              </a:lnSpc>
            </a:pPr>
            <a:r>
              <a:rPr sz="900" b="0" i="0">
                <a:solidFill>
                  <a:srgbClr val="6B7A8C"/>
                </a:solidFill>
                <a:latin typeface="Consolas"/>
              </a:rPr>
              <a:t>- urgency : Urgency</a:t>
            </a:r>
          </a:p>
        </p:txBody>
      </p:sp>
      <p:sp>
        <p:nvSpPr>
          <p:cNvPr id="16" name="TextBox 15"/>
          <p:cNvSpPr txBox="1"/>
          <p:nvPr/>
        </p:nvSpPr>
        <p:spPr>
          <a:xfrm>
            <a:off x="1417320" y="5029200"/>
            <a:ext cx="3566160" cy="502920"/>
          </a:xfrm>
          <a:prstGeom prst="rect">
            <a:avLst/>
          </a:prstGeom>
          <a:noFill/>
        </p:spPr>
        <p:txBody>
          <a:bodyPr wrap="square" lIns="0" rIns="0" tIns="0" bIns="0" anchor="t">
            <a:spAutoFit/>
          </a:bodyPr>
          <a:lstStyle/>
          <a:p>
            <a:pPr algn="l">
              <a:lnSpc>
                <a:spcPct val="115000"/>
              </a:lnSpc>
            </a:pPr>
            <a:r>
              <a:rPr sz="900" b="0" i="0">
                <a:solidFill>
                  <a:srgbClr val="1F2A37"/>
                </a:solidFill>
                <a:latin typeface="Consolas"/>
              </a:rPr>
              <a:t>+ getItemType() → LOST</a:t>
            </a:r>
          </a:p>
          <a:p>
            <a:pPr algn="l">
              <a:lnSpc>
                <a:spcPct val="115000"/>
              </a:lnSpc>
            </a:pPr>
            <a:r>
              <a:rPr sz="900" b="0" i="0">
                <a:solidFill>
                  <a:srgbClr val="1F2A37"/>
                </a:solidFill>
                <a:latin typeface="Consolas"/>
              </a:rPr>
              <a:t>+ getSpecificDetails()</a:t>
            </a:r>
          </a:p>
        </p:txBody>
      </p:sp>
      <p:sp>
        <p:nvSpPr>
          <p:cNvPr id="17" name="Rounded Rectangle 16"/>
          <p:cNvSpPr/>
          <p:nvPr/>
        </p:nvSpPr>
        <p:spPr>
          <a:xfrm>
            <a:off x="6995160" y="3931920"/>
            <a:ext cx="3977639" cy="1691640"/>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78040" y="4041648"/>
            <a:ext cx="3566160" cy="256032"/>
          </a:xfrm>
          <a:prstGeom prst="rect">
            <a:avLst/>
          </a:prstGeom>
          <a:noFill/>
        </p:spPr>
        <p:txBody>
          <a:bodyPr wrap="square" lIns="0" rIns="0" tIns="0" bIns="0" anchor="t">
            <a:spAutoFit/>
          </a:bodyPr>
          <a:lstStyle/>
          <a:p>
            <a:pPr algn="l">
              <a:lnSpc>
                <a:spcPct val="105000"/>
              </a:lnSpc>
            </a:pPr>
            <a:r>
              <a:rPr sz="1400" b="1" i="0">
                <a:solidFill>
                  <a:srgbClr val="1F5C78"/>
                </a:solidFill>
                <a:latin typeface="Segoe UI"/>
              </a:rPr>
              <a:t>FoundItem</a:t>
            </a:r>
          </a:p>
        </p:txBody>
      </p:sp>
      <p:sp>
        <p:nvSpPr>
          <p:cNvPr id="19" name="TextBox 18"/>
          <p:cNvSpPr txBox="1"/>
          <p:nvPr/>
        </p:nvSpPr>
        <p:spPr>
          <a:xfrm>
            <a:off x="7178040" y="4315968"/>
            <a:ext cx="3566160" cy="822960"/>
          </a:xfrm>
          <a:prstGeom prst="rect">
            <a:avLst/>
          </a:prstGeom>
          <a:noFill/>
        </p:spPr>
        <p:txBody>
          <a:bodyPr wrap="square" lIns="0" rIns="0" tIns="0" bIns="0" anchor="t">
            <a:spAutoFit/>
          </a:bodyPr>
          <a:lstStyle/>
          <a:p>
            <a:pPr algn="l">
              <a:lnSpc>
                <a:spcPct val="115000"/>
              </a:lnSpc>
            </a:pPr>
            <a:r>
              <a:rPr sz="900" b="0" i="0">
                <a:solidFill>
                  <a:srgbClr val="6B7A8C"/>
                </a:solidFill>
                <a:latin typeface="Consolas"/>
              </a:rPr>
              <a:t>- storageLocation : String</a:t>
            </a:r>
          </a:p>
          <a:p>
            <a:pPr algn="l">
              <a:lnSpc>
                <a:spcPct val="115000"/>
              </a:lnSpc>
            </a:pPr>
            <a:r>
              <a:rPr sz="900" b="0" i="0">
                <a:solidFill>
                  <a:srgbClr val="6B7A8C"/>
                </a:solidFill>
                <a:latin typeface="Consolas"/>
              </a:rPr>
              <a:t>- handedToSecurity : boolean</a:t>
            </a:r>
          </a:p>
          <a:p>
            <a:pPr algn="l">
              <a:lnSpc>
                <a:spcPct val="115000"/>
              </a:lnSpc>
            </a:pPr>
            <a:r>
              <a:rPr sz="900" b="0" i="0">
                <a:solidFill>
                  <a:srgbClr val="6B7A8C"/>
                </a:solidFill>
                <a:latin typeface="Consolas"/>
              </a:rPr>
              <a:t>- finderNotes : String</a:t>
            </a:r>
          </a:p>
        </p:txBody>
      </p:sp>
      <p:sp>
        <p:nvSpPr>
          <p:cNvPr id="20" name="TextBox 19"/>
          <p:cNvSpPr txBox="1"/>
          <p:nvPr/>
        </p:nvSpPr>
        <p:spPr>
          <a:xfrm>
            <a:off x="7178040" y="5029200"/>
            <a:ext cx="3566160" cy="502920"/>
          </a:xfrm>
          <a:prstGeom prst="rect">
            <a:avLst/>
          </a:prstGeom>
          <a:noFill/>
        </p:spPr>
        <p:txBody>
          <a:bodyPr wrap="square" lIns="0" rIns="0" tIns="0" bIns="0" anchor="t">
            <a:spAutoFit/>
          </a:bodyPr>
          <a:lstStyle/>
          <a:p>
            <a:pPr algn="l">
              <a:lnSpc>
                <a:spcPct val="115000"/>
              </a:lnSpc>
            </a:pPr>
            <a:r>
              <a:rPr sz="900" b="0" i="0">
                <a:solidFill>
                  <a:srgbClr val="1F2A37"/>
                </a:solidFill>
                <a:latin typeface="Consolas"/>
              </a:rPr>
              <a:t>+ getItemType() → FOUND</a:t>
            </a:r>
          </a:p>
          <a:p>
            <a:pPr algn="l">
              <a:lnSpc>
                <a:spcPct val="115000"/>
              </a:lnSpc>
            </a:pPr>
            <a:r>
              <a:rPr sz="900" b="0" i="0">
                <a:solidFill>
                  <a:srgbClr val="1F2A37"/>
                </a:solidFill>
                <a:latin typeface="Consolas"/>
              </a:rPr>
              <a:t>+ getSpecificDetails()</a:t>
            </a:r>
          </a:p>
        </p:txBody>
      </p:sp>
      <p:cxnSp>
        <p:nvCxnSpPr>
          <p:cNvPr id="21" name="Connector 20"/>
          <p:cNvCxnSpPr/>
          <p:nvPr/>
        </p:nvCxnSpPr>
        <p:spPr>
          <a:xfrm flipH="1">
            <a:off x="3227832" y="3227832"/>
            <a:ext cx="1847088" cy="704088"/>
          </a:xfrm>
          <a:prstGeom prst="line">
            <a:avLst/>
          </a:prstGeom>
          <a:ln w="17780">
            <a:solidFill>
              <a:srgbClr val="132A3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86600" y="3227832"/>
            <a:ext cx="1901952" cy="704088"/>
          </a:xfrm>
          <a:prstGeom prst="line">
            <a:avLst/>
          </a:prstGeom>
          <a:ln w="17780">
            <a:solidFill>
              <a:srgbClr val="132A3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2376" y="5806440"/>
            <a:ext cx="3246120" cy="347472"/>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2376" y="5806440"/>
            <a:ext cx="3246120" cy="347472"/>
          </a:xfrm>
          <a:prstGeom prst="rect">
            <a:avLst/>
          </a:prstGeom>
          <a:noFill/>
        </p:spPr>
        <p:txBody>
          <a:bodyPr wrap="square" lIns="0" rIns="0" tIns="0" bIns="0" anchor="ctr">
            <a:spAutoFit/>
          </a:bodyPr>
          <a:lstStyle/>
          <a:p>
            <a:pPr algn="ctr">
              <a:lnSpc>
                <a:spcPct val="105000"/>
              </a:lnSpc>
            </a:pPr>
            <a:r>
              <a:rPr sz="950" b="1" i="0">
                <a:solidFill>
                  <a:srgbClr val="1F5C78"/>
                </a:solidFill>
                <a:latin typeface="Segoe UI"/>
              </a:rPr>
              <a:t>Common state lives once</a:t>
            </a:r>
          </a:p>
        </p:txBody>
      </p:sp>
      <p:sp>
        <p:nvSpPr>
          <p:cNvPr id="25" name="Rounded Rectangle 24"/>
          <p:cNvSpPr/>
          <p:nvPr/>
        </p:nvSpPr>
        <p:spPr>
          <a:xfrm>
            <a:off x="4462272" y="5806440"/>
            <a:ext cx="3246120" cy="347472"/>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62272" y="5806440"/>
            <a:ext cx="3246120" cy="347472"/>
          </a:xfrm>
          <a:prstGeom prst="rect">
            <a:avLst/>
          </a:prstGeom>
          <a:noFill/>
        </p:spPr>
        <p:txBody>
          <a:bodyPr wrap="square" lIns="0" rIns="0" tIns="0" bIns="0" anchor="ctr">
            <a:spAutoFit/>
          </a:bodyPr>
          <a:lstStyle/>
          <a:p>
            <a:pPr algn="ctr">
              <a:lnSpc>
                <a:spcPct val="105000"/>
              </a:lnSpc>
            </a:pPr>
            <a:r>
              <a:rPr sz="950" b="1" i="0">
                <a:solidFill>
                  <a:srgbClr val="1F5C78"/>
                </a:solidFill>
                <a:latin typeface="Segoe UI"/>
              </a:rPr>
              <a:t>Sub-classes add only specifics</a:t>
            </a:r>
          </a:p>
        </p:txBody>
      </p:sp>
      <p:sp>
        <p:nvSpPr>
          <p:cNvPr id="27" name="Rounded Rectangle 26"/>
          <p:cNvSpPr/>
          <p:nvPr/>
        </p:nvSpPr>
        <p:spPr>
          <a:xfrm>
            <a:off x="8202168" y="5806440"/>
            <a:ext cx="3246120" cy="347472"/>
          </a:xfrm>
          <a:prstGeom prst="roundRect">
            <a:avLst>
              <a:gd name="adj" fmla="val 50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02168" y="5806440"/>
            <a:ext cx="3246120" cy="347472"/>
          </a:xfrm>
          <a:prstGeom prst="rect">
            <a:avLst/>
          </a:prstGeom>
          <a:noFill/>
        </p:spPr>
        <p:txBody>
          <a:bodyPr wrap="square" lIns="0" rIns="0" tIns="0" bIns="0" anchor="ctr">
            <a:spAutoFit/>
          </a:bodyPr>
          <a:lstStyle/>
          <a:p>
            <a:pPr algn="ctr">
              <a:lnSpc>
                <a:spcPct val="105000"/>
              </a:lnSpc>
            </a:pPr>
            <a:r>
              <a:rPr sz="950" b="1" i="0">
                <a:solidFill>
                  <a:srgbClr val="1F5C78"/>
                </a:solidFill>
                <a:latin typeface="Segoe UI"/>
              </a:rPr>
              <a:t>Mirrored by class-table inheritance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Encapsulation and abstraction</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Not just getters and setters — the object protects its invariants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12</a:t>
            </a:r>
          </a:p>
        </p:txBody>
      </p:sp>
      <p:sp>
        <p:nvSpPr>
          <p:cNvPr id="8" name="TextBox 7"/>
          <p:cNvSpPr txBox="1"/>
          <p:nvPr/>
        </p:nvSpPr>
        <p:spPr>
          <a:xfrm>
            <a:off x="658368" y="1572768"/>
            <a:ext cx="5120640" cy="274320"/>
          </a:xfrm>
          <a:prstGeom prst="rect">
            <a:avLst/>
          </a:prstGeom>
          <a:noFill/>
        </p:spPr>
        <p:txBody>
          <a:bodyPr wrap="square" lIns="0" rIns="0" tIns="0" bIns="0" anchor="t">
            <a:spAutoFit/>
          </a:bodyPr>
          <a:lstStyle/>
          <a:p>
            <a:pPr algn="l">
              <a:lnSpc>
                <a:spcPct val="105000"/>
              </a:lnSpc>
            </a:pPr>
            <a:r>
              <a:rPr sz="950" b="1" i="0">
                <a:solidFill>
                  <a:srgbClr val="2C7DA0"/>
                </a:solidFill>
                <a:latin typeface="Consolas"/>
              </a:rPr>
              <a:t>ENCAPSULATION  ·  Item.java</a:t>
            </a:r>
          </a:p>
        </p:txBody>
      </p:sp>
      <p:sp>
        <p:nvSpPr>
          <p:cNvPr id="9" name="Rounded Rectangle 8"/>
          <p:cNvSpPr/>
          <p:nvPr/>
        </p:nvSpPr>
        <p:spPr>
          <a:xfrm>
            <a:off x="658368" y="1883664"/>
            <a:ext cx="5303520" cy="278892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93392"/>
            <a:ext cx="4974336" cy="2569463"/>
          </a:xfrm>
          <a:prstGeom prst="rect">
            <a:avLst/>
          </a:prstGeom>
          <a:noFill/>
        </p:spPr>
        <p:txBody>
          <a:bodyPr wrap="square" lIns="0" rIns="0" tIns="0" bIns="0" anchor="ctr">
            <a:spAutoFit/>
          </a:bodyPr>
          <a:lstStyle/>
          <a:p>
            <a:pPr algn="l">
              <a:lnSpc>
                <a:spcPct val="98000"/>
              </a:lnSpc>
            </a:pPr>
            <a:r>
              <a:rPr sz="1000" b="0" i="0">
                <a:solidFill>
                  <a:srgbClr val="D6E4EF"/>
                </a:solidFill>
                <a:latin typeface="Consolas"/>
              </a:rPr>
              <a:t>private String title;                // no direct access</a:t>
            </a:r>
          </a:p>
          <a:p>
            <a:pPr algn="l">
              <a:lnSpc>
                <a:spcPct val="98000"/>
              </a:lnSpc>
            </a:pPr>
            <a:r>
              <a:rPr sz="1000" b="0" i="0">
                <a:solidFill>
                  <a:srgbClr val="D6E4EF"/>
                </a:solidFill>
                <a:latin typeface="Consolas"/>
              </a:rPr>
              <a:t>private ItemStatus status = ItemStatus.OPEN;</a:t>
            </a:r>
          </a:p>
          <a:p>
            <a:pPr algn="l">
              <a:lnSpc>
                <a:spcPct val="98000"/>
              </a:lnSpc>
            </a:pPr>
          </a:p>
          <a:p>
            <a:pPr algn="l">
              <a:lnSpc>
                <a:spcPct val="98000"/>
              </a:lnSpc>
            </a:pPr>
            <a:r>
              <a:rPr sz="1000" b="0" i="0">
                <a:solidFill>
                  <a:srgbClr val="D6E4EF"/>
                </a:solidFill>
                <a:latin typeface="Consolas"/>
              </a:rPr>
              <a:t>public void setStatus(ItemStatus status) {</a:t>
            </a:r>
          </a:p>
          <a:p>
            <a:pPr algn="l">
              <a:lnSpc>
                <a:spcPct val="98000"/>
              </a:lnSpc>
            </a:pPr>
            <a:r>
              <a:rPr sz="1000" b="0" i="0">
                <a:solidFill>
                  <a:srgbClr val="D6E4EF"/>
                </a:solidFill>
                <a:latin typeface="Consolas"/>
              </a:rPr>
              <a:t>    // invariant: status is never null</a:t>
            </a:r>
          </a:p>
          <a:p>
            <a:pPr algn="l">
              <a:lnSpc>
                <a:spcPct val="98000"/>
              </a:lnSpc>
            </a:pPr>
            <a:r>
              <a:rPr sz="1000" b="0" i="0">
                <a:solidFill>
                  <a:srgbClr val="D6E4EF"/>
                </a:solidFill>
                <a:latin typeface="Consolas"/>
              </a:rPr>
              <a:t>    this.status = status == null</a:t>
            </a:r>
          </a:p>
          <a:p>
            <a:pPr algn="l">
              <a:lnSpc>
                <a:spcPct val="98000"/>
              </a:lnSpc>
            </a:pPr>
            <a:r>
              <a:rPr sz="1000" b="0" i="0">
                <a:solidFill>
                  <a:srgbClr val="D6E4EF"/>
                </a:solidFill>
                <a:latin typeface="Consolas"/>
              </a:rPr>
              <a:t>            ? ItemStatus.OPEN : status;</a:t>
            </a:r>
          </a:p>
          <a:p>
            <a:pPr algn="l">
              <a:lnSpc>
                <a:spcPct val="98000"/>
              </a:lnSpc>
            </a:pPr>
            <a:r>
              <a:rPr sz="1000" b="0" i="0">
                <a:solidFill>
                  <a:srgbClr val="D6E4EF"/>
                </a:solidFill>
                <a:latin typeface="Consolas"/>
              </a:rPr>
              <a:t>}</a:t>
            </a:r>
          </a:p>
          <a:p>
            <a:pPr algn="l">
              <a:lnSpc>
                <a:spcPct val="98000"/>
              </a:lnSpc>
            </a:pPr>
          </a:p>
          <a:p>
            <a:pPr algn="l">
              <a:lnSpc>
                <a:spcPct val="98000"/>
              </a:lnSpc>
            </a:pPr>
            <a:r>
              <a:rPr sz="1000" b="0" i="0">
                <a:solidFill>
                  <a:srgbClr val="D6E4EF"/>
                </a:solidFill>
                <a:latin typeface="Consolas"/>
              </a:rPr>
              <a:t>public String getTitle() { return title; }</a:t>
            </a:r>
          </a:p>
        </p:txBody>
      </p:sp>
      <p:sp>
        <p:nvSpPr>
          <p:cNvPr id="11" name="TextBox 10"/>
          <p:cNvSpPr txBox="1"/>
          <p:nvPr/>
        </p:nvSpPr>
        <p:spPr>
          <a:xfrm>
            <a:off x="6190488" y="1572768"/>
            <a:ext cx="5120640" cy="274320"/>
          </a:xfrm>
          <a:prstGeom prst="rect">
            <a:avLst/>
          </a:prstGeom>
          <a:noFill/>
        </p:spPr>
        <p:txBody>
          <a:bodyPr wrap="square" lIns="0" rIns="0" tIns="0" bIns="0" anchor="t">
            <a:spAutoFit/>
          </a:bodyPr>
          <a:lstStyle/>
          <a:p>
            <a:pPr algn="l">
              <a:lnSpc>
                <a:spcPct val="105000"/>
              </a:lnSpc>
            </a:pPr>
            <a:r>
              <a:rPr sz="950" b="1" i="0">
                <a:solidFill>
                  <a:srgbClr val="1F5C78"/>
                </a:solidFill>
                <a:latin typeface="Consolas"/>
              </a:rPr>
              <a:t>ABSTRACTION  ·  Item.java + GenericDAO.java</a:t>
            </a:r>
          </a:p>
        </p:txBody>
      </p:sp>
      <p:sp>
        <p:nvSpPr>
          <p:cNvPr id="12" name="Rounded Rectangle 11"/>
          <p:cNvSpPr/>
          <p:nvPr/>
        </p:nvSpPr>
        <p:spPr>
          <a:xfrm>
            <a:off x="6190488" y="1883664"/>
            <a:ext cx="5330952" cy="278892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73368" y="1993392"/>
            <a:ext cx="5001768" cy="2569463"/>
          </a:xfrm>
          <a:prstGeom prst="rect">
            <a:avLst/>
          </a:prstGeom>
          <a:noFill/>
        </p:spPr>
        <p:txBody>
          <a:bodyPr wrap="square" lIns="0" rIns="0" tIns="0" bIns="0" anchor="ctr">
            <a:spAutoFit/>
          </a:bodyPr>
          <a:lstStyle/>
          <a:p>
            <a:pPr algn="l">
              <a:lnSpc>
                <a:spcPct val="98000"/>
              </a:lnSpc>
            </a:pPr>
            <a:r>
              <a:rPr sz="1000" b="0" i="0">
                <a:solidFill>
                  <a:srgbClr val="D6E4EF"/>
                </a:solidFill>
                <a:latin typeface="Consolas"/>
              </a:rPr>
              <a:t>public abstract class Item {</a:t>
            </a:r>
          </a:p>
          <a:p>
            <a:pPr algn="l">
              <a:lnSpc>
                <a:spcPct val="98000"/>
              </a:lnSpc>
            </a:pPr>
            <a:r>
              <a:rPr sz="1000" b="0" i="0">
                <a:solidFill>
                  <a:srgbClr val="D6E4EF"/>
                </a:solidFill>
                <a:latin typeface="Consolas"/>
              </a:rPr>
              <a:t>    public abstract ItemType getItemType();</a:t>
            </a:r>
          </a:p>
          <a:p>
            <a:pPr algn="l">
              <a:lnSpc>
                <a:spcPct val="98000"/>
              </a:lnSpc>
            </a:pPr>
            <a:r>
              <a:rPr sz="1000" b="0" i="0">
                <a:solidFill>
                  <a:srgbClr val="D6E4EF"/>
                </a:solidFill>
                <a:latin typeface="Consolas"/>
              </a:rPr>
              <a:t>    public abstract String getSpecificDetails();</a:t>
            </a:r>
          </a:p>
          <a:p>
            <a:pPr algn="l">
              <a:lnSpc>
                <a:spcPct val="98000"/>
              </a:lnSpc>
            </a:pPr>
            <a:r>
              <a:rPr sz="1000" b="0" i="0">
                <a:solidFill>
                  <a:srgbClr val="D6E4EF"/>
                </a:solidFill>
                <a:latin typeface="Consolas"/>
              </a:rPr>
              <a:t>}</a:t>
            </a:r>
          </a:p>
          <a:p>
            <a:pPr algn="l">
              <a:lnSpc>
                <a:spcPct val="98000"/>
              </a:lnSpc>
            </a:pPr>
          </a:p>
          <a:p>
            <a:pPr algn="l">
              <a:lnSpc>
                <a:spcPct val="98000"/>
              </a:lnSpc>
            </a:pPr>
            <a:r>
              <a:rPr sz="1000" b="0" i="0">
                <a:solidFill>
                  <a:srgbClr val="D6E4EF"/>
                </a:solidFill>
                <a:latin typeface="Consolas"/>
              </a:rPr>
              <a:t>public interface GenericDAO&lt;T&gt; {</a:t>
            </a:r>
          </a:p>
          <a:p>
            <a:pPr algn="l">
              <a:lnSpc>
                <a:spcPct val="98000"/>
              </a:lnSpc>
            </a:pPr>
            <a:r>
              <a:rPr sz="1000" b="0" i="0">
                <a:solidFill>
                  <a:srgbClr val="D6E4EF"/>
                </a:solidFill>
                <a:latin typeface="Consolas"/>
              </a:rPr>
              <a:t>    T findById(int id);</a:t>
            </a:r>
          </a:p>
          <a:p>
            <a:pPr algn="l">
              <a:lnSpc>
                <a:spcPct val="98000"/>
              </a:lnSpc>
            </a:pPr>
            <a:r>
              <a:rPr sz="1000" b="0" i="0">
                <a:solidFill>
                  <a:srgbClr val="D6E4EF"/>
                </a:solidFill>
                <a:latin typeface="Consolas"/>
              </a:rPr>
              <a:t>    List&lt;T&gt; findAll();</a:t>
            </a:r>
          </a:p>
          <a:p>
            <a:pPr algn="l">
              <a:lnSpc>
                <a:spcPct val="98000"/>
              </a:lnSpc>
            </a:pPr>
            <a:r>
              <a:rPr sz="1000" b="0" i="0">
                <a:solidFill>
                  <a:srgbClr val="D6E4EF"/>
                </a:solidFill>
                <a:latin typeface="Consolas"/>
              </a:rPr>
              <a:t>    int insert(T entity);</a:t>
            </a:r>
          </a:p>
          <a:p>
            <a:pPr algn="l">
              <a:lnSpc>
                <a:spcPct val="98000"/>
              </a:lnSpc>
            </a:pPr>
            <a:r>
              <a:rPr sz="1000" b="0" i="0">
                <a:solidFill>
                  <a:srgbClr val="D6E4EF"/>
                </a:solidFill>
                <a:latin typeface="Consolas"/>
              </a:rPr>
              <a:t>    boolean update(T entity);</a:t>
            </a:r>
          </a:p>
          <a:p>
            <a:pPr algn="l">
              <a:lnSpc>
                <a:spcPct val="98000"/>
              </a:lnSpc>
            </a:pPr>
            <a:r>
              <a:rPr sz="1000" b="0" i="0">
                <a:solidFill>
                  <a:srgbClr val="D6E4EF"/>
                </a:solidFill>
                <a:latin typeface="Consolas"/>
              </a:rPr>
              <a:t>}</a:t>
            </a:r>
          </a:p>
        </p:txBody>
      </p:sp>
      <p:sp>
        <p:nvSpPr>
          <p:cNvPr id="14" name="Rounded Rectangle 13"/>
          <p:cNvSpPr/>
          <p:nvPr/>
        </p:nvSpPr>
        <p:spPr>
          <a:xfrm>
            <a:off x="658368" y="4919472"/>
            <a:ext cx="10874959" cy="9601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5047488"/>
            <a:ext cx="10326319" cy="731520"/>
          </a:xfrm>
          <a:prstGeom prst="rect">
            <a:avLst/>
          </a:prstGeom>
          <a:noFill/>
        </p:spPr>
        <p:txBody>
          <a:bodyPr wrap="square" lIns="0" rIns="0" tIns="0" bIns="0" anchor="ctr">
            <a:spAutoFit/>
          </a:bodyPr>
          <a:lstStyle/>
          <a:p>
            <a:pPr algn="l">
              <a:lnSpc>
                <a:spcPct val="130000"/>
              </a:lnSpc>
            </a:pPr>
            <a:r>
              <a:rPr sz="1150" b="0" i="0">
                <a:solidFill>
                  <a:srgbClr val="1F2A37"/>
                </a:solidFill>
                <a:latin typeface="Segoe UI"/>
              </a:rPr>
              <a:t>The UI never touches a field directly, and it never learns that JDBC exists. Both pillars are enforced by the compiler, not by convention.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Inheritance and polymorphism</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One loop, no type checks, two behaviours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13</a:t>
            </a:r>
          </a:p>
        </p:txBody>
      </p:sp>
      <p:sp>
        <p:nvSpPr>
          <p:cNvPr id="8" name="TextBox 7"/>
          <p:cNvSpPr txBox="1"/>
          <p:nvPr/>
        </p:nvSpPr>
        <p:spPr>
          <a:xfrm>
            <a:off x="658368" y="1554480"/>
            <a:ext cx="6035040" cy="274320"/>
          </a:xfrm>
          <a:prstGeom prst="rect">
            <a:avLst/>
          </a:prstGeom>
          <a:noFill/>
        </p:spPr>
        <p:txBody>
          <a:bodyPr wrap="square" lIns="0" rIns="0" tIns="0" bIns="0" anchor="t">
            <a:spAutoFit/>
          </a:bodyPr>
          <a:lstStyle/>
          <a:p>
            <a:pPr algn="l">
              <a:lnSpc>
                <a:spcPct val="105000"/>
              </a:lnSpc>
            </a:pPr>
            <a:r>
              <a:rPr sz="950" b="1" i="0">
                <a:solidFill>
                  <a:srgbClr val="2C7DA0"/>
                </a:solidFill>
                <a:latin typeface="Consolas"/>
              </a:rPr>
              <a:t>INHERITANCE + DYNAMIC DISPATCH</a:t>
            </a:r>
          </a:p>
        </p:txBody>
      </p:sp>
      <p:sp>
        <p:nvSpPr>
          <p:cNvPr id="9" name="Rounded Rectangle 8"/>
          <p:cNvSpPr/>
          <p:nvPr/>
        </p:nvSpPr>
        <p:spPr>
          <a:xfrm>
            <a:off x="658368" y="1847088"/>
            <a:ext cx="6172200" cy="301752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56816"/>
            <a:ext cx="5843016" cy="2798063"/>
          </a:xfrm>
          <a:prstGeom prst="rect">
            <a:avLst/>
          </a:prstGeom>
          <a:noFill/>
        </p:spPr>
        <p:txBody>
          <a:bodyPr wrap="square" lIns="0" rIns="0" tIns="0" bIns="0" anchor="ctr">
            <a:spAutoFit/>
          </a:bodyPr>
          <a:lstStyle/>
          <a:p>
            <a:pPr algn="l">
              <a:lnSpc>
                <a:spcPct val="98000"/>
              </a:lnSpc>
            </a:pPr>
            <a:r>
              <a:rPr sz="950" b="0" i="0">
                <a:solidFill>
                  <a:srgbClr val="D6E4EF"/>
                </a:solidFill>
                <a:latin typeface="Consolas"/>
              </a:rPr>
              <a:t>public class LostItem extends Item {</a:t>
            </a:r>
          </a:p>
          <a:p>
            <a:pPr algn="l">
              <a:lnSpc>
                <a:spcPct val="98000"/>
              </a:lnSpc>
            </a:pPr>
            <a:r>
              <a:rPr sz="950" b="0" i="0">
                <a:solidFill>
                  <a:srgbClr val="D6E4EF"/>
                </a:solidFill>
                <a:latin typeface="Consolas"/>
              </a:rPr>
              <a:t>    @Override public ItemType getItemType() {</a:t>
            </a:r>
          </a:p>
          <a:p>
            <a:pPr algn="l">
              <a:lnSpc>
                <a:spcPct val="98000"/>
              </a:lnSpc>
            </a:pPr>
            <a:r>
              <a:rPr sz="950" b="0" i="0">
                <a:solidFill>
                  <a:srgbClr val="D6E4EF"/>
                </a:solidFill>
                <a:latin typeface="Consolas"/>
              </a:rPr>
              <a:t>        return ItemType.LOST;</a:t>
            </a:r>
          </a:p>
          <a:p>
            <a:pPr algn="l">
              <a:lnSpc>
                <a:spcPct val="98000"/>
              </a:lnSpc>
            </a:pPr>
            <a:r>
              <a:rPr sz="950" b="0" i="0">
                <a:solidFill>
                  <a:srgbClr val="D6E4EF"/>
                </a:solidFill>
                <a:latin typeface="Consolas"/>
              </a:rPr>
              <a:t>    }</a:t>
            </a:r>
          </a:p>
          <a:p>
            <a:pPr algn="l">
              <a:lnSpc>
                <a:spcPct val="98000"/>
              </a:lnSpc>
            </a:pPr>
            <a:r>
              <a:rPr sz="950" b="0" i="0">
                <a:solidFill>
                  <a:srgbClr val="D6E4EF"/>
                </a:solidFill>
                <a:latin typeface="Consolas"/>
              </a:rPr>
              <a:t>    @Override public String getSpecificDetails() {</a:t>
            </a:r>
          </a:p>
          <a:p>
            <a:pPr algn="l">
              <a:lnSpc>
                <a:spcPct val="98000"/>
              </a:lnSpc>
            </a:pPr>
            <a:r>
              <a:rPr sz="950" b="0" i="0">
                <a:solidFill>
                  <a:srgbClr val="D6E4EF"/>
                </a:solidFill>
                <a:latin typeface="Consolas"/>
              </a:rPr>
              <a:t>        return "Contact: " + contact</a:t>
            </a:r>
          </a:p>
          <a:p>
            <a:pPr algn="l">
              <a:lnSpc>
                <a:spcPct val="98000"/>
              </a:lnSpc>
            </a:pPr>
            <a:r>
              <a:rPr sz="950" b="0" i="0">
                <a:solidFill>
                  <a:srgbClr val="D6E4EF"/>
                </a:solidFill>
                <a:latin typeface="Consolas"/>
              </a:rPr>
              <a:t>             + "\nReward: Rs " + rewardOffered;</a:t>
            </a:r>
          </a:p>
          <a:p>
            <a:pPr algn="l">
              <a:lnSpc>
                <a:spcPct val="98000"/>
              </a:lnSpc>
            </a:pPr>
            <a:r>
              <a:rPr sz="950" b="0" i="0">
                <a:solidFill>
                  <a:srgbClr val="D6E4EF"/>
                </a:solidFill>
                <a:latin typeface="Consolas"/>
              </a:rPr>
              <a:t>    }</a:t>
            </a:r>
          </a:p>
          <a:p>
            <a:pPr algn="l">
              <a:lnSpc>
                <a:spcPct val="98000"/>
              </a:lnSpc>
            </a:pPr>
            <a:r>
              <a:rPr sz="950" b="0" i="0">
                <a:solidFill>
                  <a:srgbClr val="D6E4EF"/>
                </a:solidFill>
                <a:latin typeface="Consolas"/>
              </a:rPr>
              <a:t>}</a:t>
            </a:r>
          </a:p>
          <a:p>
            <a:pPr algn="l">
              <a:lnSpc>
                <a:spcPct val="98000"/>
              </a:lnSpc>
            </a:pPr>
          </a:p>
          <a:p>
            <a:pPr algn="l">
              <a:lnSpc>
                <a:spcPct val="98000"/>
              </a:lnSpc>
            </a:pPr>
            <a:r>
              <a:rPr sz="950" b="0" i="0">
                <a:solidFill>
                  <a:srgbClr val="D6E4EF"/>
                </a:solidFill>
                <a:latin typeface="Consolas"/>
              </a:rPr>
              <a:t>// One reference type, two behaviours:</a:t>
            </a:r>
          </a:p>
          <a:p>
            <a:pPr algn="l">
              <a:lnSpc>
                <a:spcPct val="98000"/>
              </a:lnSpc>
            </a:pPr>
            <a:r>
              <a:rPr sz="950" b="0" i="0">
                <a:solidFill>
                  <a:srgbClr val="D6E4EF"/>
                </a:solidFill>
                <a:latin typeface="Consolas"/>
              </a:rPr>
              <a:t>List&lt;Item&gt; items = itemDAO.findAll();</a:t>
            </a:r>
          </a:p>
          <a:p>
            <a:pPr algn="l">
              <a:lnSpc>
                <a:spcPct val="98000"/>
              </a:lnSpc>
            </a:pPr>
            <a:r>
              <a:rPr sz="950" b="0" i="0">
                <a:solidFill>
                  <a:srgbClr val="D6E4EF"/>
                </a:solidFill>
                <a:latin typeface="Consolas"/>
              </a:rPr>
              <a:t>for (Item item : items) {</a:t>
            </a:r>
          </a:p>
          <a:p>
            <a:pPr algn="l">
              <a:lnSpc>
                <a:spcPct val="98000"/>
              </a:lnSpc>
            </a:pPr>
            <a:r>
              <a:rPr sz="950" b="0" i="0">
                <a:solidFill>
                  <a:srgbClr val="D6E4EF"/>
                </a:solidFill>
                <a:latin typeface="Consolas"/>
              </a:rPr>
              <a:t>    row.add(item.getItemType().getLabel());</a:t>
            </a:r>
          </a:p>
          <a:p>
            <a:pPr algn="l">
              <a:lnSpc>
                <a:spcPct val="98000"/>
              </a:lnSpc>
            </a:pPr>
            <a:r>
              <a:rPr sz="950" b="0" i="0">
                <a:solidFill>
                  <a:srgbClr val="D6E4EF"/>
                </a:solidFill>
                <a:latin typeface="Consolas"/>
              </a:rPr>
              <a:t>    row.add(item.getSpecificDetails());   // runtime</a:t>
            </a:r>
          </a:p>
          <a:p>
            <a:pPr algn="l">
              <a:lnSpc>
                <a:spcPct val="98000"/>
              </a:lnSpc>
            </a:pPr>
            <a:r>
              <a:rPr sz="950" b="0" i="0">
                <a:solidFill>
                  <a:srgbClr val="D6E4EF"/>
                </a:solidFill>
                <a:latin typeface="Consolas"/>
              </a:rPr>
              <a:t>}</a:t>
            </a:r>
          </a:p>
        </p:txBody>
      </p:sp>
      <p:sp>
        <p:nvSpPr>
          <p:cNvPr id="11" name="TextBox 10"/>
          <p:cNvSpPr txBox="1"/>
          <p:nvPr/>
        </p:nvSpPr>
        <p:spPr>
          <a:xfrm>
            <a:off x="7104888" y="1554480"/>
            <a:ext cx="4389120" cy="274320"/>
          </a:xfrm>
          <a:prstGeom prst="rect">
            <a:avLst/>
          </a:prstGeom>
          <a:noFill/>
        </p:spPr>
        <p:txBody>
          <a:bodyPr wrap="square" lIns="0" rIns="0" tIns="0" bIns="0" anchor="t">
            <a:spAutoFit/>
          </a:bodyPr>
          <a:lstStyle/>
          <a:p>
            <a:pPr algn="l">
              <a:lnSpc>
                <a:spcPct val="105000"/>
              </a:lnSpc>
            </a:pPr>
            <a:r>
              <a:rPr sz="950" b="1" i="0">
                <a:solidFill>
                  <a:srgbClr val="1F5C78"/>
                </a:solidFill>
                <a:latin typeface="Consolas"/>
              </a:rPr>
              <a:t>SAME CALL, DIFFERENT OUTPUT</a:t>
            </a:r>
          </a:p>
        </p:txBody>
      </p:sp>
      <p:graphicFrame>
        <p:nvGraphicFramePr>
          <p:cNvPr id="12" name="Table 11"/>
          <p:cNvGraphicFramePr>
            <a:graphicFrameLocks noGrp="1"/>
          </p:cNvGraphicFramePr>
          <p:nvPr/>
        </p:nvGraphicFramePr>
        <p:xfrm>
          <a:off x="7104888" y="1847088"/>
          <a:ext cx="4434838" cy="1591056"/>
        </p:xfrm>
        <a:graphic>
          <a:graphicData uri="http://schemas.openxmlformats.org/drawingml/2006/table">
            <a:tbl>
              <a:tblPr/>
              <a:tblGrid>
                <a:gridCol w="532180"/>
                <a:gridCol w="1330451"/>
                <a:gridCol w="2572207"/>
              </a:tblGrid>
              <a:tr h="530352">
                <a:tc>
                  <a:txBody>
                    <a:bodyPr wrap="square"/>
                    <a:lstStyle/>
                    <a:p>
                      <a:pPr algn="l">
                        <a:lnSpc>
                          <a:spcPct val="95000"/>
                        </a:lnSpc>
                      </a:pPr>
                      <a:r>
                        <a:rPr sz="950" b="1" i="0">
                          <a:solidFill>
                            <a:srgbClr val="FFFFFF"/>
                          </a:solidFill>
                          <a:latin typeface="Segoe UI"/>
                        </a:rPr>
                        <a:t>#</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50" b="1" i="0">
                          <a:solidFill>
                            <a:srgbClr val="FFFFFF"/>
                          </a:solidFill>
                          <a:latin typeface="Segoe UI"/>
                        </a:rPr>
                        <a:t>Runtime object</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50" b="1" i="0">
                          <a:solidFill>
                            <a:srgbClr val="FFFFFF"/>
                          </a:solidFill>
                          <a:latin typeface="Segoe UI"/>
                        </a:rPr>
                        <a:t>getSpecificDetails()</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530352">
                <a:tc>
                  <a:txBody>
                    <a:bodyPr wrap="square"/>
                    <a:lstStyle/>
                    <a:p>
                      <a:pPr algn="l">
                        <a:lnSpc>
                          <a:spcPct val="95000"/>
                        </a:lnSpc>
                      </a:pPr>
                      <a:r>
                        <a:rPr sz="950" b="0" i="0">
                          <a:solidFill>
                            <a:srgbClr val="1F2A37"/>
                          </a:solidFill>
                          <a:latin typeface="Segoe UI"/>
                        </a:rPr>
                        <a:t>1</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LostItem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Contact / Reward / Urgency</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530352">
                <a:tc>
                  <a:txBody>
                    <a:bodyPr wrap="square"/>
                    <a:lstStyle/>
                    <a:p>
                      <a:pPr algn="l">
                        <a:lnSpc>
                          <a:spcPct val="95000"/>
                        </a:lnSpc>
                      </a:pPr>
                      <a:r>
                        <a:rPr sz="950" b="0" i="0">
                          <a:solidFill>
                            <a:srgbClr val="1F2A37"/>
                          </a:solidFill>
                          <a:latin typeface="Segoe UI"/>
                        </a:rPr>
                        <a:t>2</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FoundItem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Storage / Security / Notes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13" name="Rounded Rectangle 12"/>
          <p:cNvSpPr/>
          <p:nvPr/>
        </p:nvSpPr>
        <p:spPr>
          <a:xfrm>
            <a:off x="7104888" y="3794760"/>
            <a:ext cx="4434840" cy="1051560"/>
          </a:xfrm>
          <a:prstGeom prst="roundRect">
            <a:avLst>
              <a:gd name="adj" fmla="val 6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287768" y="3913632"/>
            <a:ext cx="4069080" cy="822960"/>
          </a:xfrm>
          <a:prstGeom prst="rect">
            <a:avLst/>
          </a:prstGeom>
          <a:noFill/>
        </p:spPr>
        <p:txBody>
          <a:bodyPr wrap="square" lIns="0" rIns="0" tIns="0" bIns="0" anchor="t">
            <a:spAutoFit/>
          </a:bodyPr>
          <a:lstStyle/>
          <a:p>
            <a:pPr algn="l">
              <a:lnSpc>
                <a:spcPct val="125000"/>
              </a:lnSpc>
            </a:pPr>
            <a:r>
              <a:rPr sz="1050" b="1" i="0">
                <a:solidFill>
                  <a:srgbClr val="1F5C78"/>
                </a:solidFill>
                <a:latin typeface="Segoe UI"/>
              </a:rPr>
              <a:t>A new item type needs one new sub-class — this loop is never edited.</a:t>
            </a:r>
          </a:p>
        </p:txBody>
      </p:sp>
      <p:sp>
        <p:nvSpPr>
          <p:cNvPr id="15" name="TextBox 14"/>
          <p:cNvSpPr txBox="1"/>
          <p:nvPr/>
        </p:nvSpPr>
        <p:spPr>
          <a:xfrm>
            <a:off x="658368" y="5074920"/>
            <a:ext cx="6172200" cy="457200"/>
          </a:xfrm>
          <a:prstGeom prst="rect">
            <a:avLst/>
          </a:prstGeom>
          <a:noFill/>
        </p:spPr>
        <p:txBody>
          <a:bodyPr wrap="square" lIns="0" rIns="0" tIns="0" bIns="0" anchor="t">
            <a:spAutoFit/>
          </a:bodyPr>
          <a:lstStyle/>
          <a:p>
            <a:pPr algn="l">
              <a:lnSpc>
                <a:spcPct val="105000"/>
              </a:lnSpc>
            </a:pPr>
            <a:r>
              <a:rPr sz="1000" b="0" i="1">
                <a:solidFill>
                  <a:srgbClr val="6B7A8C"/>
                </a:solidFill>
                <a:latin typeface="Segoe UI"/>
              </a:rPr>
              <a:t>instanceof appears only in the DAO, where a table must be chosen.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Database design: ER diagram</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8 tables, 9 relationships, class-table inheritance in the middle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14</a:t>
            </a:r>
          </a:p>
        </p:txBody>
      </p:sp>
      <p:sp>
        <p:nvSpPr>
          <p:cNvPr id="8" name="Rounded Rectangle 7"/>
          <p:cNvSpPr/>
          <p:nvPr/>
        </p:nvSpPr>
        <p:spPr>
          <a:xfrm>
            <a:off x="731520" y="1536192"/>
            <a:ext cx="2103120" cy="914400"/>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1609344"/>
            <a:ext cx="1920239"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CATEGORIES</a:t>
            </a:r>
          </a:p>
        </p:txBody>
      </p:sp>
      <p:sp>
        <p:nvSpPr>
          <p:cNvPr id="10" name="TextBox 9"/>
          <p:cNvSpPr txBox="1"/>
          <p:nvPr/>
        </p:nvSpPr>
        <p:spPr>
          <a:xfrm>
            <a:off x="822960" y="1847088"/>
            <a:ext cx="1920239" cy="548640"/>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category_id  PK</a:t>
            </a:r>
          </a:p>
          <a:p>
            <a:pPr algn="l">
              <a:lnSpc>
                <a:spcPct val="105000"/>
              </a:lnSpc>
            </a:pPr>
            <a:r>
              <a:rPr sz="720" b="0" i="0">
                <a:solidFill>
                  <a:srgbClr val="6B7A8C"/>
                </a:solidFill>
                <a:latin typeface="Consolas"/>
              </a:rPr>
              <a:t>name         UQ</a:t>
            </a:r>
          </a:p>
          <a:p>
            <a:pPr algn="l">
              <a:lnSpc>
                <a:spcPct val="105000"/>
              </a:lnSpc>
            </a:pPr>
            <a:r>
              <a:rPr sz="720" b="0" i="0">
                <a:solidFill>
                  <a:srgbClr val="6B7A8C"/>
                </a:solidFill>
                <a:latin typeface="Consolas"/>
              </a:rPr>
              <a:t>description</a:t>
            </a:r>
          </a:p>
        </p:txBody>
      </p:sp>
      <p:sp>
        <p:nvSpPr>
          <p:cNvPr id="11" name="Rounded Rectangle 10"/>
          <p:cNvSpPr/>
          <p:nvPr/>
        </p:nvSpPr>
        <p:spPr>
          <a:xfrm>
            <a:off x="3063240" y="1536192"/>
            <a:ext cx="2148840" cy="914400"/>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54680" y="1609344"/>
            <a:ext cx="1965960"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LOCATIONS</a:t>
            </a:r>
          </a:p>
        </p:txBody>
      </p:sp>
      <p:sp>
        <p:nvSpPr>
          <p:cNvPr id="13" name="TextBox 12"/>
          <p:cNvSpPr txBox="1"/>
          <p:nvPr/>
        </p:nvSpPr>
        <p:spPr>
          <a:xfrm>
            <a:off x="3154680" y="1847088"/>
            <a:ext cx="1965960" cy="548640"/>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location_id  PK</a:t>
            </a:r>
          </a:p>
          <a:p>
            <a:pPr algn="l">
              <a:lnSpc>
                <a:spcPct val="105000"/>
              </a:lnSpc>
            </a:pPr>
            <a:r>
              <a:rPr sz="720" b="0" i="0">
                <a:solidFill>
                  <a:srgbClr val="6B7A8C"/>
                </a:solidFill>
                <a:latin typeface="Consolas"/>
              </a:rPr>
              <a:t>name         UQ</a:t>
            </a:r>
          </a:p>
          <a:p>
            <a:pPr algn="l">
              <a:lnSpc>
                <a:spcPct val="105000"/>
              </a:lnSpc>
            </a:pPr>
            <a:r>
              <a:rPr sz="720" b="0" i="0">
                <a:solidFill>
                  <a:srgbClr val="6B7A8C"/>
                </a:solidFill>
                <a:latin typeface="Consolas"/>
              </a:rPr>
              <a:t>building</a:t>
            </a:r>
          </a:p>
        </p:txBody>
      </p:sp>
      <p:sp>
        <p:nvSpPr>
          <p:cNvPr id="14" name="Rounded Rectangle 13"/>
          <p:cNvSpPr/>
          <p:nvPr/>
        </p:nvSpPr>
        <p:spPr>
          <a:xfrm>
            <a:off x="8823960" y="1536192"/>
            <a:ext cx="2697480" cy="914400"/>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15400" y="1609344"/>
            <a:ext cx="2514600"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USERS</a:t>
            </a:r>
          </a:p>
        </p:txBody>
      </p:sp>
      <p:sp>
        <p:nvSpPr>
          <p:cNvPr id="16" name="TextBox 15"/>
          <p:cNvSpPr txBox="1"/>
          <p:nvPr/>
        </p:nvSpPr>
        <p:spPr>
          <a:xfrm>
            <a:off x="8915400" y="1847088"/>
            <a:ext cx="2514600" cy="548640"/>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user_id  PK</a:t>
            </a:r>
          </a:p>
          <a:p>
            <a:pPr algn="l">
              <a:lnSpc>
                <a:spcPct val="105000"/>
              </a:lnSpc>
            </a:pPr>
            <a:r>
              <a:rPr sz="720" b="0" i="0">
                <a:solidFill>
                  <a:srgbClr val="6B7A8C"/>
                </a:solidFill>
                <a:latin typeface="Consolas"/>
              </a:rPr>
              <a:t>email    UQ</a:t>
            </a:r>
          </a:p>
          <a:p>
            <a:pPr algn="l">
              <a:lnSpc>
                <a:spcPct val="105000"/>
              </a:lnSpc>
            </a:pPr>
            <a:r>
              <a:rPr sz="720" b="0" i="0">
                <a:solidFill>
                  <a:srgbClr val="6B7A8C"/>
                </a:solidFill>
                <a:latin typeface="Consolas"/>
              </a:rPr>
              <a:t>phone · role</a:t>
            </a:r>
          </a:p>
        </p:txBody>
      </p:sp>
      <p:sp>
        <p:nvSpPr>
          <p:cNvPr id="17" name="Rounded Rectangle 16"/>
          <p:cNvSpPr/>
          <p:nvPr/>
        </p:nvSpPr>
        <p:spPr>
          <a:xfrm>
            <a:off x="3063240" y="2880360"/>
            <a:ext cx="3246120" cy="1536192"/>
          </a:xfrm>
          <a:prstGeom prst="roundRect">
            <a:avLst>
              <a:gd name="adj" fmla="val 3000"/>
            </a:avLst>
          </a:prstGeom>
          <a:solidFill>
            <a:srgbClr val="132A3E"/>
          </a:solidFill>
          <a:ln w="12700">
            <a:solidFill>
              <a:srgbClr val="132A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4680" y="2953512"/>
            <a:ext cx="3063239" cy="201168"/>
          </a:xfrm>
          <a:prstGeom prst="rect">
            <a:avLst/>
          </a:prstGeom>
          <a:noFill/>
        </p:spPr>
        <p:txBody>
          <a:bodyPr wrap="square" lIns="0" rIns="0" tIns="0" bIns="0" anchor="t">
            <a:spAutoFit/>
          </a:bodyPr>
          <a:lstStyle/>
          <a:p>
            <a:pPr algn="l">
              <a:lnSpc>
                <a:spcPct val="105000"/>
              </a:lnSpc>
            </a:pPr>
            <a:r>
              <a:rPr sz="850" b="1" i="0">
                <a:solidFill>
                  <a:srgbClr val="FFFFFF"/>
                </a:solidFill>
                <a:latin typeface="Consolas"/>
              </a:rPr>
              <a:t>ITEMS</a:t>
            </a:r>
          </a:p>
        </p:txBody>
      </p:sp>
      <p:sp>
        <p:nvSpPr>
          <p:cNvPr id="19" name="TextBox 18"/>
          <p:cNvSpPr txBox="1"/>
          <p:nvPr/>
        </p:nvSpPr>
        <p:spPr>
          <a:xfrm>
            <a:off x="3154680" y="3191256"/>
            <a:ext cx="3063239" cy="1170431"/>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item_id      PK</a:t>
            </a:r>
          </a:p>
          <a:p>
            <a:pPr algn="l">
              <a:lnSpc>
                <a:spcPct val="105000"/>
              </a:lnSpc>
            </a:pPr>
            <a:r>
              <a:rPr sz="720" b="0" i="0">
                <a:solidFill>
                  <a:srgbClr val="6B7A8C"/>
                </a:solidFill>
                <a:latin typeface="Consolas"/>
              </a:rPr>
              <a:t>item_type    LOST|FOUND</a:t>
            </a:r>
          </a:p>
          <a:p>
            <a:pPr algn="l">
              <a:lnSpc>
                <a:spcPct val="105000"/>
              </a:lnSpc>
            </a:pPr>
            <a:r>
              <a:rPr sz="720" b="0" i="0">
                <a:solidFill>
                  <a:srgbClr val="6B7A8C"/>
                </a:solidFill>
                <a:latin typeface="Consolas"/>
              </a:rPr>
              <a:t>title · description</a:t>
            </a:r>
          </a:p>
          <a:p>
            <a:pPr algn="l">
              <a:lnSpc>
                <a:spcPct val="105000"/>
              </a:lnSpc>
            </a:pPr>
            <a:r>
              <a:rPr sz="720" b="0" i="0">
                <a:solidFill>
                  <a:srgbClr val="6B7A8C"/>
                </a:solidFill>
                <a:latin typeface="Consolas"/>
              </a:rPr>
              <a:t>event_date · status</a:t>
            </a:r>
          </a:p>
          <a:p>
            <a:pPr algn="l">
              <a:lnSpc>
                <a:spcPct val="105000"/>
              </a:lnSpc>
            </a:pPr>
            <a:r>
              <a:rPr sz="720" b="0" i="0">
                <a:solidFill>
                  <a:srgbClr val="6B7A8C"/>
                </a:solidFill>
                <a:latin typeface="Consolas"/>
              </a:rPr>
              <a:t>category · location</a:t>
            </a:r>
          </a:p>
          <a:p>
            <a:pPr algn="l">
              <a:lnSpc>
                <a:spcPct val="105000"/>
              </a:lnSpc>
            </a:pPr>
            <a:r>
              <a:rPr sz="720" b="0" i="0">
                <a:solidFill>
                  <a:srgbClr val="6B7A8C"/>
                </a:solidFill>
                <a:latin typeface="Consolas"/>
              </a:rPr>
              <a:t>reporter</a:t>
            </a:r>
          </a:p>
        </p:txBody>
      </p:sp>
      <p:sp>
        <p:nvSpPr>
          <p:cNvPr id="20" name="Rounded Rectangle 19"/>
          <p:cNvSpPr/>
          <p:nvPr/>
        </p:nvSpPr>
        <p:spPr>
          <a:xfrm>
            <a:off x="731520" y="3200400"/>
            <a:ext cx="2057400" cy="1078992"/>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 y="3273552"/>
            <a:ext cx="1874519"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LOST_ITEMS</a:t>
            </a:r>
          </a:p>
        </p:txBody>
      </p:sp>
      <p:sp>
        <p:nvSpPr>
          <p:cNvPr id="22" name="TextBox 21"/>
          <p:cNvSpPr txBox="1"/>
          <p:nvPr/>
        </p:nvSpPr>
        <p:spPr>
          <a:xfrm>
            <a:off x="822960" y="3511296"/>
            <a:ext cx="1874519" cy="713231"/>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item_id  PK FK</a:t>
            </a:r>
          </a:p>
          <a:p>
            <a:pPr algn="l">
              <a:lnSpc>
                <a:spcPct val="105000"/>
              </a:lnSpc>
            </a:pPr>
            <a:r>
              <a:rPr sz="720" b="0" i="0">
                <a:solidFill>
                  <a:srgbClr val="6B7A8C"/>
                </a:solidFill>
                <a:latin typeface="Consolas"/>
              </a:rPr>
              <a:t>contact</a:t>
            </a:r>
          </a:p>
          <a:p>
            <a:pPr algn="l">
              <a:lnSpc>
                <a:spcPct val="105000"/>
              </a:lnSpc>
            </a:pPr>
            <a:r>
              <a:rPr sz="720" b="0" i="0">
                <a:solidFill>
                  <a:srgbClr val="6B7A8C"/>
                </a:solidFill>
                <a:latin typeface="Consolas"/>
              </a:rPr>
              <a:t>reward · urgency</a:t>
            </a:r>
          </a:p>
        </p:txBody>
      </p:sp>
      <p:sp>
        <p:nvSpPr>
          <p:cNvPr id="23" name="Rounded Rectangle 22"/>
          <p:cNvSpPr/>
          <p:nvPr/>
        </p:nvSpPr>
        <p:spPr>
          <a:xfrm>
            <a:off x="6583680" y="3200400"/>
            <a:ext cx="1920240" cy="1078992"/>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675120" y="3273552"/>
            <a:ext cx="1737360"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FOUND_ITEMS</a:t>
            </a:r>
          </a:p>
        </p:txBody>
      </p:sp>
      <p:sp>
        <p:nvSpPr>
          <p:cNvPr id="25" name="TextBox 24"/>
          <p:cNvSpPr txBox="1"/>
          <p:nvPr/>
        </p:nvSpPr>
        <p:spPr>
          <a:xfrm>
            <a:off x="6675120" y="3511296"/>
            <a:ext cx="1737360" cy="713231"/>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item_id  PK FK</a:t>
            </a:r>
          </a:p>
          <a:p>
            <a:pPr algn="l">
              <a:lnSpc>
                <a:spcPct val="105000"/>
              </a:lnSpc>
            </a:pPr>
            <a:r>
              <a:rPr sz="720" b="0" i="0">
                <a:solidFill>
                  <a:srgbClr val="6B7A8C"/>
                </a:solidFill>
                <a:latin typeface="Consolas"/>
              </a:rPr>
              <a:t>storage_location</a:t>
            </a:r>
          </a:p>
          <a:p>
            <a:pPr algn="l">
              <a:lnSpc>
                <a:spcPct val="105000"/>
              </a:lnSpc>
            </a:pPr>
            <a:r>
              <a:rPr sz="720" b="0" i="0">
                <a:solidFill>
                  <a:srgbClr val="6B7A8C"/>
                </a:solidFill>
                <a:latin typeface="Consolas"/>
              </a:rPr>
              <a:t>handed · notes</a:t>
            </a:r>
          </a:p>
        </p:txBody>
      </p:sp>
      <p:sp>
        <p:nvSpPr>
          <p:cNvPr id="26" name="Rounded Rectangle 25"/>
          <p:cNvSpPr/>
          <p:nvPr/>
        </p:nvSpPr>
        <p:spPr>
          <a:xfrm>
            <a:off x="3063240" y="4681728"/>
            <a:ext cx="3246120" cy="1207008"/>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154680" y="4754880"/>
            <a:ext cx="3063239"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ITEM_STATUS_HISTORY</a:t>
            </a:r>
          </a:p>
        </p:txBody>
      </p:sp>
      <p:sp>
        <p:nvSpPr>
          <p:cNvPr id="28" name="TextBox 27"/>
          <p:cNvSpPr txBox="1"/>
          <p:nvPr/>
        </p:nvSpPr>
        <p:spPr>
          <a:xfrm>
            <a:off x="3154680" y="4992624"/>
            <a:ext cx="3063239" cy="841248"/>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history_id  PK</a:t>
            </a:r>
          </a:p>
          <a:p>
            <a:pPr algn="l">
              <a:lnSpc>
                <a:spcPct val="105000"/>
              </a:lnSpc>
            </a:pPr>
            <a:r>
              <a:rPr sz="720" b="0" i="0">
                <a:solidFill>
                  <a:srgbClr val="6B7A8C"/>
                </a:solidFill>
                <a:latin typeface="Consolas"/>
              </a:rPr>
              <a:t>item_id     FK</a:t>
            </a:r>
          </a:p>
          <a:p>
            <a:pPr algn="l">
              <a:lnSpc>
                <a:spcPct val="105000"/>
              </a:lnSpc>
            </a:pPr>
            <a:r>
              <a:rPr sz="720" b="0" i="0">
                <a:solidFill>
                  <a:srgbClr val="6B7A8C"/>
                </a:solidFill>
                <a:latin typeface="Consolas"/>
              </a:rPr>
              <a:t>old · new · changed_at</a:t>
            </a:r>
          </a:p>
        </p:txBody>
      </p:sp>
      <p:sp>
        <p:nvSpPr>
          <p:cNvPr id="29" name="Rounded Rectangle 28"/>
          <p:cNvSpPr/>
          <p:nvPr/>
        </p:nvSpPr>
        <p:spPr>
          <a:xfrm>
            <a:off x="7589520" y="4681728"/>
            <a:ext cx="3931920" cy="1207008"/>
          </a:xfrm>
          <a:prstGeom prst="roundRect">
            <a:avLst>
              <a:gd name="adj" fmla="val 3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0" y="4754880"/>
            <a:ext cx="3749039" cy="201168"/>
          </a:xfrm>
          <a:prstGeom prst="rect">
            <a:avLst/>
          </a:prstGeom>
          <a:noFill/>
        </p:spPr>
        <p:txBody>
          <a:bodyPr wrap="square" lIns="0" rIns="0" tIns="0" bIns="0" anchor="t">
            <a:spAutoFit/>
          </a:bodyPr>
          <a:lstStyle/>
          <a:p>
            <a:pPr algn="l">
              <a:lnSpc>
                <a:spcPct val="105000"/>
              </a:lnSpc>
            </a:pPr>
            <a:r>
              <a:rPr sz="850" b="1" i="0">
                <a:solidFill>
                  <a:srgbClr val="132A3E"/>
                </a:solidFill>
                <a:latin typeface="Consolas"/>
              </a:rPr>
              <a:t>CLAIMS</a:t>
            </a:r>
          </a:p>
        </p:txBody>
      </p:sp>
      <p:sp>
        <p:nvSpPr>
          <p:cNvPr id="31" name="TextBox 30"/>
          <p:cNvSpPr txBox="1"/>
          <p:nvPr/>
        </p:nvSpPr>
        <p:spPr>
          <a:xfrm>
            <a:off x="7680960" y="4992624"/>
            <a:ext cx="3749039" cy="841248"/>
          </a:xfrm>
          <a:prstGeom prst="rect">
            <a:avLst/>
          </a:prstGeom>
          <a:noFill/>
        </p:spPr>
        <p:txBody>
          <a:bodyPr wrap="square" lIns="0" rIns="0" tIns="0" bIns="0" anchor="t">
            <a:spAutoFit/>
          </a:bodyPr>
          <a:lstStyle/>
          <a:p>
            <a:pPr algn="l">
              <a:lnSpc>
                <a:spcPct val="105000"/>
              </a:lnSpc>
            </a:pPr>
            <a:r>
              <a:rPr sz="720" b="0" i="0">
                <a:solidFill>
                  <a:srgbClr val="6B7A8C"/>
                </a:solidFill>
                <a:latin typeface="Consolas"/>
              </a:rPr>
              <a:t>claim_id     PK</a:t>
            </a:r>
          </a:p>
          <a:p>
            <a:pPr algn="l">
              <a:lnSpc>
                <a:spcPct val="105000"/>
              </a:lnSpc>
            </a:pPr>
            <a:r>
              <a:rPr sz="720" b="0" i="0">
                <a:solidFill>
                  <a:srgbClr val="6B7A8C"/>
                </a:solidFill>
                <a:latin typeface="Consolas"/>
              </a:rPr>
              <a:t>item_id      FK</a:t>
            </a:r>
          </a:p>
          <a:p>
            <a:pPr algn="l">
              <a:lnSpc>
                <a:spcPct val="105000"/>
              </a:lnSpc>
            </a:pPr>
            <a:r>
              <a:rPr sz="720" b="0" i="0">
                <a:solidFill>
                  <a:srgbClr val="6B7A8C"/>
                </a:solidFill>
                <a:latin typeface="Consolas"/>
              </a:rPr>
              <a:t>claimant     FK</a:t>
            </a:r>
          </a:p>
          <a:p>
            <a:pPr algn="l">
              <a:lnSpc>
                <a:spcPct val="105000"/>
              </a:lnSpc>
            </a:pPr>
            <a:r>
              <a:rPr sz="720" b="0" i="0">
                <a:solidFill>
                  <a:srgbClr val="6B7A8C"/>
                </a:solidFill>
                <a:latin typeface="Consolas"/>
              </a:rPr>
              <a:t>verifier     FK</a:t>
            </a:r>
          </a:p>
          <a:p>
            <a:pPr algn="l">
              <a:lnSpc>
                <a:spcPct val="105000"/>
              </a:lnSpc>
            </a:pPr>
            <a:r>
              <a:rPr sz="720" b="0" i="0">
                <a:solidFill>
                  <a:srgbClr val="6B7A8C"/>
                </a:solidFill>
                <a:latin typeface="Consolas"/>
              </a:rPr>
              <a:t>status · proof</a:t>
            </a:r>
          </a:p>
        </p:txBody>
      </p:sp>
      <p:cxnSp>
        <p:nvCxnSpPr>
          <p:cNvPr id="32" name="Connector 31"/>
          <p:cNvCxnSpPr/>
          <p:nvPr/>
        </p:nvCxnSpPr>
        <p:spPr>
          <a:xfrm>
            <a:off x="1783080" y="2450592"/>
            <a:ext cx="1508760" cy="429768"/>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33087" y="2450592"/>
            <a:ext cx="0" cy="429768"/>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309360" y="2011680"/>
            <a:ext cx="2514600" cy="1097280"/>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788920" y="3739896"/>
            <a:ext cx="274320" cy="0"/>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309360" y="3739896"/>
            <a:ext cx="274320" cy="0"/>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681728" y="4416552"/>
            <a:ext cx="0" cy="265176"/>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68128" y="2450592"/>
            <a:ext cx="0" cy="2231136"/>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19088" y="4416552"/>
            <a:ext cx="0" cy="173736"/>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19088" y="4590288"/>
            <a:ext cx="1170432" cy="0"/>
          </a:xfrm>
          <a:prstGeom prst="line">
            <a:avLst/>
          </a:prstGeom>
          <a:ln w="15240">
            <a:solidFill>
              <a:srgbClr val="9FB6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212848" y="2523744"/>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
        <p:nvSpPr>
          <p:cNvPr id="42" name="TextBox 41"/>
          <p:cNvSpPr txBox="1"/>
          <p:nvPr/>
        </p:nvSpPr>
        <p:spPr>
          <a:xfrm>
            <a:off x="4206240" y="2523744"/>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
        <p:nvSpPr>
          <p:cNvPr id="43" name="TextBox 42"/>
          <p:cNvSpPr txBox="1"/>
          <p:nvPr/>
        </p:nvSpPr>
        <p:spPr>
          <a:xfrm>
            <a:off x="7360920" y="2359152"/>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
        <p:nvSpPr>
          <p:cNvPr id="44" name="TextBox 43"/>
          <p:cNvSpPr txBox="1"/>
          <p:nvPr/>
        </p:nvSpPr>
        <p:spPr>
          <a:xfrm>
            <a:off x="2834640" y="3419856"/>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1:1</a:t>
            </a:r>
          </a:p>
        </p:txBody>
      </p:sp>
      <p:sp>
        <p:nvSpPr>
          <p:cNvPr id="45" name="TextBox 44"/>
          <p:cNvSpPr txBox="1"/>
          <p:nvPr/>
        </p:nvSpPr>
        <p:spPr>
          <a:xfrm>
            <a:off x="6345936" y="3419856"/>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1:1</a:t>
            </a:r>
          </a:p>
        </p:txBody>
      </p:sp>
      <p:sp>
        <p:nvSpPr>
          <p:cNvPr id="46" name="TextBox 45"/>
          <p:cNvSpPr txBox="1"/>
          <p:nvPr/>
        </p:nvSpPr>
        <p:spPr>
          <a:xfrm>
            <a:off x="4754880" y="4443984"/>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
        <p:nvSpPr>
          <p:cNvPr id="47" name="TextBox 46"/>
          <p:cNvSpPr txBox="1"/>
          <p:nvPr/>
        </p:nvSpPr>
        <p:spPr>
          <a:xfrm>
            <a:off x="10241280" y="3346704"/>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
        <p:nvSpPr>
          <p:cNvPr id="48" name="TextBox 47"/>
          <p:cNvSpPr txBox="1"/>
          <p:nvPr/>
        </p:nvSpPr>
        <p:spPr>
          <a:xfrm>
            <a:off x="6473952" y="4425696"/>
            <a:ext cx="457200" cy="164592"/>
          </a:xfrm>
          <a:prstGeom prst="rect">
            <a:avLst/>
          </a:prstGeom>
          <a:noFill/>
        </p:spPr>
        <p:txBody>
          <a:bodyPr wrap="square" lIns="0" rIns="0" tIns="0" bIns="0" anchor="t">
            <a:spAutoFit/>
          </a:bodyPr>
          <a:lstStyle/>
          <a:p>
            <a:pPr algn="l">
              <a:lnSpc>
                <a:spcPct val="105000"/>
              </a:lnSpc>
            </a:pPr>
            <a:r>
              <a:rPr sz="650" b="1" i="0">
                <a:solidFill>
                  <a:srgbClr val="1F5C78"/>
                </a:solidFill>
                <a:latin typeface="Consolas"/>
              </a:rPr>
              <a:t>1:N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Schema, keys and constraints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Referential integrity is enforced by the database, not just by Java</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15</a:t>
            </a:r>
          </a:p>
        </p:txBody>
      </p:sp>
      <p:graphicFrame>
        <p:nvGraphicFramePr>
          <p:cNvPr id="8" name="Table 7"/>
          <p:cNvGraphicFramePr>
            <a:graphicFrameLocks noGrp="1"/>
          </p:cNvGraphicFramePr>
          <p:nvPr/>
        </p:nvGraphicFramePr>
        <p:xfrm>
          <a:off x="658368" y="1664208"/>
          <a:ext cx="6903718" cy="3456432"/>
        </p:xfrm>
        <a:graphic>
          <a:graphicData uri="http://schemas.openxmlformats.org/drawingml/2006/table">
            <a:tbl>
              <a:tblPr/>
              <a:tblGrid>
                <a:gridCol w="2347264"/>
                <a:gridCol w="1518818"/>
                <a:gridCol w="3037636"/>
              </a:tblGrid>
              <a:tr h="384048">
                <a:tc>
                  <a:txBody>
                    <a:bodyPr wrap="square"/>
                    <a:lstStyle/>
                    <a:p>
                      <a:pPr algn="l">
                        <a:lnSpc>
                          <a:spcPct val="95000"/>
                        </a:lnSpc>
                      </a:pPr>
                      <a:r>
                        <a:rPr sz="950" b="1" i="0">
                          <a:solidFill>
                            <a:srgbClr val="FFFFFF"/>
                          </a:solidFill>
                          <a:latin typeface="Segoe UI"/>
                        </a:rPr>
                        <a:t>Table</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50" b="1" i="0">
                          <a:solidFill>
                            <a:srgbClr val="FFFFFF"/>
                          </a:solidFill>
                          <a:latin typeface="Segoe UI"/>
                        </a:rPr>
                        <a:t>PK</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50" b="1" i="0">
                          <a:solidFill>
                            <a:srgbClr val="FFFFFF"/>
                          </a:solidFill>
                          <a:latin typeface="Segoe UI"/>
                        </a:rPr>
                        <a:t>Foreign keys</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384048">
                <a:tc>
                  <a:txBody>
                    <a:bodyPr wrap="square"/>
                    <a:lstStyle/>
                    <a:p>
                      <a:pPr algn="l">
                        <a:lnSpc>
                          <a:spcPct val="95000"/>
                        </a:lnSpc>
                      </a:pPr>
                      <a:r>
                        <a:rPr sz="950" b="0" i="0">
                          <a:solidFill>
                            <a:srgbClr val="1F2A37"/>
                          </a:solidFill>
                          <a:latin typeface="Segoe UI"/>
                        </a:rPr>
                        <a:t>users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user_id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950" b="0" i="0">
                          <a:solidFill>
                            <a:srgbClr val="1F2A37"/>
                          </a:solidFill>
                          <a:latin typeface="Segoe UI"/>
                        </a:rPr>
                        <a:t>categories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category_id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84048">
                <a:tc>
                  <a:txBody>
                    <a:bodyPr wrap="square"/>
                    <a:lstStyle/>
                    <a:p>
                      <a:pPr algn="l">
                        <a:lnSpc>
                          <a:spcPct val="95000"/>
                        </a:lnSpc>
                      </a:pPr>
                      <a:r>
                        <a:rPr sz="950" b="0" i="0">
                          <a:solidFill>
                            <a:srgbClr val="1F2A37"/>
                          </a:solidFill>
                          <a:latin typeface="Segoe UI"/>
                        </a:rPr>
                        <a:t>locations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location_id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950" b="0" i="0">
                          <a:solidFill>
                            <a:srgbClr val="1F2A37"/>
                          </a:solidFill>
                          <a:latin typeface="Segoe UI"/>
                        </a:rPr>
                        <a:t>items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item_id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category · location · reporter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84048">
                <a:tc>
                  <a:txBody>
                    <a:bodyPr wrap="square"/>
                    <a:lstStyle/>
                    <a:p>
                      <a:pPr algn="l">
                        <a:lnSpc>
                          <a:spcPct val="95000"/>
                        </a:lnSpc>
                      </a:pPr>
                      <a:r>
                        <a:rPr sz="950" b="0" i="0">
                          <a:solidFill>
                            <a:srgbClr val="1F2A37"/>
                          </a:solidFill>
                          <a:latin typeface="Segoe UI"/>
                        </a:rPr>
                        <a:t>lost_items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item_id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 items (1:1, cascade)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950" b="0" i="0">
                          <a:solidFill>
                            <a:srgbClr val="1F2A37"/>
                          </a:solidFill>
                          <a:latin typeface="Segoe UI"/>
                        </a:rPr>
                        <a:t>found_items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item_id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 items (1:1, cascade)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84048">
                <a:tc>
                  <a:txBody>
                    <a:bodyPr wrap="square"/>
                    <a:lstStyle/>
                    <a:p>
                      <a:pPr algn="l">
                        <a:lnSpc>
                          <a:spcPct val="95000"/>
                        </a:lnSpc>
                      </a:pPr>
                      <a:r>
                        <a:rPr sz="950" b="0" i="0">
                          <a:solidFill>
                            <a:srgbClr val="1F2A37"/>
                          </a:solidFill>
                          <a:latin typeface="Segoe UI"/>
                        </a:rPr>
                        <a:t>claims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claim_id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50" b="0" i="0">
                          <a:solidFill>
                            <a:srgbClr val="1F2A37"/>
                          </a:solidFill>
                          <a:latin typeface="Segoe UI"/>
                        </a:rPr>
                        <a:t>item · claimant · verifier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950" b="0" i="0">
                          <a:solidFill>
                            <a:srgbClr val="1F2A37"/>
                          </a:solidFill>
                          <a:latin typeface="Segoe UI"/>
                        </a:rPr>
                        <a:t>item_status_history</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history_id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50" b="0" i="0">
                          <a:solidFill>
                            <a:srgbClr val="1F2A37"/>
                          </a:solidFill>
                          <a:latin typeface="Segoe UI"/>
                        </a:rPr>
                        <a:t>→ items (cascade)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9" name="Rounded Rectangle 8"/>
          <p:cNvSpPr/>
          <p:nvPr/>
        </p:nvSpPr>
        <p:spPr>
          <a:xfrm>
            <a:off x="7927848" y="1664208"/>
            <a:ext cx="3611880" cy="361188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38160" y="1810512"/>
            <a:ext cx="3200400" cy="274320"/>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CONSTRAINTS USED</a:t>
            </a:r>
          </a:p>
        </p:txBody>
      </p:sp>
      <p:sp>
        <p:nvSpPr>
          <p:cNvPr id="11" name="TextBox 10"/>
          <p:cNvSpPr txBox="1"/>
          <p:nvPr/>
        </p:nvSpPr>
        <p:spPr>
          <a:xfrm>
            <a:off x="8138160" y="2157984"/>
            <a:ext cx="3200400" cy="365760"/>
          </a:xfrm>
          <a:prstGeom prst="rect">
            <a:avLst/>
          </a:prstGeom>
          <a:noFill/>
        </p:spPr>
        <p:txBody>
          <a:bodyPr wrap="square" lIns="0" rIns="0" tIns="0" bIns="0">
            <a:spAutoFit/>
          </a:bodyPr>
          <a:lstStyle/>
          <a:p>
            <a:pPr>
              <a:lnSpc>
                <a:spcPct val="105000"/>
              </a:lnSpc>
              <a:spcAft>
                <a:spcPts val="600"/>
              </a:spcAft>
            </a:pPr>
            <a:r>
              <a:rPr sz="919" b="1">
                <a:solidFill>
                  <a:srgbClr val="2C7DA0"/>
                </a:solidFill>
                <a:latin typeface="Segoe UI"/>
              </a:rPr>
              <a:t>•  </a:t>
            </a:r>
            <a:r>
              <a:rPr sz="919" b="1" i="0">
                <a:solidFill>
                  <a:srgbClr val="1F2A37"/>
                </a:solidFill>
                <a:latin typeface="Segoe UI"/>
              </a:rPr>
              <a:t>NOT NULL</a:t>
            </a:r>
            <a:r>
              <a:rPr sz="919" b="0" i="0">
                <a:solidFill>
                  <a:srgbClr val="1F2A37"/>
                </a:solidFill>
                <a:latin typeface="Segoe UI"/>
              </a:rPr>
              <a:t> — required columns</a:t>
            </a:r>
          </a:p>
          <a:p>
            <a:pPr>
              <a:lnSpc>
                <a:spcPct val="105000"/>
              </a:lnSpc>
              <a:spcAft>
                <a:spcPts val="600"/>
              </a:spcAft>
            </a:pPr>
            <a:r>
              <a:rPr sz="919" b="1">
                <a:solidFill>
                  <a:srgbClr val="2C7DA0"/>
                </a:solidFill>
                <a:latin typeface="Segoe UI"/>
              </a:rPr>
              <a:t>•  </a:t>
            </a:r>
            <a:r>
              <a:rPr sz="919" b="1" i="0">
                <a:solidFill>
                  <a:srgbClr val="1F2A37"/>
                </a:solidFill>
                <a:latin typeface="Segoe UI"/>
              </a:rPr>
              <a:t>UNIQUE</a:t>
            </a:r>
            <a:r>
              <a:rPr sz="919" b="0" i="0">
                <a:solidFill>
                  <a:srgbClr val="1F2A37"/>
                </a:solidFill>
                <a:latin typeface="Segoe UI"/>
              </a:rPr>
              <a:t> — e-mail, category, location</a:t>
            </a:r>
          </a:p>
          <a:p>
            <a:pPr>
              <a:lnSpc>
                <a:spcPct val="105000"/>
              </a:lnSpc>
              <a:spcAft>
                <a:spcPts val="600"/>
              </a:spcAft>
            </a:pPr>
            <a:r>
              <a:rPr sz="919" b="1">
                <a:solidFill>
                  <a:srgbClr val="2C7DA0"/>
                </a:solidFill>
                <a:latin typeface="Segoe UI"/>
              </a:rPr>
              <a:t>•  </a:t>
            </a:r>
            <a:r>
              <a:rPr sz="919" b="1" i="0">
                <a:solidFill>
                  <a:srgbClr val="1F2A37"/>
                </a:solidFill>
                <a:latin typeface="Segoe UI"/>
              </a:rPr>
              <a:t>UNIQUE (item_id, claimant_id)</a:t>
            </a:r>
            <a:r>
              <a:rPr sz="919" b="0" i="0">
                <a:solidFill>
                  <a:srgbClr val="1F2A37"/>
                </a:solidFill>
                <a:latin typeface="Segoe UI"/>
              </a:rPr>
              <a:t> — no duplicate claim</a:t>
            </a:r>
          </a:p>
          <a:p>
            <a:pPr>
              <a:lnSpc>
                <a:spcPct val="105000"/>
              </a:lnSpc>
              <a:spcAft>
                <a:spcPts val="600"/>
              </a:spcAft>
            </a:pPr>
            <a:r>
              <a:rPr sz="919" b="1">
                <a:solidFill>
                  <a:srgbClr val="2C7DA0"/>
                </a:solidFill>
                <a:latin typeface="Segoe UI"/>
              </a:rPr>
              <a:t>•  </a:t>
            </a:r>
            <a:r>
              <a:rPr sz="919" b="1" i="0">
                <a:solidFill>
                  <a:srgbClr val="1F2A37"/>
                </a:solidFill>
                <a:latin typeface="Segoe UI"/>
              </a:rPr>
              <a:t>CHECK</a:t>
            </a:r>
            <a:r>
              <a:rPr sz="919" b="0" i="0">
                <a:solidFill>
                  <a:srgbClr val="1F2A37"/>
                </a:solidFill>
                <a:latin typeface="Segoe UI"/>
              </a:rPr>
              <a:t> — reward ≥ 0, phone ≥ 10 digits</a:t>
            </a:r>
          </a:p>
          <a:p>
            <a:pPr>
              <a:lnSpc>
                <a:spcPct val="105000"/>
              </a:lnSpc>
              <a:spcAft>
                <a:spcPts val="600"/>
              </a:spcAft>
            </a:pPr>
            <a:r>
              <a:rPr sz="919" b="1">
                <a:solidFill>
                  <a:srgbClr val="2C7DA0"/>
                </a:solidFill>
                <a:latin typeface="Segoe UI"/>
              </a:rPr>
              <a:t>•  </a:t>
            </a:r>
            <a:r>
              <a:rPr sz="919" b="1" i="0">
                <a:solidFill>
                  <a:srgbClr val="1F2A37"/>
                </a:solidFill>
                <a:latin typeface="Segoe UI"/>
              </a:rPr>
              <a:t>ENUM</a:t>
            </a:r>
            <a:r>
              <a:rPr sz="919" b="0" i="0">
                <a:solidFill>
                  <a:srgbClr val="1F2A37"/>
                </a:solidFill>
                <a:latin typeface="Segoe UI"/>
              </a:rPr>
              <a:t> — status domains</a:t>
            </a:r>
          </a:p>
          <a:p>
            <a:pPr>
              <a:lnSpc>
                <a:spcPct val="105000"/>
              </a:lnSpc>
              <a:spcAft>
                <a:spcPts val="600"/>
              </a:spcAft>
            </a:pPr>
            <a:r>
              <a:rPr sz="919" b="1">
                <a:solidFill>
                  <a:srgbClr val="2C7DA0"/>
                </a:solidFill>
                <a:latin typeface="Segoe UI"/>
              </a:rPr>
              <a:t>•  </a:t>
            </a:r>
            <a:r>
              <a:rPr sz="919" b="1" i="0">
                <a:solidFill>
                  <a:srgbClr val="1F2A37"/>
                </a:solidFill>
                <a:latin typeface="Segoe UI"/>
              </a:rPr>
              <a:t>ON DELETE CASCADE</a:t>
            </a:r>
            <a:r>
              <a:rPr sz="919" b="0" i="0">
                <a:solidFill>
                  <a:srgbClr val="1F2A37"/>
                </a:solidFill>
                <a:latin typeface="Segoe UI"/>
              </a:rPr>
              <a:t> — subtype rows</a:t>
            </a:r>
          </a:p>
          <a:p>
            <a:pPr>
              <a:lnSpc>
                <a:spcPct val="105000"/>
              </a:lnSpc>
              <a:spcAft>
                <a:spcPts val="600"/>
              </a:spcAft>
            </a:pPr>
            <a:r>
              <a:rPr sz="919" b="1">
                <a:solidFill>
                  <a:srgbClr val="2C7DA0"/>
                </a:solidFill>
                <a:latin typeface="Segoe UI"/>
              </a:rPr>
              <a:t>•  </a:t>
            </a:r>
            <a:r>
              <a:rPr sz="919" b="1" i="0">
                <a:solidFill>
                  <a:srgbClr val="1F2A37"/>
                </a:solidFill>
                <a:latin typeface="Segoe UI"/>
              </a:rPr>
              <a:t>6 indexes</a:t>
            </a:r>
            <a:r>
              <a:rPr sz="919" b="0" i="0">
                <a:solidFill>
                  <a:srgbClr val="1F2A37"/>
                </a:solidFill>
                <a:latin typeface="Segoe UI"/>
              </a:rPr>
              <a:t> — search and join columns</a:t>
            </a:r>
          </a:p>
        </p:txBody>
      </p:sp>
      <p:sp>
        <p:nvSpPr>
          <p:cNvPr id="12" name="TextBox 11"/>
          <p:cNvSpPr txBox="1"/>
          <p:nvPr/>
        </p:nvSpPr>
        <p:spPr>
          <a:xfrm>
            <a:off x="658368" y="5650992"/>
            <a:ext cx="6903720" cy="457200"/>
          </a:xfrm>
          <a:prstGeom prst="rect">
            <a:avLst/>
          </a:prstGeom>
          <a:noFill/>
        </p:spPr>
        <p:txBody>
          <a:bodyPr wrap="square" lIns="0" rIns="0" tIns="0" bIns="0" anchor="t">
            <a:spAutoFit/>
          </a:bodyPr>
          <a:lstStyle/>
          <a:p>
            <a:pPr algn="l">
              <a:lnSpc>
                <a:spcPct val="105000"/>
              </a:lnSpc>
            </a:pPr>
            <a:r>
              <a:rPr sz="1050" b="0" i="1">
                <a:solidFill>
                  <a:srgbClr val="6B7A8C"/>
                </a:solidFill>
                <a:latin typeface="Segoe UI"/>
              </a:rPr>
              <a:t>Two constraints matter most: the unique claim key and the 1:1 subtype keys.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SQL features in the project</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Joins, views, triggers and aggregation — each doing a real job</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16</a:t>
            </a:r>
          </a:p>
        </p:txBody>
      </p:sp>
      <p:sp>
        <p:nvSpPr>
          <p:cNvPr id="8" name="TextBox 7"/>
          <p:cNvSpPr txBox="1"/>
          <p:nvPr/>
        </p:nvSpPr>
        <p:spPr>
          <a:xfrm>
            <a:off x="658368" y="1481328"/>
            <a:ext cx="5029200" cy="256032"/>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JOIN  ·  every list screen</a:t>
            </a:r>
          </a:p>
        </p:txBody>
      </p:sp>
      <p:sp>
        <p:nvSpPr>
          <p:cNvPr id="9" name="Rounded Rectangle 8"/>
          <p:cNvSpPr/>
          <p:nvPr/>
        </p:nvSpPr>
        <p:spPr>
          <a:xfrm>
            <a:off x="658368" y="1737360"/>
            <a:ext cx="5303520" cy="13716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847088"/>
            <a:ext cx="4974336" cy="1152144"/>
          </a:xfrm>
          <a:prstGeom prst="rect">
            <a:avLst/>
          </a:prstGeom>
          <a:noFill/>
        </p:spPr>
        <p:txBody>
          <a:bodyPr wrap="square" lIns="0" rIns="0" tIns="0" bIns="0" anchor="ctr">
            <a:spAutoFit/>
          </a:bodyPr>
          <a:lstStyle/>
          <a:p>
            <a:pPr algn="l">
              <a:lnSpc>
                <a:spcPct val="98000"/>
              </a:lnSpc>
            </a:pPr>
            <a:r>
              <a:rPr sz="830" b="0" i="0">
                <a:solidFill>
                  <a:srgbClr val="D6E4EF"/>
                </a:solidFill>
                <a:latin typeface="Consolas"/>
              </a:rPr>
              <a:t>FROM items i</a:t>
            </a:r>
          </a:p>
          <a:p>
            <a:pPr algn="l">
              <a:lnSpc>
                <a:spcPct val="98000"/>
              </a:lnSpc>
            </a:pPr>
            <a:r>
              <a:rPr sz="830" b="0" i="0">
                <a:solidFill>
                  <a:srgbClr val="D6E4EF"/>
                </a:solidFill>
                <a:latin typeface="Consolas"/>
              </a:rPr>
              <a:t>JOIN categories c ON c.category_id = i.category_id</a:t>
            </a:r>
          </a:p>
          <a:p>
            <a:pPr algn="l">
              <a:lnSpc>
                <a:spcPct val="98000"/>
              </a:lnSpc>
            </a:pPr>
            <a:r>
              <a:rPr sz="830" b="0" i="0">
                <a:solidFill>
                  <a:srgbClr val="D6E4EF"/>
                </a:solidFill>
                <a:latin typeface="Consolas"/>
              </a:rPr>
              <a:t>JOIN locations  l ON l.location_id = i.location_id</a:t>
            </a:r>
          </a:p>
          <a:p>
            <a:pPr algn="l">
              <a:lnSpc>
                <a:spcPct val="98000"/>
              </a:lnSpc>
            </a:pPr>
            <a:r>
              <a:rPr sz="830" b="0" i="0">
                <a:solidFill>
                  <a:srgbClr val="D6E4EF"/>
                </a:solidFill>
                <a:latin typeface="Consolas"/>
              </a:rPr>
              <a:t>JOIN users      u ON u.user_id     = i.reporter_id</a:t>
            </a:r>
          </a:p>
          <a:p>
            <a:pPr algn="l">
              <a:lnSpc>
                <a:spcPct val="98000"/>
              </a:lnSpc>
            </a:pPr>
            <a:r>
              <a:rPr sz="830" b="0" i="0">
                <a:solidFill>
                  <a:srgbClr val="D6E4EF"/>
                </a:solidFill>
                <a:latin typeface="Consolas"/>
              </a:rPr>
              <a:t>LEFT JOIN lost_items  li ON li.item_id = i.item_id</a:t>
            </a:r>
          </a:p>
          <a:p>
            <a:pPr algn="l">
              <a:lnSpc>
                <a:spcPct val="98000"/>
              </a:lnSpc>
            </a:pPr>
            <a:r>
              <a:rPr sz="830" b="0" i="0">
                <a:solidFill>
                  <a:srgbClr val="D6E4EF"/>
                </a:solidFill>
                <a:latin typeface="Consolas"/>
              </a:rPr>
              <a:t>LEFT JOIN found_items fi ON fi.item_id = i.item_id</a:t>
            </a:r>
          </a:p>
        </p:txBody>
      </p:sp>
      <p:sp>
        <p:nvSpPr>
          <p:cNvPr id="11" name="TextBox 10"/>
          <p:cNvSpPr txBox="1"/>
          <p:nvPr/>
        </p:nvSpPr>
        <p:spPr>
          <a:xfrm>
            <a:off x="6190488" y="1481328"/>
            <a:ext cx="5029200" cy="256032"/>
          </a:xfrm>
          <a:prstGeom prst="rect">
            <a:avLst/>
          </a:prstGeom>
          <a:noFill/>
        </p:spPr>
        <p:txBody>
          <a:bodyPr wrap="square" lIns="0" rIns="0" tIns="0" bIns="0" anchor="t">
            <a:spAutoFit/>
          </a:bodyPr>
          <a:lstStyle/>
          <a:p>
            <a:pPr algn="l">
              <a:lnSpc>
                <a:spcPct val="105000"/>
              </a:lnSpc>
            </a:pPr>
            <a:r>
              <a:rPr sz="900" b="1" i="0">
                <a:solidFill>
                  <a:srgbClr val="1F5C78"/>
                </a:solidFill>
                <a:latin typeface="Consolas"/>
              </a:rPr>
              <a:t>VIEW  ·  matching engine</a:t>
            </a:r>
          </a:p>
        </p:txBody>
      </p:sp>
      <p:sp>
        <p:nvSpPr>
          <p:cNvPr id="12" name="Rounded Rectangle 11"/>
          <p:cNvSpPr/>
          <p:nvPr/>
        </p:nvSpPr>
        <p:spPr>
          <a:xfrm>
            <a:off x="6190488" y="1737360"/>
            <a:ext cx="5330952" cy="13716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73368" y="1847088"/>
            <a:ext cx="5001768" cy="1152144"/>
          </a:xfrm>
          <a:prstGeom prst="rect">
            <a:avLst/>
          </a:prstGeom>
          <a:noFill/>
        </p:spPr>
        <p:txBody>
          <a:bodyPr wrap="square" lIns="0" rIns="0" tIns="0" bIns="0" anchor="ctr">
            <a:spAutoFit/>
          </a:bodyPr>
          <a:lstStyle/>
          <a:p>
            <a:pPr algn="l">
              <a:lnSpc>
                <a:spcPct val="98000"/>
              </a:lnSpc>
            </a:pPr>
            <a:r>
              <a:rPr sz="830" b="0" i="0">
                <a:solidFill>
                  <a:srgbClr val="D6E4EF"/>
                </a:solidFill>
                <a:latin typeface="Consolas"/>
              </a:rPr>
              <a:t>CREATE OR REPLACE VIEW vw_potential_matches AS</a:t>
            </a:r>
          </a:p>
          <a:p>
            <a:pPr algn="l">
              <a:lnSpc>
                <a:spcPct val="98000"/>
              </a:lnSpc>
            </a:pPr>
            <a:r>
              <a:rPr sz="830" b="0" i="0">
                <a:solidFill>
                  <a:srgbClr val="D6E4EF"/>
                </a:solidFill>
                <a:latin typeface="Consolas"/>
              </a:rPr>
              <a:t>SELECT lo.item_id AS lost_item_id, fo.item_id AS found_item_id,</a:t>
            </a:r>
          </a:p>
          <a:p>
            <a:pPr algn="l">
              <a:lnSpc>
                <a:spcPct val="98000"/>
              </a:lnSpc>
            </a:pPr>
            <a:r>
              <a:rPr sz="830" b="0" i="0">
                <a:solidFill>
                  <a:srgbClr val="D6E4EF"/>
                </a:solidFill>
                <a:latin typeface="Consolas"/>
              </a:rPr>
              <a:t>       (40 + 30 + CASE ... END + CASE ... END) AS match_score</a:t>
            </a:r>
          </a:p>
          <a:p>
            <a:pPr algn="l">
              <a:lnSpc>
                <a:spcPct val="98000"/>
              </a:lnSpc>
            </a:pPr>
            <a:r>
              <a:rPr sz="830" b="0" i="0">
                <a:solidFill>
                  <a:srgbClr val="D6E4EF"/>
                </a:solidFill>
                <a:latin typeface="Consolas"/>
              </a:rPr>
              <a:t>FROM items lo JOIN items fo ON ...   -- self join</a:t>
            </a:r>
          </a:p>
          <a:p>
            <a:pPr algn="l">
              <a:lnSpc>
                <a:spcPct val="98000"/>
              </a:lnSpc>
            </a:pPr>
            <a:r>
              <a:rPr sz="830" b="0" i="0">
                <a:solidFill>
                  <a:srgbClr val="D6E4EF"/>
                </a:solidFill>
                <a:latin typeface="Consolas"/>
              </a:rPr>
              <a:t>HAVING match_score &gt;= 50;</a:t>
            </a:r>
          </a:p>
        </p:txBody>
      </p:sp>
      <p:sp>
        <p:nvSpPr>
          <p:cNvPr id="14" name="TextBox 13"/>
          <p:cNvSpPr txBox="1"/>
          <p:nvPr/>
        </p:nvSpPr>
        <p:spPr>
          <a:xfrm>
            <a:off x="658368" y="3273552"/>
            <a:ext cx="5029200" cy="256032"/>
          </a:xfrm>
          <a:prstGeom prst="rect">
            <a:avLst/>
          </a:prstGeom>
          <a:noFill/>
        </p:spPr>
        <p:txBody>
          <a:bodyPr wrap="square" lIns="0" rIns="0" tIns="0" bIns="0" anchor="t">
            <a:spAutoFit/>
          </a:bodyPr>
          <a:lstStyle/>
          <a:p>
            <a:pPr algn="l">
              <a:lnSpc>
                <a:spcPct val="105000"/>
              </a:lnSpc>
            </a:pPr>
            <a:r>
              <a:rPr sz="900" b="1" i="0">
                <a:solidFill>
                  <a:srgbClr val="2E7D4F"/>
                </a:solidFill>
                <a:latin typeface="Consolas"/>
              </a:rPr>
              <a:t>TRIGGER  ·  audit without Java code</a:t>
            </a:r>
          </a:p>
        </p:txBody>
      </p:sp>
      <p:sp>
        <p:nvSpPr>
          <p:cNvPr id="15" name="Rounded Rectangle 14"/>
          <p:cNvSpPr/>
          <p:nvPr/>
        </p:nvSpPr>
        <p:spPr>
          <a:xfrm>
            <a:off x="658368" y="3529584"/>
            <a:ext cx="5303520" cy="13716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7" y="3639312"/>
            <a:ext cx="4974336" cy="1152144"/>
          </a:xfrm>
          <a:prstGeom prst="rect">
            <a:avLst/>
          </a:prstGeom>
          <a:noFill/>
        </p:spPr>
        <p:txBody>
          <a:bodyPr wrap="square" lIns="0" rIns="0" tIns="0" bIns="0" anchor="ctr">
            <a:spAutoFit/>
          </a:bodyPr>
          <a:lstStyle/>
          <a:p>
            <a:pPr algn="l">
              <a:lnSpc>
                <a:spcPct val="98000"/>
              </a:lnSpc>
            </a:pPr>
            <a:r>
              <a:rPr sz="830" b="0" i="0">
                <a:solidFill>
                  <a:srgbClr val="D6E4EF"/>
                </a:solidFill>
                <a:latin typeface="Consolas"/>
              </a:rPr>
              <a:t>CREATE TRIGGER trg_items_after_update</a:t>
            </a:r>
          </a:p>
          <a:p>
            <a:pPr algn="l">
              <a:lnSpc>
                <a:spcPct val="98000"/>
              </a:lnSpc>
            </a:pPr>
            <a:r>
              <a:rPr sz="830" b="0" i="0">
                <a:solidFill>
                  <a:srgbClr val="D6E4EF"/>
                </a:solidFill>
                <a:latin typeface="Consolas"/>
              </a:rPr>
              <a:t>AFTER UPDATE ON items FOR EACH ROW</a:t>
            </a:r>
          </a:p>
          <a:p>
            <a:pPr algn="l">
              <a:lnSpc>
                <a:spcPct val="98000"/>
              </a:lnSpc>
            </a:pPr>
            <a:r>
              <a:rPr sz="830" b="0" i="0">
                <a:solidFill>
                  <a:srgbClr val="D6E4EF"/>
                </a:solidFill>
                <a:latin typeface="Consolas"/>
              </a:rPr>
              <a:t>BEGIN</a:t>
            </a:r>
          </a:p>
          <a:p>
            <a:pPr algn="l">
              <a:lnSpc>
                <a:spcPct val="98000"/>
              </a:lnSpc>
            </a:pPr>
            <a:r>
              <a:rPr sz="830" b="0" i="0">
                <a:solidFill>
                  <a:srgbClr val="D6E4EF"/>
                </a:solidFill>
                <a:latin typeface="Consolas"/>
              </a:rPr>
              <a:t>  IF OLD.status &lt;&gt; NEW.status THEN</a:t>
            </a:r>
          </a:p>
          <a:p>
            <a:pPr algn="l">
              <a:lnSpc>
                <a:spcPct val="98000"/>
              </a:lnSpc>
            </a:pPr>
            <a:r>
              <a:rPr sz="830" b="0" i="0">
                <a:solidFill>
                  <a:srgbClr val="D6E4EF"/>
                </a:solidFill>
                <a:latin typeface="Consolas"/>
              </a:rPr>
              <a:t>    INSERT INTO item_status_history ...</a:t>
            </a:r>
          </a:p>
          <a:p>
            <a:pPr algn="l">
              <a:lnSpc>
                <a:spcPct val="98000"/>
              </a:lnSpc>
            </a:pPr>
            <a:r>
              <a:rPr sz="830" b="0" i="0">
                <a:solidFill>
                  <a:srgbClr val="D6E4EF"/>
                </a:solidFill>
                <a:latin typeface="Consolas"/>
              </a:rPr>
              <a:t>  END IF;</a:t>
            </a:r>
          </a:p>
          <a:p>
            <a:pPr algn="l">
              <a:lnSpc>
                <a:spcPct val="98000"/>
              </a:lnSpc>
            </a:pPr>
            <a:r>
              <a:rPr sz="830" b="0" i="0">
                <a:solidFill>
                  <a:srgbClr val="D6E4EF"/>
                </a:solidFill>
                <a:latin typeface="Consolas"/>
              </a:rPr>
              <a:t>END</a:t>
            </a:r>
          </a:p>
        </p:txBody>
      </p:sp>
      <p:sp>
        <p:nvSpPr>
          <p:cNvPr id="17" name="TextBox 16"/>
          <p:cNvSpPr txBox="1"/>
          <p:nvPr/>
        </p:nvSpPr>
        <p:spPr>
          <a:xfrm>
            <a:off x="6190488" y="3273552"/>
            <a:ext cx="5029200" cy="256032"/>
          </a:xfrm>
          <a:prstGeom prst="rect">
            <a:avLst/>
          </a:prstGeom>
          <a:noFill/>
        </p:spPr>
        <p:txBody>
          <a:bodyPr wrap="square" lIns="0" rIns="0" tIns="0" bIns="0" anchor="t">
            <a:spAutoFit/>
          </a:bodyPr>
          <a:lstStyle/>
          <a:p>
            <a:pPr algn="l">
              <a:lnSpc>
                <a:spcPct val="105000"/>
              </a:lnSpc>
            </a:pPr>
            <a:r>
              <a:rPr sz="900" b="1" i="0">
                <a:solidFill>
                  <a:srgbClr val="C77D00"/>
                </a:solidFill>
                <a:latin typeface="Consolas"/>
              </a:rPr>
              <a:t>GROUP BY  ·  dashboard counters</a:t>
            </a:r>
          </a:p>
        </p:txBody>
      </p:sp>
      <p:sp>
        <p:nvSpPr>
          <p:cNvPr id="18" name="Rounded Rectangle 17"/>
          <p:cNvSpPr/>
          <p:nvPr/>
        </p:nvSpPr>
        <p:spPr>
          <a:xfrm>
            <a:off x="6190488" y="3529584"/>
            <a:ext cx="5330952" cy="13716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73368" y="3639312"/>
            <a:ext cx="5001768" cy="1152144"/>
          </a:xfrm>
          <a:prstGeom prst="rect">
            <a:avLst/>
          </a:prstGeom>
          <a:noFill/>
        </p:spPr>
        <p:txBody>
          <a:bodyPr wrap="square" lIns="0" rIns="0" tIns="0" bIns="0" anchor="ctr">
            <a:spAutoFit/>
          </a:bodyPr>
          <a:lstStyle/>
          <a:p>
            <a:pPr algn="l">
              <a:lnSpc>
                <a:spcPct val="98000"/>
              </a:lnSpc>
            </a:pPr>
            <a:r>
              <a:rPr sz="830" b="0" i="0">
                <a:solidFill>
                  <a:srgbClr val="D6E4EF"/>
                </a:solidFill>
                <a:latin typeface="Consolas"/>
              </a:rPr>
              <a:t>SELECT status, COUNT(*) AS total</a:t>
            </a:r>
          </a:p>
          <a:p>
            <a:pPr algn="l">
              <a:lnSpc>
                <a:spcPct val="98000"/>
              </a:lnSpc>
            </a:pPr>
            <a:r>
              <a:rPr sz="830" b="0" i="0">
                <a:solidFill>
                  <a:srgbClr val="D6E4EF"/>
                </a:solidFill>
                <a:latin typeface="Consolas"/>
              </a:rPr>
              <a:t>FROM items</a:t>
            </a:r>
          </a:p>
          <a:p>
            <a:pPr algn="l">
              <a:lnSpc>
                <a:spcPct val="98000"/>
              </a:lnSpc>
            </a:pPr>
            <a:r>
              <a:rPr sz="830" b="0" i="0">
                <a:solidFill>
                  <a:srgbClr val="D6E4EF"/>
                </a:solidFill>
                <a:latin typeface="Consolas"/>
              </a:rPr>
              <a:t>GROUP BY status;</a:t>
            </a:r>
          </a:p>
          <a:p>
            <a:pPr algn="l">
              <a:lnSpc>
                <a:spcPct val="98000"/>
              </a:lnSpc>
            </a:pPr>
            <a:r>
              <a:rPr sz="830" b="0" i="0">
                <a:solidFill>
                  <a:srgbClr val="D6E4EF"/>
                </a:solidFill>
                <a:latin typeface="Consolas"/>
              </a:rPr>
              <a:t>-- 7 lost, 7 found, 2 pending claims,</a:t>
            </a:r>
          </a:p>
          <a:p>
            <a:pPr algn="l">
              <a:lnSpc>
                <a:spcPct val="98000"/>
              </a:lnSpc>
            </a:pPr>
            <a:r>
              <a:rPr sz="830" b="0" i="0">
                <a:solidFill>
                  <a:srgbClr val="D6E4EF"/>
                </a:solidFill>
                <a:latin typeface="Consolas"/>
              </a:rPr>
              <a:t>-- 1 recovered in the seed data</a:t>
            </a:r>
          </a:p>
        </p:txBody>
      </p:sp>
      <p:sp>
        <p:nvSpPr>
          <p:cNvPr id="20" name="Rounded Rectangle 19"/>
          <p:cNvSpPr/>
          <p:nvPr/>
        </p:nvSpPr>
        <p:spPr>
          <a:xfrm>
            <a:off x="658368" y="5120640"/>
            <a:ext cx="10874959" cy="86868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230368"/>
            <a:ext cx="10326319" cy="658368"/>
          </a:xfrm>
          <a:prstGeom prst="rect">
            <a:avLst/>
          </a:prstGeom>
          <a:noFill/>
        </p:spPr>
        <p:txBody>
          <a:bodyPr wrap="square" lIns="0" rIns="0" tIns="0" bIns="0" anchor="t">
            <a:spAutoFit/>
          </a:bodyPr>
          <a:lstStyle/>
          <a:p>
            <a:pPr algn="l">
              <a:lnSpc>
                <a:spcPct val="130000"/>
              </a:lnSpc>
            </a:pPr>
            <a:r>
              <a:rPr sz="1050" b="0" i="0">
                <a:solidFill>
                  <a:srgbClr val="1F2A37"/>
                </a:solidFill>
                <a:latin typeface="Segoe UI"/>
              </a:rPr>
              <a:t>The LEFT JOIN keeps a lost report even when it has no found row — an inner join would silently drop half the data. The view recomputes on every query, so no match is ever stale, and the trigger makes the audit row impossible to forget.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Transactions: the claim workflow</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One atomic unit of work — the ACID showcase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17</a:t>
            </a:r>
          </a:p>
        </p:txBody>
      </p:sp>
      <p:sp>
        <p:nvSpPr>
          <p:cNvPr id="8" name="Rounded Rectangle 7"/>
          <p:cNvSpPr/>
          <p:nvPr/>
        </p:nvSpPr>
        <p:spPr>
          <a:xfrm>
            <a:off x="658368" y="1627632"/>
            <a:ext cx="6172200" cy="224028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1737360"/>
            <a:ext cx="5843016" cy="2020824"/>
          </a:xfrm>
          <a:prstGeom prst="rect">
            <a:avLst/>
          </a:prstGeom>
          <a:noFill/>
        </p:spPr>
        <p:txBody>
          <a:bodyPr wrap="square" lIns="0" rIns="0" tIns="0" bIns="0" anchor="ctr">
            <a:spAutoFit/>
          </a:bodyPr>
          <a:lstStyle/>
          <a:p>
            <a:pPr algn="l">
              <a:lnSpc>
                <a:spcPct val="98000"/>
              </a:lnSpc>
            </a:pPr>
            <a:r>
              <a:rPr sz="880" b="0" i="0">
                <a:solidFill>
                  <a:srgbClr val="D6E4EF"/>
                </a:solidFill>
                <a:latin typeface="Consolas"/>
              </a:rPr>
              <a:t>connection.setAutoCommit(false);</a:t>
            </a:r>
          </a:p>
          <a:p>
            <a:pPr algn="l">
              <a:lnSpc>
                <a:spcPct val="98000"/>
              </a:lnSpc>
            </a:pPr>
          </a:p>
          <a:p>
            <a:pPr algn="l">
              <a:lnSpc>
                <a:spcPct val="98000"/>
              </a:lnSpc>
            </a:pPr>
            <a:r>
              <a:rPr sz="880" b="0" i="0">
                <a:solidFill>
                  <a:srgbClr val="D6E4EF"/>
                </a:solidFill>
                <a:latin typeface="Consolas"/>
              </a:rPr>
              <a:t>// 1. the claim becomes APPROVED</a:t>
            </a:r>
          </a:p>
          <a:p>
            <a:pPr algn="l">
              <a:lnSpc>
                <a:spcPct val="98000"/>
              </a:lnSpc>
            </a:pPr>
            <a:r>
              <a:rPr sz="880" b="0" i="0">
                <a:solidFill>
                  <a:srgbClr val="D6E4EF"/>
                </a:solidFill>
                <a:latin typeface="Consolas"/>
              </a:rPr>
              <a:t>UPDATE claims SET status='APPROVED', verified_by=?,</a:t>
            </a:r>
          </a:p>
          <a:p>
            <a:pPr algn="l">
              <a:lnSpc>
                <a:spcPct val="98000"/>
              </a:lnSpc>
            </a:pPr>
            <a:r>
              <a:rPr sz="880" b="0" i="0">
                <a:solidFill>
                  <a:srgbClr val="D6E4EF"/>
                </a:solidFill>
                <a:latin typeface="Consolas"/>
              </a:rPr>
              <a:t>       verified_at=NOW() WHERE claim_id=?;</a:t>
            </a:r>
          </a:p>
          <a:p>
            <a:pPr algn="l">
              <a:lnSpc>
                <a:spcPct val="98000"/>
              </a:lnSpc>
            </a:pPr>
          </a:p>
          <a:p>
            <a:pPr algn="l">
              <a:lnSpc>
                <a:spcPct val="98000"/>
              </a:lnSpc>
            </a:pPr>
            <a:r>
              <a:rPr sz="880" b="0" i="0">
                <a:solidFill>
                  <a:srgbClr val="D6E4EF"/>
                </a:solidFill>
                <a:latin typeface="Consolas"/>
              </a:rPr>
              <a:t>// 2. the item is reserved</a:t>
            </a:r>
          </a:p>
          <a:p>
            <a:pPr algn="l">
              <a:lnSpc>
                <a:spcPct val="98000"/>
              </a:lnSpc>
            </a:pPr>
            <a:r>
              <a:rPr sz="880" b="0" i="0">
                <a:solidFill>
                  <a:srgbClr val="D6E4EF"/>
                </a:solidFill>
                <a:latin typeface="Consolas"/>
              </a:rPr>
              <a:t>UPDATE items SET status='CLAIMED' WHERE item_id=?;</a:t>
            </a:r>
          </a:p>
          <a:p>
            <a:pPr algn="l">
              <a:lnSpc>
                <a:spcPct val="98000"/>
              </a:lnSpc>
            </a:pPr>
          </a:p>
          <a:p>
            <a:pPr algn="l">
              <a:lnSpc>
                <a:spcPct val="98000"/>
              </a:lnSpc>
            </a:pPr>
            <a:r>
              <a:rPr sz="880" b="0" i="0">
                <a:solidFill>
                  <a:srgbClr val="D6E4EF"/>
                </a:solidFill>
                <a:latin typeface="Consolas"/>
              </a:rPr>
              <a:t>// 3. every competing PENDING claim is closed</a:t>
            </a:r>
          </a:p>
          <a:p>
            <a:pPr algn="l">
              <a:lnSpc>
                <a:spcPct val="98000"/>
              </a:lnSpc>
            </a:pPr>
            <a:r>
              <a:rPr sz="880" b="0" i="0">
                <a:solidFill>
                  <a:srgbClr val="D6E4EF"/>
                </a:solidFill>
                <a:latin typeface="Consolas"/>
              </a:rPr>
              <a:t>UPDATE claims SET status='REJECTED'</a:t>
            </a:r>
          </a:p>
          <a:p>
            <a:pPr algn="l">
              <a:lnSpc>
                <a:spcPct val="98000"/>
              </a:lnSpc>
            </a:pPr>
            <a:r>
              <a:rPr sz="880" b="0" i="0">
                <a:solidFill>
                  <a:srgbClr val="D6E4EF"/>
                </a:solidFill>
                <a:latin typeface="Consolas"/>
              </a:rPr>
              <a:t> WHERE item_id=? AND claim_id&lt;&gt;? AND status='PENDING';</a:t>
            </a:r>
          </a:p>
          <a:p>
            <a:pPr algn="l">
              <a:lnSpc>
                <a:spcPct val="98000"/>
              </a:lnSpc>
            </a:pPr>
          </a:p>
          <a:p>
            <a:pPr algn="l">
              <a:lnSpc>
                <a:spcPct val="98000"/>
              </a:lnSpc>
            </a:pPr>
            <a:r>
              <a:rPr sz="880" b="0" i="0">
                <a:solidFill>
                  <a:srgbClr val="D6E4EF"/>
                </a:solidFill>
                <a:latin typeface="Consolas"/>
              </a:rPr>
              <a:t>connection.commit();     // or rollback() on any failure</a:t>
            </a:r>
          </a:p>
        </p:txBody>
      </p:sp>
      <p:graphicFrame>
        <p:nvGraphicFramePr>
          <p:cNvPr id="10" name="Table 9"/>
          <p:cNvGraphicFramePr>
            <a:graphicFrameLocks noGrp="1"/>
          </p:cNvGraphicFramePr>
          <p:nvPr/>
        </p:nvGraphicFramePr>
        <p:xfrm>
          <a:off x="7104888" y="1700784"/>
          <a:ext cx="4434838" cy="1828800"/>
        </p:xfrm>
        <a:graphic>
          <a:graphicData uri="http://schemas.openxmlformats.org/drawingml/2006/table">
            <a:tbl>
              <a:tblPr/>
              <a:tblGrid>
                <a:gridCol w="1862632"/>
                <a:gridCol w="1286103"/>
                <a:gridCol w="1286103"/>
              </a:tblGrid>
              <a:tr h="457200">
                <a:tc>
                  <a:txBody>
                    <a:bodyPr wrap="square"/>
                    <a:lstStyle/>
                    <a:p>
                      <a:pPr algn="l">
                        <a:lnSpc>
                          <a:spcPct val="95000"/>
                        </a:lnSpc>
                      </a:pPr>
                      <a:r>
                        <a:rPr sz="950" b="1" i="0">
                          <a:solidFill>
                            <a:srgbClr val="FFFFFF"/>
                          </a:solidFill>
                          <a:latin typeface="Segoe UI"/>
                        </a:rPr>
                        <a:t>Row</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950" b="1" i="0">
                          <a:solidFill>
                            <a:srgbClr val="FFFFFF"/>
                          </a:solidFill>
                          <a:latin typeface="Segoe UI"/>
                        </a:rPr>
                        <a:t>Before</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950" b="1" i="0">
                          <a:solidFill>
                            <a:srgbClr val="FFFFFF"/>
                          </a:solidFill>
                          <a:latin typeface="Segoe UI"/>
                        </a:rPr>
                        <a:t>After</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457200">
                <a:tc>
                  <a:txBody>
                    <a:bodyPr wrap="square"/>
                    <a:lstStyle/>
                    <a:p>
                      <a:pPr algn="l">
                        <a:lnSpc>
                          <a:spcPct val="95000"/>
                        </a:lnSpc>
                      </a:pPr>
                      <a:r>
                        <a:rPr sz="950" b="0" i="0">
                          <a:solidFill>
                            <a:srgbClr val="1F2A37"/>
                          </a:solidFill>
                          <a:latin typeface="Segoe UI"/>
                        </a:rPr>
                        <a:t>Claim 3</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50" b="0" i="0">
                          <a:solidFill>
                            <a:srgbClr val="1F2A37"/>
                          </a:solidFill>
                          <a:latin typeface="Segoe UI"/>
                        </a:rPr>
                        <a:t>PENDING</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50" b="0" i="0">
                          <a:solidFill>
                            <a:srgbClr val="1F2A37"/>
                          </a:solidFill>
                          <a:latin typeface="Segoe UI"/>
                        </a:rPr>
                        <a:t>APPROVED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457200">
                <a:tc>
                  <a:txBody>
                    <a:bodyPr wrap="square"/>
                    <a:lstStyle/>
                    <a:p>
                      <a:pPr algn="l">
                        <a:lnSpc>
                          <a:spcPct val="95000"/>
                        </a:lnSpc>
                      </a:pPr>
                      <a:r>
                        <a:rPr sz="950" b="0" i="0">
                          <a:solidFill>
                            <a:srgbClr val="1F2A37"/>
                          </a:solidFill>
                          <a:latin typeface="Segoe UI"/>
                        </a:rPr>
                        <a:t>Claim 2 (same item)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50" b="0" i="0">
                          <a:solidFill>
                            <a:srgbClr val="1F2A37"/>
                          </a:solidFill>
                          <a:latin typeface="Segoe UI"/>
                        </a:rPr>
                        <a:t>PENDING</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50" b="0" i="0">
                          <a:solidFill>
                            <a:srgbClr val="1F2A37"/>
                          </a:solidFill>
                          <a:latin typeface="Segoe UI"/>
                        </a:rPr>
                        <a:t>REJECTED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457200">
                <a:tc>
                  <a:txBody>
                    <a:bodyPr wrap="square"/>
                    <a:lstStyle/>
                    <a:p>
                      <a:pPr algn="l">
                        <a:lnSpc>
                          <a:spcPct val="95000"/>
                        </a:lnSpc>
                      </a:pPr>
                      <a:r>
                        <a:rPr sz="950" b="0" i="0">
                          <a:solidFill>
                            <a:srgbClr val="1F2A37"/>
                          </a:solidFill>
                          <a:latin typeface="Segoe UI"/>
                        </a:rPr>
                        <a:t>Item 14</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50" b="0" i="0">
                          <a:solidFill>
                            <a:srgbClr val="1F2A37"/>
                          </a:solidFill>
                          <a:latin typeface="Segoe UI"/>
                        </a:rPr>
                        <a:t>OPEN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50" b="0" i="0">
                          <a:solidFill>
                            <a:srgbClr val="1F2A37"/>
                          </a:solidFill>
                          <a:latin typeface="Segoe UI"/>
                        </a:rPr>
                        <a:t>CLAIMED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bl>
          </a:graphicData>
        </a:graphic>
      </p:graphicFrame>
      <p:sp>
        <p:nvSpPr>
          <p:cNvPr id="11" name="Rounded Rectangle 10"/>
          <p:cNvSpPr/>
          <p:nvPr/>
        </p:nvSpPr>
        <p:spPr>
          <a:xfrm>
            <a:off x="7104888" y="3703320"/>
            <a:ext cx="4434840" cy="1572768"/>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87768" y="3822191"/>
            <a:ext cx="4023360" cy="256032"/>
          </a:xfrm>
          <a:prstGeom prst="rect">
            <a:avLst/>
          </a:prstGeom>
          <a:noFill/>
        </p:spPr>
        <p:txBody>
          <a:bodyPr wrap="square" lIns="0" rIns="0" tIns="0" bIns="0" anchor="t">
            <a:spAutoFit/>
          </a:bodyPr>
          <a:lstStyle/>
          <a:p>
            <a:pPr algn="l">
              <a:lnSpc>
                <a:spcPct val="105000"/>
              </a:lnSpc>
            </a:pPr>
            <a:r>
              <a:rPr sz="900" b="1" i="0">
                <a:solidFill>
                  <a:srgbClr val="C0392B"/>
                </a:solidFill>
                <a:latin typeface="Consolas"/>
              </a:rPr>
              <a:t>WHY A TRANSACTION?</a:t>
            </a:r>
          </a:p>
        </p:txBody>
      </p:sp>
      <p:sp>
        <p:nvSpPr>
          <p:cNvPr id="13" name="TextBox 12"/>
          <p:cNvSpPr txBox="1"/>
          <p:nvPr/>
        </p:nvSpPr>
        <p:spPr>
          <a:xfrm>
            <a:off x="7287768" y="4114800"/>
            <a:ext cx="4069080" cy="1051560"/>
          </a:xfrm>
          <a:prstGeom prst="rect">
            <a:avLst/>
          </a:prstGeom>
          <a:noFill/>
        </p:spPr>
        <p:txBody>
          <a:bodyPr wrap="square" lIns="0" rIns="0" tIns="0" bIns="0" anchor="t">
            <a:spAutoFit/>
          </a:bodyPr>
          <a:lstStyle/>
          <a:p>
            <a:pPr algn="l">
              <a:lnSpc>
                <a:spcPct val="125000"/>
              </a:lnSpc>
            </a:pPr>
            <a:r>
              <a:rPr sz="950" b="0" i="0">
                <a:solidFill>
                  <a:srgbClr val="1F2A37"/>
                </a:solidFill>
                <a:latin typeface="Segoe UI"/>
              </a:rPr>
              <a:t>Two staff members may approve two claims on the same item at the same moment. Without atomicity the item could be reserved twice, or an approved claim could point at an open item. The commit is the only instant at which the three rows become visible together.</a:t>
            </a:r>
          </a:p>
        </p:txBody>
      </p:sp>
      <p:sp>
        <p:nvSpPr>
          <p:cNvPr id="14" name="Rounded Rectangle 13"/>
          <p:cNvSpPr/>
          <p:nvPr/>
        </p:nvSpPr>
        <p:spPr>
          <a:xfrm>
            <a:off x="658368" y="4160520"/>
            <a:ext cx="6172200" cy="1115568"/>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 y="4261104"/>
            <a:ext cx="5669280" cy="237744"/>
          </a:xfrm>
          <a:prstGeom prst="rect">
            <a:avLst/>
          </a:prstGeom>
          <a:noFill/>
        </p:spPr>
        <p:txBody>
          <a:bodyPr wrap="square" lIns="0" rIns="0" tIns="0" bIns="0" anchor="t">
            <a:spAutoFit/>
          </a:bodyPr>
          <a:lstStyle/>
          <a:p>
            <a:pPr algn="l">
              <a:lnSpc>
                <a:spcPct val="105000"/>
              </a:lnSpc>
            </a:pPr>
            <a:r>
              <a:rPr sz="850" b="1" i="0">
                <a:solidFill>
                  <a:srgbClr val="2C7DA0"/>
                </a:solidFill>
                <a:latin typeface="Consolas"/>
              </a:rPr>
              <a:t>THE BOUNDARY  ·  ClaimService.runInTransaction()</a:t>
            </a:r>
          </a:p>
        </p:txBody>
      </p:sp>
      <p:sp>
        <p:nvSpPr>
          <p:cNvPr id="16" name="TextBox 15"/>
          <p:cNvSpPr txBox="1"/>
          <p:nvPr/>
        </p:nvSpPr>
        <p:spPr>
          <a:xfrm>
            <a:off x="896112" y="4535424"/>
            <a:ext cx="5715000" cy="658368"/>
          </a:xfrm>
          <a:prstGeom prst="rect">
            <a:avLst/>
          </a:prstGeom>
          <a:noFill/>
        </p:spPr>
        <p:txBody>
          <a:bodyPr wrap="square" lIns="0" rIns="0" tIns="0" bIns="0" anchor="t">
            <a:spAutoFit/>
          </a:bodyPr>
          <a:lstStyle/>
          <a:p>
            <a:pPr algn="l">
              <a:lnSpc>
                <a:spcPct val="125000"/>
              </a:lnSpc>
            </a:pPr>
            <a:r>
              <a:rPr sz="1000" b="0" i="0">
                <a:solidFill>
                  <a:srgbClr val="1F2A37"/>
                </a:solidFill>
                <a:latin typeface="Segoe UI"/>
              </a:rPr>
              <a:t>auto-commit off → three statements → one commit. Any exception calls rollback(), and all three rows revert together. Reporting an item uses the same pattern for its two inserts.</a:t>
            </a:r>
          </a:p>
        </p:txBody>
      </p:sp>
      <p:sp>
        <p:nvSpPr>
          <p:cNvPr id="17" name="Rounded Rectangle 16"/>
          <p:cNvSpPr/>
          <p:nvPr/>
        </p:nvSpPr>
        <p:spPr>
          <a:xfrm>
            <a:off x="658368" y="5440680"/>
            <a:ext cx="10874959" cy="777240"/>
          </a:xfrm>
          <a:prstGeom prst="roundRect">
            <a:avLst>
              <a:gd name="adj" fmla="val 6000"/>
            </a:avLst>
          </a:prstGeom>
          <a:solidFill>
            <a:srgbClr val="E7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440680"/>
            <a:ext cx="10326319" cy="777240"/>
          </a:xfrm>
          <a:prstGeom prst="rect">
            <a:avLst/>
          </a:prstGeom>
          <a:noFill/>
        </p:spPr>
        <p:txBody>
          <a:bodyPr wrap="square" lIns="0" rIns="0" tIns="0" bIns="0" anchor="ctr">
            <a:spAutoFit/>
          </a:bodyPr>
          <a:lstStyle/>
          <a:p>
            <a:pPr algn="l">
              <a:lnSpc>
                <a:spcPct val="105000"/>
              </a:lnSpc>
            </a:pPr>
            <a:r>
              <a:rPr sz="1100" b="1" i="0">
                <a:solidFill>
                  <a:srgbClr val="1F5C78"/>
                </a:solidFill>
                <a:latin typeface="Segoe UI"/>
              </a:rPr>
              <a:t>A → Atomicity  ·  C → Consistency  ·  I → Isolation  ·  D → Durability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Matching engine</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Candidate filter in SQL, weighted score out of 100</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18</a:t>
            </a:r>
          </a:p>
        </p:txBody>
      </p:sp>
      <p:graphicFrame>
        <p:nvGraphicFramePr>
          <p:cNvPr id="8" name="Table 7"/>
          <p:cNvGraphicFramePr>
            <a:graphicFrameLocks noGrp="1"/>
          </p:cNvGraphicFramePr>
          <p:nvPr/>
        </p:nvGraphicFramePr>
        <p:xfrm>
          <a:off x="658368" y="1645920"/>
          <a:ext cx="5074919" cy="2688336"/>
        </p:xfrm>
        <a:graphic>
          <a:graphicData uri="http://schemas.openxmlformats.org/drawingml/2006/table">
            <a:tbl>
              <a:tblPr/>
              <a:tblGrid>
                <a:gridCol w="4161434"/>
                <a:gridCol w="913485"/>
              </a:tblGrid>
              <a:tr h="384048">
                <a:tc>
                  <a:txBody>
                    <a:bodyPr wrap="square"/>
                    <a:lstStyle/>
                    <a:p>
                      <a:pPr algn="l">
                        <a:lnSpc>
                          <a:spcPct val="95000"/>
                        </a:lnSpc>
                      </a:pPr>
                      <a:r>
                        <a:rPr sz="1050" b="1" i="0">
                          <a:solidFill>
                            <a:srgbClr val="FFFFFF"/>
                          </a:solidFill>
                          <a:latin typeface="Segoe UI"/>
                        </a:rPr>
                        <a:t>Signal</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1050" b="1" i="0">
                          <a:solidFill>
                            <a:srgbClr val="FFFFFF"/>
                          </a:solidFill>
                          <a:latin typeface="Segoe UI"/>
                        </a:rPr>
                        <a:t>Points</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384048">
                <a:tc>
                  <a:txBody>
                    <a:bodyPr wrap="square"/>
                    <a:lstStyle/>
                    <a:p>
                      <a:pPr algn="l">
                        <a:lnSpc>
                          <a:spcPct val="95000"/>
                        </a:lnSpc>
                      </a:pPr>
                      <a:r>
                        <a:rPr sz="1050" b="0" i="0">
                          <a:solidFill>
                            <a:srgbClr val="1F2A37"/>
                          </a:solidFill>
                          <a:latin typeface="Segoe UI"/>
                        </a:rPr>
                        <a:t>Same category</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40</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1050" b="0" i="0">
                          <a:solidFill>
                            <a:srgbClr val="1F2A37"/>
                          </a:solidFill>
                          <a:latin typeface="Segoe UI"/>
                        </a:rPr>
                        <a:t>Same location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30</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84048">
                <a:tc>
                  <a:txBody>
                    <a:bodyPr wrap="square"/>
                    <a:lstStyle/>
                    <a:p>
                      <a:pPr algn="l">
                        <a:lnSpc>
                          <a:spcPct val="95000"/>
                        </a:lnSpc>
                      </a:pPr>
                      <a:r>
                        <a:rPr sz="1050" b="0" i="0">
                          <a:solidFill>
                            <a:srgbClr val="1F2A37"/>
                          </a:solidFill>
                          <a:latin typeface="Segoe UI"/>
                        </a:rPr>
                        <a:t>Reports ≤ 2 days apart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20</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1050" b="0" i="0">
                          <a:solidFill>
                            <a:srgbClr val="1F2A37"/>
                          </a:solidFill>
                          <a:latin typeface="Segoe UI"/>
                        </a:rPr>
                        <a:t>Reports ≤ 7 days apart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12</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84048">
                <a:tc>
                  <a:txBody>
                    <a:bodyPr wrap="square"/>
                    <a:lstStyle/>
                    <a:p>
                      <a:pPr algn="l">
                        <a:lnSpc>
                          <a:spcPct val="95000"/>
                        </a:lnSpc>
                      </a:pPr>
                      <a:r>
                        <a:rPr sz="1050" b="0" i="0">
                          <a:solidFill>
                            <a:srgbClr val="1F2A37"/>
                          </a:solidFill>
                          <a:latin typeface="Segoe UI"/>
                        </a:rPr>
                        <a:t>Other date gap (≤ 30 days)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5</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84048">
                <a:tc>
                  <a:txBody>
                    <a:bodyPr wrap="square"/>
                    <a:lstStyle/>
                    <a:p>
                      <a:pPr algn="l">
                        <a:lnSpc>
                          <a:spcPct val="95000"/>
                        </a:lnSpc>
                      </a:pPr>
                      <a:r>
                        <a:rPr sz="1050" b="0" i="0">
                          <a:solidFill>
                            <a:srgbClr val="1F2A37"/>
                          </a:solidFill>
                          <a:latin typeface="Segoe UI"/>
                        </a:rPr>
                        <a:t>First title word appears in the other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10</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9" name="Rounded Rectangle 8"/>
          <p:cNvSpPr/>
          <p:nvPr/>
        </p:nvSpPr>
        <p:spPr>
          <a:xfrm>
            <a:off x="6099048" y="1645920"/>
            <a:ext cx="5440680" cy="205740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27648" y="1773936"/>
            <a:ext cx="4937760" cy="256032"/>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WORKED EXAMPLE</a:t>
            </a:r>
          </a:p>
        </p:txBody>
      </p:sp>
      <p:sp>
        <p:nvSpPr>
          <p:cNvPr id="11" name="TextBox 10"/>
          <p:cNvSpPr txBox="1"/>
          <p:nvPr/>
        </p:nvSpPr>
        <p:spPr>
          <a:xfrm>
            <a:off x="6327648" y="2084831"/>
            <a:ext cx="5029200" cy="502920"/>
          </a:xfrm>
          <a:prstGeom prst="rect">
            <a:avLst/>
          </a:prstGeom>
          <a:noFill/>
        </p:spPr>
        <p:txBody>
          <a:bodyPr wrap="square" lIns="0" rIns="0" tIns="0" bIns="0" anchor="t">
            <a:spAutoFit/>
          </a:bodyPr>
          <a:lstStyle/>
          <a:p>
            <a:pPr algn="l">
              <a:lnSpc>
                <a:spcPct val="130000"/>
              </a:lnSpc>
            </a:pPr>
            <a:r>
              <a:rPr sz="1050" b="1" i="0">
                <a:solidFill>
                  <a:srgbClr val="1F2A37"/>
                </a:solidFill>
                <a:latin typeface="Segoe UI"/>
              </a:rPr>
              <a:t>“Black Dell laptop charger”  (lost)</a:t>
            </a:r>
          </a:p>
          <a:p>
            <a:pPr algn="l">
              <a:lnSpc>
                <a:spcPct val="130000"/>
              </a:lnSpc>
            </a:pPr>
            <a:r>
              <a:rPr sz="1050" b="1" i="0">
                <a:solidFill>
                  <a:srgbClr val="1F2A37"/>
                </a:solidFill>
                <a:latin typeface="Segoe UI"/>
              </a:rPr>
              <a:t>vs  “Dell 65W charger with black cable”  (found)</a:t>
            </a:r>
          </a:p>
        </p:txBody>
      </p:sp>
      <p:sp>
        <p:nvSpPr>
          <p:cNvPr id="12" name="TextBox 11"/>
          <p:cNvSpPr txBox="1"/>
          <p:nvPr/>
        </p:nvSpPr>
        <p:spPr>
          <a:xfrm>
            <a:off x="6327648" y="2697480"/>
            <a:ext cx="4983480" cy="457200"/>
          </a:xfrm>
          <a:prstGeom prst="rect">
            <a:avLst/>
          </a:prstGeom>
          <a:noFill/>
        </p:spPr>
        <p:txBody>
          <a:bodyPr wrap="square" lIns="0" rIns="0" tIns="0" bIns="0" anchor="t">
            <a:spAutoFit/>
          </a:bodyPr>
          <a:lstStyle/>
          <a:p>
            <a:pPr algn="l">
              <a:lnSpc>
                <a:spcPct val="105000"/>
              </a:lnSpc>
            </a:pPr>
            <a:r>
              <a:rPr sz="1150" b="0" i="0">
                <a:solidFill>
                  <a:srgbClr val="2E7D4F"/>
                </a:solidFill>
                <a:latin typeface="Segoe UI"/>
              </a:rPr>
              <a:t>40 + 30 + 20 + 10  =  </a:t>
            </a:r>
            <a:r>
              <a:rPr sz="1150" b="1" i="0">
                <a:solidFill>
                  <a:srgbClr val="2E7D4F"/>
                </a:solidFill>
                <a:latin typeface="Segoe UI"/>
              </a:rPr>
              <a:t>100 / 100  ·  Very High</a:t>
            </a:r>
          </a:p>
        </p:txBody>
      </p:sp>
      <p:sp>
        <p:nvSpPr>
          <p:cNvPr id="13" name="TextBox 12"/>
          <p:cNvSpPr txBox="1"/>
          <p:nvPr/>
        </p:nvSpPr>
        <p:spPr>
          <a:xfrm>
            <a:off x="6327648" y="3127248"/>
            <a:ext cx="4983480" cy="41148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Same category, same lab, one day apart, title keyword matches.</a:t>
            </a:r>
          </a:p>
        </p:txBody>
      </p:sp>
      <p:sp>
        <p:nvSpPr>
          <p:cNvPr id="14" name="Rounded Rectangle 13"/>
          <p:cNvSpPr/>
          <p:nvPr/>
        </p:nvSpPr>
        <p:spPr>
          <a:xfrm>
            <a:off x="658368" y="3931920"/>
            <a:ext cx="5074920" cy="178308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4059936"/>
            <a:ext cx="4572000" cy="256032"/>
          </a:xfrm>
          <a:prstGeom prst="rect">
            <a:avLst/>
          </a:prstGeom>
          <a:noFill/>
        </p:spPr>
        <p:txBody>
          <a:bodyPr wrap="square" lIns="0" rIns="0" tIns="0" bIns="0" anchor="t">
            <a:spAutoFit/>
          </a:bodyPr>
          <a:lstStyle/>
          <a:p>
            <a:pPr algn="l">
              <a:lnSpc>
                <a:spcPct val="105000"/>
              </a:lnSpc>
            </a:pPr>
            <a:r>
              <a:rPr sz="900" b="1" i="0">
                <a:solidFill>
                  <a:srgbClr val="1F5C78"/>
                </a:solidFill>
                <a:latin typeface="Consolas"/>
              </a:rPr>
              <a:t>CANDIDATE FILTER</a:t>
            </a:r>
          </a:p>
        </p:txBody>
      </p:sp>
      <p:sp>
        <p:nvSpPr>
          <p:cNvPr id="16" name="TextBox 15"/>
          <p:cNvSpPr txBox="1"/>
          <p:nvPr/>
        </p:nvSpPr>
        <p:spPr>
          <a:xfrm>
            <a:off x="877824" y="4370832"/>
            <a:ext cx="4617720" cy="365760"/>
          </a:xfrm>
          <a:prstGeom prst="rect">
            <a:avLst/>
          </a:prstGeom>
          <a:noFill/>
        </p:spPr>
        <p:txBody>
          <a:bodyPr wrap="square" lIns="0" rIns="0" tIns="0" bIns="0">
            <a:spAutoFit/>
          </a:bodyPr>
          <a:lstStyle/>
          <a:p>
            <a:pPr>
              <a:lnSpc>
                <a:spcPct val="105000"/>
              </a:lnSpc>
              <a:spcAft>
                <a:spcPts val="500"/>
              </a:spcAft>
            </a:pPr>
            <a:r>
              <a:rPr sz="1000" b="1">
                <a:solidFill>
                  <a:srgbClr val="2C7DA0"/>
                </a:solidFill>
                <a:latin typeface="Segoe UI"/>
              </a:rPr>
              <a:t>•  </a:t>
            </a:r>
            <a:r>
              <a:rPr sz="1000" b="0" i="0">
                <a:solidFill>
                  <a:srgbClr val="1F2A37"/>
                </a:solidFill>
                <a:latin typeface="Segoe UI"/>
              </a:rPr>
              <a:t>same category_id</a:t>
            </a:r>
          </a:p>
          <a:p>
            <a:pPr>
              <a:lnSpc>
                <a:spcPct val="105000"/>
              </a:lnSpc>
              <a:spcAft>
                <a:spcPts val="500"/>
              </a:spcAft>
            </a:pPr>
            <a:r>
              <a:rPr sz="1000" b="1">
                <a:solidFill>
                  <a:srgbClr val="2C7DA0"/>
                </a:solidFill>
                <a:latin typeface="Segoe UI"/>
              </a:rPr>
              <a:t>•  </a:t>
            </a:r>
            <a:r>
              <a:rPr sz="1000" b="0" i="0">
                <a:solidFill>
                  <a:srgbClr val="1F2A37"/>
                </a:solidFill>
                <a:latin typeface="Segoe UI"/>
              </a:rPr>
              <a:t>same location_id</a:t>
            </a:r>
          </a:p>
          <a:p>
            <a:pPr>
              <a:lnSpc>
                <a:spcPct val="105000"/>
              </a:lnSpc>
              <a:spcAft>
                <a:spcPts val="500"/>
              </a:spcAft>
            </a:pPr>
            <a:r>
              <a:rPr sz="1000" b="1">
                <a:solidFill>
                  <a:srgbClr val="2C7DA0"/>
                </a:solidFill>
                <a:latin typeface="Segoe UI"/>
              </a:rPr>
              <a:t>•  </a:t>
            </a:r>
            <a:r>
              <a:rPr sz="1000" b="0" i="0">
                <a:solidFill>
                  <a:srgbClr val="1F2A37"/>
                </a:solidFill>
                <a:latin typeface="Segoe UI"/>
              </a:rPr>
              <a:t>event dates within 30 days</a:t>
            </a:r>
          </a:p>
          <a:p>
            <a:pPr>
              <a:lnSpc>
                <a:spcPct val="105000"/>
              </a:lnSpc>
              <a:spcAft>
                <a:spcPts val="500"/>
              </a:spcAft>
            </a:pPr>
            <a:r>
              <a:rPr sz="1000" b="1">
                <a:solidFill>
                  <a:srgbClr val="2C7DA0"/>
                </a:solidFill>
                <a:latin typeface="Segoe UI"/>
              </a:rPr>
              <a:t>•  </a:t>
            </a:r>
            <a:r>
              <a:rPr sz="1000" b="0" i="0">
                <a:solidFill>
                  <a:srgbClr val="1F2A37"/>
                </a:solidFill>
                <a:latin typeface="Segoe UI"/>
              </a:rPr>
              <a:t>both items still OPEN or MATCHED</a:t>
            </a:r>
          </a:p>
        </p:txBody>
      </p:sp>
      <p:sp>
        <p:nvSpPr>
          <p:cNvPr id="17" name="Rounded Rectangle 16"/>
          <p:cNvSpPr/>
          <p:nvPr/>
        </p:nvSpPr>
        <p:spPr>
          <a:xfrm>
            <a:off x="6099048" y="3931920"/>
            <a:ext cx="5440680" cy="178308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7648" y="4059936"/>
            <a:ext cx="4937760" cy="256032"/>
          </a:xfrm>
          <a:prstGeom prst="rect">
            <a:avLst/>
          </a:prstGeom>
          <a:noFill/>
        </p:spPr>
        <p:txBody>
          <a:bodyPr wrap="square" lIns="0" rIns="0" tIns="0" bIns="0" anchor="t">
            <a:spAutoFit/>
          </a:bodyPr>
          <a:lstStyle/>
          <a:p>
            <a:pPr algn="l">
              <a:lnSpc>
                <a:spcPct val="105000"/>
              </a:lnSpc>
            </a:pPr>
            <a:r>
              <a:rPr sz="900" b="1" i="0">
                <a:solidFill>
                  <a:srgbClr val="1F5C78"/>
                </a:solidFill>
                <a:latin typeface="Consolas"/>
              </a:rPr>
              <a:t>CONFIDENCE BANDS</a:t>
            </a:r>
          </a:p>
        </p:txBody>
      </p:sp>
      <p:sp>
        <p:nvSpPr>
          <p:cNvPr id="19" name="TextBox 18"/>
          <p:cNvSpPr txBox="1"/>
          <p:nvPr/>
        </p:nvSpPr>
        <p:spPr>
          <a:xfrm>
            <a:off x="6327648" y="4370832"/>
            <a:ext cx="4983480" cy="1188720"/>
          </a:xfrm>
          <a:prstGeom prst="rect">
            <a:avLst/>
          </a:prstGeom>
          <a:noFill/>
        </p:spPr>
        <p:txBody>
          <a:bodyPr wrap="square" lIns="0" rIns="0" tIns="0" bIns="0" anchor="t">
            <a:spAutoFit/>
          </a:bodyPr>
          <a:lstStyle/>
          <a:p>
            <a:pPr algn="l">
              <a:lnSpc>
                <a:spcPct val="125000"/>
              </a:lnSpc>
            </a:pPr>
            <a:r>
              <a:rPr sz="1050" b="0" i="0">
                <a:solidFill>
                  <a:srgbClr val="1F2A37"/>
                </a:solidFill>
                <a:latin typeface="Consolas"/>
              </a:rPr>
              <a:t>≥ 90  Very High</a:t>
            </a:r>
          </a:p>
          <a:p>
            <a:pPr algn="l">
              <a:lnSpc>
                <a:spcPct val="125000"/>
              </a:lnSpc>
            </a:pPr>
            <a:r>
              <a:rPr sz="1050" b="0" i="0">
                <a:solidFill>
                  <a:srgbClr val="1F2A37"/>
                </a:solidFill>
                <a:latin typeface="Consolas"/>
              </a:rPr>
              <a:t>≥ 80  High</a:t>
            </a:r>
          </a:p>
          <a:p>
            <a:pPr algn="l">
              <a:lnSpc>
                <a:spcPct val="125000"/>
              </a:lnSpc>
            </a:pPr>
            <a:r>
              <a:rPr sz="1050" b="0" i="0">
                <a:solidFill>
                  <a:srgbClr val="1F2A37"/>
                </a:solidFill>
                <a:latin typeface="Consolas"/>
              </a:rPr>
              <a:t>≥ 70  Medium</a:t>
            </a:r>
          </a:p>
          <a:p>
            <a:pPr algn="l">
              <a:lnSpc>
                <a:spcPct val="125000"/>
              </a:lnSpc>
            </a:pPr>
            <a:r>
              <a:rPr sz="1050" b="0" i="0">
                <a:solidFill>
                  <a:srgbClr val="1F2A37"/>
                </a:solidFill>
                <a:latin typeface="Consolas"/>
              </a:rPr>
              <a:t>&lt; 70  Low</a:t>
            </a:r>
          </a:p>
        </p:txBody>
      </p:sp>
      <p:sp>
        <p:nvSpPr>
          <p:cNvPr id="20" name="TextBox 19"/>
          <p:cNvSpPr txBox="1"/>
          <p:nvPr/>
        </p:nvSpPr>
        <p:spPr>
          <a:xfrm>
            <a:off x="658368" y="5870448"/>
            <a:ext cx="10874959" cy="320040"/>
          </a:xfrm>
          <a:prstGeom prst="rect">
            <a:avLst/>
          </a:prstGeom>
          <a:noFill/>
        </p:spPr>
        <p:txBody>
          <a:bodyPr wrap="square" lIns="0" rIns="0" tIns="0" bIns="0" anchor="t">
            <a:spAutoFit/>
          </a:bodyPr>
          <a:lstStyle/>
          <a:p>
            <a:pPr algn="l">
              <a:lnSpc>
                <a:spcPct val="105000"/>
              </a:lnSpc>
            </a:pPr>
            <a:r>
              <a:rPr sz="1050" b="0" i="1">
                <a:solidFill>
                  <a:srgbClr val="6B7A8C"/>
                </a:solidFill>
                <a:latin typeface="Segoe UI"/>
              </a:rPr>
              <a:t>The list is a view: computed on demand, never stale, no refresh job to maintain.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1: login and roles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Authentication with hashed passwords and role-based authorisation</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19</a:t>
            </a:r>
          </a:p>
        </p:txBody>
      </p:sp>
      <p:sp>
        <p:nvSpPr>
          <p:cNvPr id="8" name="TextBox 7"/>
          <p:cNvSpPr txBox="1"/>
          <p:nvPr/>
        </p:nvSpPr>
        <p:spPr>
          <a:xfrm>
            <a:off x="658368" y="1627632"/>
            <a:ext cx="5486400" cy="365760"/>
          </a:xfrm>
          <a:prstGeom prst="rect">
            <a:avLst/>
          </a:prstGeom>
          <a:noFill/>
        </p:spPr>
        <p:txBody>
          <a:bodyPr wrap="square" lIns="0" rIns="0" tIns="0" bIns="0">
            <a:spAutoFit/>
          </a:bodyPr>
          <a:lstStyle/>
          <a:p>
            <a:pPr>
              <a:lnSpc>
                <a:spcPct val="105000"/>
              </a:lnSpc>
              <a:spcAft>
                <a:spcPts val="1400"/>
              </a:spcAft>
            </a:pPr>
            <a:r>
              <a:rPr sz="1250" b="1">
                <a:solidFill>
                  <a:srgbClr val="2C7DA0"/>
                </a:solidFill>
                <a:latin typeface="Segoe UI"/>
              </a:rPr>
              <a:t>•  </a:t>
            </a:r>
            <a:r>
              <a:rPr sz="1250" b="0" i="0">
                <a:solidFill>
                  <a:srgbClr val="1F2A37"/>
                </a:solidFill>
                <a:latin typeface="Segoe UI"/>
              </a:rPr>
              <a:t>Passwords stored as </a:t>
            </a:r>
            <a:r>
              <a:rPr sz="1250" b="1" i="0">
                <a:solidFill>
                  <a:srgbClr val="1F2A37"/>
                </a:solidFill>
                <a:latin typeface="Segoe UI"/>
              </a:rPr>
              <a:t>SHA-256 digests</a:t>
            </a:r>
            <a:r>
              <a:rPr sz="1250" b="0" i="0">
                <a:solidFill>
                  <a:srgbClr val="1F2A37"/>
                </a:solidFill>
                <a:latin typeface="Segoe UI"/>
              </a:rPr>
              <a:t>, never plain text.</a:t>
            </a:r>
          </a:p>
          <a:p>
            <a:pPr>
              <a:lnSpc>
                <a:spcPct val="105000"/>
              </a:lnSpc>
              <a:spcAft>
                <a:spcPts val="1400"/>
              </a:spcAft>
            </a:pPr>
            <a:r>
              <a:rPr sz="1250" b="1">
                <a:solidFill>
                  <a:srgbClr val="2C7DA0"/>
                </a:solidFill>
                <a:latin typeface="Segoe UI"/>
              </a:rPr>
              <a:t>•  </a:t>
            </a:r>
            <a:r>
              <a:rPr sz="1250" b="0" i="0">
                <a:solidFill>
                  <a:srgbClr val="1F2A37"/>
                </a:solidFill>
                <a:latin typeface="Segoe UI"/>
              </a:rPr>
              <a:t>Identical error for unknown e-mail and wrong password — </a:t>
            </a:r>
            <a:r>
              <a:rPr sz="1250" b="1" i="0">
                <a:solidFill>
                  <a:srgbClr val="1F2A37"/>
                </a:solidFill>
                <a:latin typeface="Segoe UI"/>
              </a:rPr>
              <a:t>no account enumeration</a:t>
            </a:r>
            <a:r>
              <a:rPr sz="1250" b="0" i="0">
                <a:solidFill>
                  <a:srgbClr val="1F2A37"/>
                </a:solidFill>
                <a:latin typeface="Segoe UI"/>
              </a:rPr>
              <a:t>.</a:t>
            </a:r>
          </a:p>
          <a:p>
            <a:pPr>
              <a:lnSpc>
                <a:spcPct val="105000"/>
              </a:lnSpc>
              <a:spcAft>
                <a:spcPts val="1400"/>
              </a:spcAft>
            </a:pPr>
            <a:r>
              <a:rPr sz="1250" b="1">
                <a:solidFill>
                  <a:srgbClr val="2C7DA0"/>
                </a:solidFill>
                <a:latin typeface="Segoe UI"/>
              </a:rPr>
              <a:t>•  </a:t>
            </a:r>
            <a:r>
              <a:rPr sz="1250" b="0" i="0">
                <a:solidFill>
                  <a:srgbClr val="1F2A37"/>
                </a:solidFill>
                <a:latin typeface="Segoe UI"/>
              </a:rPr>
              <a:t>Session held in SessionContext, cleared on sign-out.</a:t>
            </a:r>
          </a:p>
          <a:p>
            <a:pPr>
              <a:lnSpc>
                <a:spcPct val="105000"/>
              </a:lnSpc>
              <a:spcAft>
                <a:spcPts val="1400"/>
              </a:spcAft>
            </a:pPr>
            <a:r>
              <a:rPr sz="1250" b="1">
                <a:solidFill>
                  <a:srgbClr val="2C7DA0"/>
                </a:solidFill>
                <a:latin typeface="Segoe UI"/>
              </a:rPr>
              <a:t>•  </a:t>
            </a:r>
            <a:r>
              <a:rPr sz="1250" b="0" i="0">
                <a:solidFill>
                  <a:srgbClr val="1F2A37"/>
                </a:solidFill>
                <a:latin typeface="Segoe UI"/>
              </a:rPr>
              <a:t>Authorisation enforced </a:t>
            </a:r>
            <a:r>
              <a:rPr sz="1250" b="1" i="0">
                <a:solidFill>
                  <a:srgbClr val="1F2A37"/>
                </a:solidFill>
                <a:latin typeface="Segoe UI"/>
              </a:rPr>
              <a:t>twice</a:t>
            </a:r>
            <a:r>
              <a:rPr sz="1250" b="0" i="0">
                <a:solidFill>
                  <a:srgbClr val="1F2A37"/>
                </a:solidFill>
                <a:latin typeface="Segoe UI"/>
              </a:rPr>
              <a:t>: hidden buttons and a service-level role check.</a:t>
            </a:r>
          </a:p>
        </p:txBody>
      </p:sp>
      <p:graphicFrame>
        <p:nvGraphicFramePr>
          <p:cNvPr id="9" name="Table 8"/>
          <p:cNvGraphicFramePr>
            <a:graphicFrameLocks noGrp="1"/>
          </p:cNvGraphicFramePr>
          <p:nvPr/>
        </p:nvGraphicFramePr>
        <p:xfrm>
          <a:off x="6419088" y="1627632"/>
          <a:ext cx="5120639" cy="2377440"/>
        </p:xfrm>
        <a:graphic>
          <a:graphicData uri="http://schemas.openxmlformats.org/drawingml/2006/table">
            <a:tbl>
              <a:tblPr/>
              <a:tblGrid>
                <a:gridCol w="2560320"/>
                <a:gridCol w="1126540"/>
                <a:gridCol w="1433779"/>
              </a:tblGrid>
              <a:tr h="475488">
                <a:tc>
                  <a:txBody>
                    <a:bodyPr wrap="square"/>
                    <a:lstStyle/>
                    <a:p>
                      <a:pPr algn="l">
                        <a:lnSpc>
                          <a:spcPct val="95000"/>
                        </a:lnSpc>
                      </a:pPr>
                      <a:r>
                        <a:rPr sz="1050" b="1" i="0">
                          <a:solidFill>
                            <a:srgbClr val="FFFFFF"/>
                          </a:solidFill>
                          <a:latin typeface="Segoe UI"/>
                        </a:rPr>
                        <a:t>Action</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1050" b="1" i="0">
                          <a:solidFill>
                            <a:srgbClr val="FFFFFF"/>
                          </a:solidFill>
                          <a:latin typeface="Segoe UI"/>
                        </a:rPr>
                        <a:t>Student</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1050" b="1" i="0">
                          <a:solidFill>
                            <a:srgbClr val="FFFFFF"/>
                          </a:solidFill>
                          <a:latin typeface="Segoe UI"/>
                        </a:rPr>
                        <a:t>Staff / Admin</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475488">
                <a:tc>
                  <a:txBody>
                    <a:bodyPr wrap="square"/>
                    <a:lstStyle/>
                    <a:p>
                      <a:pPr algn="l">
                        <a:lnSpc>
                          <a:spcPct val="95000"/>
                        </a:lnSpc>
                      </a:pPr>
                      <a:r>
                        <a:rPr sz="1050" b="0" i="0">
                          <a:solidFill>
                            <a:srgbClr val="1F2A37"/>
                          </a:solidFill>
                          <a:latin typeface="Segoe UI"/>
                        </a:rPr>
                        <a:t>Report, search, claim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475488">
                <a:tc>
                  <a:txBody>
                    <a:bodyPr wrap="square"/>
                    <a:lstStyle/>
                    <a:p>
                      <a:pPr algn="l">
                        <a:lnSpc>
                          <a:spcPct val="95000"/>
                        </a:lnSpc>
                      </a:pPr>
                      <a:r>
                        <a:rPr sz="1050" b="0" i="0">
                          <a:solidFill>
                            <a:srgbClr val="1F2A37"/>
                          </a:solidFill>
                          <a:latin typeface="Segoe UI"/>
                        </a:rPr>
                        <a:t>View own claims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475488">
                <a:tc>
                  <a:txBody>
                    <a:bodyPr wrap="square"/>
                    <a:lstStyle/>
                    <a:p>
                      <a:pPr algn="l">
                        <a:lnSpc>
                          <a:spcPct val="95000"/>
                        </a:lnSpc>
                      </a:pPr>
                      <a:r>
                        <a:rPr sz="1050" b="0" i="0">
                          <a:solidFill>
                            <a:srgbClr val="1F2A37"/>
                          </a:solidFill>
                          <a:latin typeface="Segoe UI"/>
                        </a:rPr>
                        <a:t>View all claims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475488">
                <a:tc>
                  <a:txBody>
                    <a:bodyPr wrap="square"/>
                    <a:lstStyle/>
                    <a:p>
                      <a:pPr algn="l">
                        <a:lnSpc>
                          <a:spcPct val="95000"/>
                        </a:lnSpc>
                      </a:pPr>
                      <a:r>
                        <a:rPr sz="1050" b="0" i="0">
                          <a:solidFill>
                            <a:srgbClr val="1F2A37"/>
                          </a:solidFill>
                          <a:latin typeface="Segoe UI"/>
                        </a:rPr>
                        <a:t>Approve / reject / recover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No</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1050" b="0" i="0">
                          <a:solidFill>
                            <a:srgbClr val="1F2A37"/>
                          </a:solidFill>
                          <a:latin typeface="Segoe UI"/>
                        </a:rPr>
                        <a:t>Yes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10" name="Rounded Rectangle 9"/>
          <p:cNvSpPr/>
          <p:nvPr/>
        </p:nvSpPr>
        <p:spPr>
          <a:xfrm>
            <a:off x="658368" y="4206240"/>
            <a:ext cx="5486400" cy="11887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6112" y="4315968"/>
            <a:ext cx="4937760" cy="256032"/>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DEFENCE IN DEPTH</a:t>
            </a:r>
          </a:p>
        </p:txBody>
      </p:sp>
      <p:sp>
        <p:nvSpPr>
          <p:cNvPr id="12" name="TextBox 11"/>
          <p:cNvSpPr txBox="1"/>
          <p:nvPr/>
        </p:nvSpPr>
        <p:spPr>
          <a:xfrm>
            <a:off x="896112" y="4608576"/>
            <a:ext cx="5029200" cy="731520"/>
          </a:xfrm>
          <a:prstGeom prst="rect">
            <a:avLst/>
          </a:prstGeom>
          <a:noFill/>
        </p:spPr>
        <p:txBody>
          <a:bodyPr wrap="square" lIns="0" rIns="0" tIns="0" bIns="0" anchor="t">
            <a:spAutoFit/>
          </a:bodyPr>
          <a:lstStyle/>
          <a:p>
            <a:pPr algn="l">
              <a:lnSpc>
                <a:spcPct val="125000"/>
              </a:lnSpc>
            </a:pPr>
            <a:r>
              <a:rPr sz="1000" b="0" i="0">
                <a:solidFill>
                  <a:srgbClr val="1F2A37"/>
                </a:solidFill>
                <a:latin typeface="Segoe UI"/>
              </a:rPr>
              <a:t>The UI hides the verification buttons. ClaimService.requireVerifier() throws if a student calls the service directly. The database unique key blocks the rest.</a:t>
            </a:r>
          </a:p>
        </p:txBody>
      </p:sp>
      <p:sp>
        <p:nvSpPr>
          <p:cNvPr id="13" name="Rounded Rectangle 12"/>
          <p:cNvSpPr/>
          <p:nvPr/>
        </p:nvSpPr>
        <p:spPr>
          <a:xfrm>
            <a:off x="6419088" y="4187952"/>
            <a:ext cx="5120640" cy="1261872"/>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47688" y="4297680"/>
            <a:ext cx="4663440" cy="256032"/>
          </a:xfrm>
          <a:prstGeom prst="rect">
            <a:avLst/>
          </a:prstGeom>
          <a:noFill/>
        </p:spPr>
        <p:txBody>
          <a:bodyPr wrap="square" lIns="0" rIns="0" tIns="0" bIns="0" anchor="t">
            <a:spAutoFit/>
          </a:bodyPr>
          <a:lstStyle/>
          <a:p>
            <a:pPr algn="l">
              <a:lnSpc>
                <a:spcPct val="105000"/>
              </a:lnSpc>
            </a:pPr>
            <a:r>
              <a:rPr sz="900" b="1" i="0">
                <a:solidFill>
                  <a:srgbClr val="1F5C78"/>
                </a:solidFill>
                <a:latin typeface="Consolas"/>
              </a:rPr>
              <a:t>WHAT HAPPENS ON LOGIN</a:t>
            </a:r>
          </a:p>
        </p:txBody>
      </p:sp>
      <p:sp>
        <p:nvSpPr>
          <p:cNvPr id="15" name="TextBox 14"/>
          <p:cNvSpPr txBox="1"/>
          <p:nvPr/>
        </p:nvSpPr>
        <p:spPr>
          <a:xfrm>
            <a:off x="6647688" y="4590288"/>
            <a:ext cx="4709160" cy="777240"/>
          </a:xfrm>
          <a:prstGeom prst="rect">
            <a:avLst/>
          </a:prstGeom>
          <a:noFill/>
        </p:spPr>
        <p:txBody>
          <a:bodyPr wrap="square" lIns="0" rIns="0" tIns="0" bIns="0" anchor="t">
            <a:spAutoFit/>
          </a:bodyPr>
          <a:lstStyle/>
          <a:p>
            <a:pPr algn="l">
              <a:lnSpc>
                <a:spcPct val="135000"/>
              </a:lnSpc>
            </a:pPr>
            <a:r>
              <a:rPr sz="900" b="0" i="0">
                <a:solidFill>
                  <a:srgbClr val="1F2A37"/>
                </a:solidFill>
                <a:latin typeface="Consolas"/>
              </a:rPr>
              <a:t>digest = SHA-256(password)</a:t>
            </a:r>
          </a:p>
          <a:p>
            <a:pPr algn="l">
              <a:lnSpc>
                <a:spcPct val="135000"/>
              </a:lnSpc>
            </a:pPr>
            <a:r>
              <a:rPr sz="900" b="0" i="0">
                <a:solidFill>
                  <a:srgbClr val="1F2A37"/>
                </a:solidFill>
                <a:latin typeface="Consolas"/>
              </a:rPr>
              <a:t>row    = SELECT * FROM users WHERE email = ?</a:t>
            </a:r>
          </a:p>
          <a:p>
            <a:pPr algn="l">
              <a:lnSpc>
                <a:spcPct val="135000"/>
              </a:lnSpc>
            </a:pPr>
            <a:r>
              <a:rPr sz="900" b="0" i="0">
                <a:solidFill>
                  <a:srgbClr val="1F2A37"/>
                </a:solidFill>
                <a:latin typeface="Consolas"/>
              </a:rPr>
              <a:t>        MessageDigest.isEqual(digest, row.hash)</a:t>
            </a:r>
          </a:p>
          <a:p>
            <a:pPr algn="l">
              <a:lnSpc>
                <a:spcPct val="135000"/>
              </a:lnSpc>
            </a:pPr>
            <a:r>
              <a:rPr sz="900" b="0" i="0">
                <a:solidFill>
                  <a:srgbClr val="1F2A37"/>
                </a:solidFill>
                <a:latin typeface="Consolas"/>
              </a:rPr>
              <a:t>        -&gt;  SessionContext.setCurrentUser(row)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2: reporting an item</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One form, two shapes — the visual equivalent of the Item hierarchy</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20</a:t>
            </a:r>
          </a:p>
        </p:txBody>
      </p:sp>
      <p:sp>
        <p:nvSpPr>
          <p:cNvPr id="8" name="TextBox 7"/>
          <p:cNvSpPr txBox="1"/>
          <p:nvPr/>
        </p:nvSpPr>
        <p:spPr>
          <a:xfrm>
            <a:off x="658368" y="1627632"/>
            <a:ext cx="4892040" cy="365760"/>
          </a:xfrm>
          <a:prstGeom prst="rect">
            <a:avLst/>
          </a:prstGeom>
          <a:noFill/>
        </p:spPr>
        <p:txBody>
          <a:bodyPr wrap="square" lIns="0" rIns="0" tIns="0" bIns="0">
            <a:spAutoFit/>
          </a:bodyPr>
          <a:lstStyle/>
          <a:p>
            <a:pPr>
              <a:lnSpc>
                <a:spcPct val="105000"/>
              </a:lnSpc>
              <a:spcAft>
                <a:spcPts val="1200"/>
              </a:spcAft>
            </a:pPr>
            <a:r>
              <a:rPr sz="1150" b="1">
                <a:solidFill>
                  <a:srgbClr val="2C7DA0"/>
                </a:solidFill>
                <a:latin typeface="Segoe UI"/>
              </a:rPr>
              <a:t>•  </a:t>
            </a:r>
            <a:r>
              <a:rPr sz="1150" b="0" i="0">
                <a:solidFill>
                  <a:srgbClr val="1F2A37"/>
                </a:solidFill>
                <a:latin typeface="Segoe UI"/>
              </a:rPr>
              <a:t>The type switch changes </a:t>
            </a:r>
            <a:r>
              <a:rPr sz="1150" b="1" i="0">
                <a:solidFill>
                  <a:srgbClr val="1F2A37"/>
                </a:solidFill>
                <a:latin typeface="Segoe UI"/>
              </a:rPr>
              <a:t>only</a:t>
            </a:r>
            <a:r>
              <a:rPr sz="1150" b="0" i="0">
                <a:solidFill>
                  <a:srgbClr val="1F2A37"/>
                </a:solidFill>
                <a:latin typeface="Segoe UI"/>
              </a:rPr>
              <a:t> the type-specific fields (CardLayout).</a:t>
            </a:r>
          </a:p>
          <a:p>
            <a:pPr>
              <a:lnSpc>
                <a:spcPct val="105000"/>
              </a:lnSpc>
              <a:spcAft>
                <a:spcPts val="1200"/>
              </a:spcAft>
            </a:pPr>
            <a:r>
              <a:rPr sz="1150" b="1">
                <a:solidFill>
                  <a:srgbClr val="2C7DA0"/>
                </a:solidFill>
                <a:latin typeface="Segoe UI"/>
              </a:rPr>
              <a:t>•  </a:t>
            </a:r>
            <a:r>
              <a:rPr sz="1150" b="1" i="0">
                <a:solidFill>
                  <a:srgbClr val="1F2A37"/>
                </a:solidFill>
                <a:latin typeface="Segoe UI"/>
              </a:rPr>
              <a:t>Lost</a:t>
            </a:r>
            <a:r>
              <a:rPr sz="1150" b="0" i="0">
                <a:solidFill>
                  <a:srgbClr val="1F2A37"/>
                </a:solidFill>
                <a:latin typeface="Segoe UI"/>
              </a:rPr>
              <a:t> → contact, reward, urgency.</a:t>
            </a:r>
          </a:p>
          <a:p>
            <a:pPr>
              <a:lnSpc>
                <a:spcPct val="105000"/>
              </a:lnSpc>
              <a:spcAft>
                <a:spcPts val="1200"/>
              </a:spcAft>
            </a:pPr>
            <a:r>
              <a:rPr sz="1150" b="1">
                <a:solidFill>
                  <a:srgbClr val="2C7DA0"/>
                </a:solidFill>
                <a:latin typeface="Segoe UI"/>
              </a:rPr>
              <a:t>•  </a:t>
            </a:r>
            <a:r>
              <a:rPr sz="1150" b="1" i="0">
                <a:solidFill>
                  <a:srgbClr val="1F2A37"/>
                </a:solidFill>
                <a:latin typeface="Segoe UI"/>
              </a:rPr>
              <a:t>Found</a:t>
            </a:r>
            <a:r>
              <a:rPr sz="1150" b="0" i="0">
                <a:solidFill>
                  <a:srgbClr val="1F2A37"/>
                </a:solidFill>
                <a:latin typeface="Segoe UI"/>
              </a:rPr>
              <a:t> → storage location, handed to security, finder notes.</a:t>
            </a:r>
          </a:p>
          <a:p>
            <a:pPr>
              <a:lnSpc>
                <a:spcPct val="105000"/>
              </a:lnSpc>
              <a:spcAft>
                <a:spcPts val="1200"/>
              </a:spcAft>
            </a:pPr>
            <a:r>
              <a:rPr sz="1150" b="1">
                <a:solidFill>
                  <a:srgbClr val="2C7DA0"/>
                </a:solidFill>
                <a:latin typeface="Segoe UI"/>
              </a:rPr>
              <a:t>•  </a:t>
            </a:r>
            <a:r>
              <a:rPr sz="1150" b="0" i="0">
                <a:solidFill>
                  <a:srgbClr val="1F2A37"/>
                </a:solidFill>
                <a:latin typeface="Segoe UI"/>
              </a:rPr>
              <a:t>Validation in ItemService: lengths, required lookups, no future date, reward ≥ 0.</a:t>
            </a:r>
          </a:p>
          <a:p>
            <a:pPr>
              <a:lnSpc>
                <a:spcPct val="105000"/>
              </a:lnSpc>
              <a:spcAft>
                <a:spcPts val="1200"/>
              </a:spcAft>
            </a:pPr>
            <a:r>
              <a:rPr sz="1150" b="1">
                <a:solidFill>
                  <a:srgbClr val="2C7DA0"/>
                </a:solidFill>
                <a:latin typeface="Segoe UI"/>
              </a:rPr>
              <a:t>•  </a:t>
            </a:r>
            <a:r>
              <a:rPr sz="1150" b="0" i="0">
                <a:solidFill>
                  <a:srgbClr val="1F2A37"/>
                </a:solidFill>
                <a:latin typeface="Segoe UI"/>
              </a:rPr>
              <a:t>One report = </a:t>
            </a:r>
            <a:r>
              <a:rPr sz="1150" b="1" i="0">
                <a:solidFill>
                  <a:srgbClr val="1F2A37"/>
                </a:solidFill>
                <a:latin typeface="Segoe UI"/>
              </a:rPr>
              <a:t>two INSERTs in one transaction</a:t>
            </a:r>
            <a:r>
              <a:rPr sz="1150" b="0" i="0">
                <a:solidFill>
                  <a:srgbClr val="1F2A37"/>
                </a:solidFill>
                <a:latin typeface="Segoe UI"/>
              </a:rPr>
              <a:t> (items + subtype row).</a:t>
            </a:r>
          </a:p>
        </p:txBody>
      </p:sp>
      <p:sp>
        <p:nvSpPr>
          <p:cNvPr id="9" name="Rounded Rectangle 8"/>
          <p:cNvSpPr/>
          <p:nvPr/>
        </p:nvSpPr>
        <p:spPr>
          <a:xfrm>
            <a:off x="5806440" y="1609344"/>
            <a:ext cx="5715000" cy="3977639"/>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06440" y="3287268"/>
            <a:ext cx="571500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1" name="TextBox 10"/>
          <p:cNvSpPr txBox="1"/>
          <p:nvPr/>
        </p:nvSpPr>
        <p:spPr>
          <a:xfrm>
            <a:off x="5806440" y="3598163"/>
            <a:ext cx="571500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Report an item form</a:t>
            </a:r>
          </a:p>
        </p:txBody>
      </p:sp>
      <p:sp>
        <p:nvSpPr>
          <p:cNvPr id="12" name="TextBox 11"/>
          <p:cNvSpPr txBox="1"/>
          <p:nvPr/>
        </p:nvSpPr>
        <p:spPr>
          <a:xfrm>
            <a:off x="5806440" y="3890772"/>
            <a:ext cx="571500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Insert screenshot at 1280 × 800</a:t>
            </a:r>
          </a:p>
        </p:txBody>
      </p:sp>
      <p:sp>
        <p:nvSpPr>
          <p:cNvPr id="13" name="TextBox 12"/>
          <p:cNvSpPr txBox="1"/>
          <p:nvPr/>
        </p:nvSpPr>
        <p:spPr>
          <a:xfrm>
            <a:off x="658368" y="5394960"/>
            <a:ext cx="4892040" cy="822960"/>
          </a:xfrm>
          <a:prstGeom prst="rect">
            <a:avLst/>
          </a:prstGeom>
          <a:noFill/>
        </p:spPr>
        <p:txBody>
          <a:bodyPr wrap="square" lIns="0" rIns="0" tIns="0" bIns="0" anchor="t">
            <a:spAutoFit/>
          </a:bodyPr>
          <a:lstStyle/>
          <a:p>
            <a:pPr algn="l">
              <a:lnSpc>
                <a:spcPct val="130000"/>
              </a:lnSpc>
            </a:pPr>
            <a:r>
              <a:rPr sz="950" b="0" i="1">
                <a:solidFill>
                  <a:srgbClr val="6B7A8C"/>
                </a:solidFill>
                <a:latin typeface="Segoe UI"/>
              </a:rPr>
              <a:t>The service receives either a LostItem or a FoundItem through the same method.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3: search and filter</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Five filters, one parameterised query</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21</a:t>
            </a:r>
          </a:p>
        </p:txBody>
      </p:sp>
      <p:sp>
        <p:nvSpPr>
          <p:cNvPr id="8" name="TextBox 7"/>
          <p:cNvSpPr txBox="1"/>
          <p:nvPr/>
        </p:nvSpPr>
        <p:spPr>
          <a:xfrm>
            <a:off x="658368" y="1627632"/>
            <a:ext cx="4892040" cy="365760"/>
          </a:xfrm>
          <a:prstGeom prst="rect">
            <a:avLst/>
          </a:prstGeom>
          <a:noFill/>
        </p:spPr>
        <p:txBody>
          <a:bodyPr wrap="square" lIns="0" rIns="0" tIns="0" bIns="0">
            <a:spAutoFit/>
          </a:bodyPr>
          <a:lstStyle/>
          <a:p>
            <a:pPr>
              <a:lnSpc>
                <a:spcPct val="105000"/>
              </a:lnSpc>
              <a:spcAft>
                <a:spcPts val="1200"/>
              </a:spcAft>
            </a:pPr>
            <a:r>
              <a:rPr sz="1150" b="1">
                <a:solidFill>
                  <a:srgbClr val="2C7DA0"/>
                </a:solidFill>
                <a:latin typeface="Segoe UI"/>
              </a:rPr>
              <a:t>•  </a:t>
            </a:r>
            <a:r>
              <a:rPr sz="1150" b="0" i="0">
                <a:solidFill>
                  <a:srgbClr val="1F2A37"/>
                </a:solidFill>
                <a:latin typeface="Segoe UI"/>
              </a:rPr>
              <a:t>Filters: </a:t>
            </a:r>
            <a:r>
              <a:rPr sz="1150" b="1" i="0">
                <a:solidFill>
                  <a:srgbClr val="1F2A37"/>
                </a:solidFill>
                <a:latin typeface="Segoe UI"/>
              </a:rPr>
              <a:t>keyword · category · location · report type · status</a:t>
            </a:r>
            <a:r>
              <a:rPr sz="1150" b="0" i="0">
                <a:solidFill>
                  <a:srgbClr val="1F2A37"/>
                </a:solidFill>
                <a:latin typeface="Segoe UI"/>
              </a:rPr>
              <a:t>.</a:t>
            </a:r>
          </a:p>
          <a:p>
            <a:pPr>
              <a:lnSpc>
                <a:spcPct val="105000"/>
              </a:lnSpc>
              <a:spcAft>
                <a:spcPts val="1200"/>
              </a:spcAft>
            </a:pPr>
            <a:r>
              <a:rPr sz="1150" b="1">
                <a:solidFill>
                  <a:srgbClr val="2C7DA0"/>
                </a:solidFill>
                <a:latin typeface="Segoe UI"/>
              </a:rPr>
              <a:t>•  </a:t>
            </a:r>
            <a:r>
              <a:rPr sz="1150" b="0" i="0">
                <a:solidFill>
                  <a:srgbClr val="1F2A37"/>
                </a:solidFill>
                <a:latin typeface="Segoe UI"/>
              </a:rPr>
              <a:t>Any combination, executed as </a:t>
            </a:r>
            <a:r>
              <a:rPr sz="1150" b="1" i="0">
                <a:solidFill>
                  <a:srgbClr val="1F2A37"/>
                </a:solidFill>
                <a:latin typeface="Segoe UI"/>
              </a:rPr>
              <a:t>one dynamic SQL query</a:t>
            </a:r>
            <a:r>
              <a:rPr sz="1150" b="0" i="0">
                <a:solidFill>
                  <a:srgbClr val="1F2A37"/>
                </a:solidFill>
                <a:latin typeface="Segoe UI"/>
              </a:rPr>
              <a:t>.</a:t>
            </a:r>
          </a:p>
          <a:p>
            <a:pPr>
              <a:lnSpc>
                <a:spcPct val="105000"/>
              </a:lnSpc>
              <a:spcAft>
                <a:spcPts val="1200"/>
              </a:spcAft>
            </a:pPr>
            <a:r>
              <a:rPr sz="1150" b="1">
                <a:solidFill>
                  <a:srgbClr val="2C7DA0"/>
                </a:solidFill>
                <a:latin typeface="Segoe UI"/>
              </a:rPr>
              <a:t>•  </a:t>
            </a:r>
            <a:r>
              <a:rPr sz="1150" b="0" i="0">
                <a:solidFill>
                  <a:srgbClr val="1F2A37"/>
                </a:solidFill>
                <a:latin typeface="Segoe UI"/>
              </a:rPr>
              <a:t>ItemFilter carries the criteria from UI to DAO.</a:t>
            </a:r>
          </a:p>
          <a:p>
            <a:pPr>
              <a:lnSpc>
                <a:spcPct val="105000"/>
              </a:lnSpc>
              <a:spcAft>
                <a:spcPts val="1200"/>
              </a:spcAft>
            </a:pPr>
            <a:r>
              <a:rPr sz="1150" b="1">
                <a:solidFill>
                  <a:srgbClr val="2C7DA0"/>
                </a:solidFill>
                <a:latin typeface="Segoe UI"/>
              </a:rPr>
              <a:t>•  </a:t>
            </a:r>
            <a:r>
              <a:rPr sz="1150" b="0" i="0">
                <a:solidFill>
                  <a:srgbClr val="1F2A37"/>
                </a:solidFill>
                <a:latin typeface="Segoe UI"/>
              </a:rPr>
              <a:t>PreparedStatement binding → </a:t>
            </a:r>
            <a:r>
              <a:rPr sz="1150" b="1" i="0">
                <a:solidFill>
                  <a:srgbClr val="1F2A37"/>
                </a:solidFill>
                <a:latin typeface="Segoe UI"/>
              </a:rPr>
              <a:t>SQL-injection safe</a:t>
            </a:r>
            <a:r>
              <a:rPr sz="1150" b="0" i="0">
                <a:solidFill>
                  <a:srgbClr val="1F2A37"/>
                </a:solidFill>
                <a:latin typeface="Segoe UI"/>
              </a:rPr>
              <a:t>.</a:t>
            </a:r>
          </a:p>
          <a:p>
            <a:pPr>
              <a:lnSpc>
                <a:spcPct val="105000"/>
              </a:lnSpc>
              <a:spcAft>
                <a:spcPts val="1200"/>
              </a:spcAft>
            </a:pPr>
            <a:r>
              <a:rPr sz="1150" b="1">
                <a:solidFill>
                  <a:srgbClr val="2C7DA0"/>
                </a:solidFill>
                <a:latin typeface="Segoe UI"/>
              </a:rPr>
              <a:t>•  </a:t>
            </a:r>
            <a:r>
              <a:rPr sz="1150" b="0" i="0">
                <a:solidFill>
                  <a:srgbClr val="1F2A37"/>
                </a:solidFill>
                <a:latin typeface="Segoe UI"/>
              </a:rPr>
              <a:t>Double-click a row → full details → submit a claim.</a:t>
            </a:r>
          </a:p>
        </p:txBody>
      </p:sp>
      <p:sp>
        <p:nvSpPr>
          <p:cNvPr id="9" name="Rounded Rectangle 8"/>
          <p:cNvSpPr/>
          <p:nvPr/>
        </p:nvSpPr>
        <p:spPr>
          <a:xfrm>
            <a:off x="5806440" y="1609344"/>
            <a:ext cx="5715000" cy="3977639"/>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06440" y="3287268"/>
            <a:ext cx="571500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1" name="TextBox 10"/>
          <p:cNvSpPr txBox="1"/>
          <p:nvPr/>
        </p:nvSpPr>
        <p:spPr>
          <a:xfrm>
            <a:off x="5806440" y="3598163"/>
            <a:ext cx="571500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Search results with filters</a:t>
            </a:r>
          </a:p>
        </p:txBody>
      </p:sp>
      <p:sp>
        <p:nvSpPr>
          <p:cNvPr id="12" name="TextBox 11"/>
          <p:cNvSpPr txBox="1"/>
          <p:nvPr/>
        </p:nvSpPr>
        <p:spPr>
          <a:xfrm>
            <a:off x="5806440" y="3890772"/>
            <a:ext cx="571500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Insert screenshot at 1280 × 800</a:t>
            </a:r>
          </a:p>
        </p:txBody>
      </p:sp>
      <p:sp>
        <p:nvSpPr>
          <p:cNvPr id="13" name="TextBox 12"/>
          <p:cNvSpPr txBox="1"/>
          <p:nvPr/>
        </p:nvSpPr>
        <p:spPr>
          <a:xfrm>
            <a:off x="658368" y="5394960"/>
            <a:ext cx="4892040" cy="822960"/>
          </a:xfrm>
          <a:prstGeom prst="rect">
            <a:avLst/>
          </a:prstGeom>
          <a:noFill/>
        </p:spPr>
        <p:txBody>
          <a:bodyPr wrap="square" lIns="0" rIns="0" tIns="0" bIns="0" anchor="t">
            <a:spAutoFit/>
          </a:bodyPr>
          <a:lstStyle/>
          <a:p>
            <a:pPr algn="l">
              <a:lnSpc>
                <a:spcPct val="130000"/>
              </a:lnSpc>
            </a:pPr>
            <a:r>
              <a:rPr sz="950" b="0" i="1">
                <a:solidFill>
                  <a:srgbClr val="6B7A8C"/>
                </a:solidFill>
                <a:latin typeface="Segoe UI"/>
              </a:rPr>
              <a:t>Every value is bound, never concatenated — that is the difference between a demo and a safe application.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4: match suggestions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Scored pairs with a plain-English reason</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22</a:t>
            </a:r>
          </a:p>
        </p:txBody>
      </p:sp>
      <p:sp>
        <p:nvSpPr>
          <p:cNvPr id="8" name="TextBox 7"/>
          <p:cNvSpPr txBox="1"/>
          <p:nvPr/>
        </p:nvSpPr>
        <p:spPr>
          <a:xfrm>
            <a:off x="658368" y="1627632"/>
            <a:ext cx="4892040" cy="365760"/>
          </a:xfrm>
          <a:prstGeom prst="rect">
            <a:avLst/>
          </a:prstGeom>
          <a:noFill/>
        </p:spPr>
        <p:txBody>
          <a:bodyPr wrap="square" lIns="0" rIns="0" tIns="0" bIns="0">
            <a:spAutoFit/>
          </a:bodyPr>
          <a:lstStyle/>
          <a:p>
            <a:pPr>
              <a:lnSpc>
                <a:spcPct val="105000"/>
              </a:lnSpc>
              <a:spcAft>
                <a:spcPts val="1200"/>
              </a:spcAft>
            </a:pPr>
            <a:r>
              <a:rPr sz="1150" b="1">
                <a:solidFill>
                  <a:srgbClr val="2C7DA0"/>
                </a:solidFill>
                <a:latin typeface="Segoe UI"/>
              </a:rPr>
              <a:t>•  </a:t>
            </a:r>
            <a:r>
              <a:rPr sz="1150" b="0" i="0">
                <a:solidFill>
                  <a:srgbClr val="1F2A37"/>
                </a:solidFill>
                <a:latin typeface="Segoe UI"/>
              </a:rPr>
              <a:t>Rows are </a:t>
            </a:r>
            <a:r>
              <a:rPr sz="1150" b="1" i="0">
                <a:solidFill>
                  <a:srgbClr val="1F2A37"/>
                </a:solidFill>
                <a:latin typeface="Segoe UI"/>
              </a:rPr>
              <a:t>lost ↔ found pairs</a:t>
            </a:r>
            <a:r>
              <a:rPr sz="1150" b="0" i="0">
                <a:solidFill>
                  <a:srgbClr val="1F2A37"/>
                </a:solidFill>
                <a:latin typeface="Segoe UI"/>
              </a:rPr>
              <a:t>, highest score first.</a:t>
            </a:r>
          </a:p>
          <a:p>
            <a:pPr>
              <a:lnSpc>
                <a:spcPct val="105000"/>
              </a:lnSpc>
              <a:spcAft>
                <a:spcPts val="1200"/>
              </a:spcAft>
            </a:pPr>
            <a:r>
              <a:rPr sz="1150" b="1">
                <a:solidFill>
                  <a:srgbClr val="2C7DA0"/>
                </a:solidFill>
                <a:latin typeface="Segoe UI"/>
              </a:rPr>
              <a:t>•  </a:t>
            </a:r>
            <a:r>
              <a:rPr sz="1150" b="0" i="0">
                <a:solidFill>
                  <a:srgbClr val="1F2A37"/>
                </a:solidFill>
                <a:latin typeface="Segoe UI"/>
              </a:rPr>
              <a:t>Confidence: </a:t>
            </a:r>
            <a:r>
              <a:rPr sz="1150" b="1" i="0">
                <a:solidFill>
                  <a:srgbClr val="1F2A37"/>
                </a:solidFill>
                <a:latin typeface="Segoe UI"/>
              </a:rPr>
              <a:t>Very High ≥ 90 · High ≥ 80 · Medium ≥ 70</a:t>
            </a:r>
            <a:r>
              <a:rPr sz="1150" b="0" i="0">
                <a:solidFill>
                  <a:srgbClr val="1F2A37"/>
                </a:solidFill>
                <a:latin typeface="Segoe UI"/>
              </a:rPr>
              <a:t>.</a:t>
            </a:r>
          </a:p>
          <a:p>
            <a:pPr>
              <a:lnSpc>
                <a:spcPct val="105000"/>
              </a:lnSpc>
              <a:spcAft>
                <a:spcPts val="1200"/>
              </a:spcAft>
            </a:pPr>
            <a:r>
              <a:rPr sz="1150" b="1">
                <a:solidFill>
                  <a:srgbClr val="2C7DA0"/>
                </a:solidFill>
                <a:latin typeface="Segoe UI"/>
              </a:rPr>
              <a:t>•  </a:t>
            </a:r>
            <a:r>
              <a:rPr sz="1150" b="0" i="0">
                <a:solidFill>
                  <a:srgbClr val="1F2A37"/>
                </a:solidFill>
                <a:latin typeface="Segoe UI"/>
              </a:rPr>
              <a:t>Selecting a row explains the score in words.</a:t>
            </a:r>
          </a:p>
          <a:p>
            <a:pPr>
              <a:lnSpc>
                <a:spcPct val="105000"/>
              </a:lnSpc>
              <a:spcAft>
                <a:spcPts val="1200"/>
              </a:spcAft>
            </a:pPr>
            <a:r>
              <a:rPr sz="1150" b="1">
                <a:solidFill>
                  <a:srgbClr val="2C7DA0"/>
                </a:solidFill>
                <a:latin typeface="Segoe UI"/>
              </a:rPr>
              <a:t>•  </a:t>
            </a:r>
            <a:r>
              <a:rPr sz="1150" b="0" i="0">
                <a:solidFill>
                  <a:srgbClr val="1F2A37"/>
                </a:solidFill>
                <a:latin typeface="Segoe UI"/>
              </a:rPr>
              <a:t>Double-click opens the found item to submit a claim.</a:t>
            </a:r>
          </a:p>
          <a:p>
            <a:pPr>
              <a:lnSpc>
                <a:spcPct val="105000"/>
              </a:lnSpc>
              <a:spcAft>
                <a:spcPts val="1200"/>
              </a:spcAft>
            </a:pPr>
            <a:r>
              <a:rPr sz="1150" b="1">
                <a:solidFill>
                  <a:srgbClr val="2C7DA0"/>
                </a:solidFill>
                <a:latin typeface="Segoe UI"/>
              </a:rPr>
              <a:t>•  </a:t>
            </a:r>
            <a:r>
              <a:rPr sz="1150" b="1" i="0">
                <a:solidFill>
                  <a:srgbClr val="1F2A37"/>
                </a:solidFill>
                <a:latin typeface="Segoe UI"/>
              </a:rPr>
              <a:t>Read-only report</a:t>
            </a:r>
            <a:r>
              <a:rPr sz="1150" b="0" i="0">
                <a:solidFill>
                  <a:srgbClr val="1F2A37"/>
                </a:solidFill>
                <a:latin typeface="Segoe UI"/>
              </a:rPr>
              <a:t>: computed live, nothing stored, nothing stale.</a:t>
            </a:r>
          </a:p>
        </p:txBody>
      </p:sp>
      <p:sp>
        <p:nvSpPr>
          <p:cNvPr id="9" name="Rounded Rectangle 8"/>
          <p:cNvSpPr/>
          <p:nvPr/>
        </p:nvSpPr>
        <p:spPr>
          <a:xfrm>
            <a:off x="5806440" y="1609344"/>
            <a:ext cx="5715000" cy="3977639"/>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06440" y="3287268"/>
            <a:ext cx="571500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1" name="TextBox 10"/>
          <p:cNvSpPr txBox="1"/>
          <p:nvPr/>
        </p:nvSpPr>
        <p:spPr>
          <a:xfrm>
            <a:off x="5806440" y="3598163"/>
            <a:ext cx="571500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Match suggestions table</a:t>
            </a:r>
          </a:p>
        </p:txBody>
      </p:sp>
      <p:sp>
        <p:nvSpPr>
          <p:cNvPr id="12" name="TextBox 11"/>
          <p:cNvSpPr txBox="1"/>
          <p:nvPr/>
        </p:nvSpPr>
        <p:spPr>
          <a:xfrm>
            <a:off x="5806440" y="3890772"/>
            <a:ext cx="571500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Insert screenshot at 1280 × 800</a:t>
            </a:r>
          </a:p>
        </p:txBody>
      </p:sp>
      <p:sp>
        <p:nvSpPr>
          <p:cNvPr id="13" name="TextBox 12"/>
          <p:cNvSpPr txBox="1"/>
          <p:nvPr/>
        </p:nvSpPr>
        <p:spPr>
          <a:xfrm>
            <a:off x="658368" y="5394960"/>
            <a:ext cx="4892040" cy="822960"/>
          </a:xfrm>
          <a:prstGeom prst="rect">
            <a:avLst/>
          </a:prstGeom>
          <a:noFill/>
        </p:spPr>
        <p:txBody>
          <a:bodyPr wrap="square" lIns="0" rIns="0" tIns="0" bIns="0" anchor="t">
            <a:spAutoFit/>
          </a:bodyPr>
          <a:lstStyle/>
          <a:p>
            <a:pPr algn="l">
              <a:lnSpc>
                <a:spcPct val="130000"/>
              </a:lnSpc>
            </a:pPr>
            <a:r>
              <a:rPr sz="950" b="0" i="1">
                <a:solidFill>
                  <a:srgbClr val="6B7A8C"/>
                </a:solidFill>
                <a:latin typeface="Segoe UI"/>
              </a:rPr>
              <a:t>A new report appears in the list immediately — no nightly job, no cache to invalidate.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5: claims and recovery</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Every claim is verified, every state change is audited</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23</a:t>
            </a:r>
          </a:p>
        </p:txBody>
      </p:sp>
      <p:sp>
        <p:nvSpPr>
          <p:cNvPr id="8" name="Rounded Rectangle 7"/>
          <p:cNvSpPr/>
          <p:nvPr/>
        </p:nvSpPr>
        <p:spPr>
          <a:xfrm>
            <a:off x="1828800" y="1645920"/>
            <a:ext cx="1965960" cy="658368"/>
          </a:xfrm>
          <a:prstGeom prst="roundRect">
            <a:avLst>
              <a:gd name="adj" fmla="val 25000"/>
            </a:avLst>
          </a:prstGeom>
          <a:solidFill>
            <a:srgbClr val="FFFFFF"/>
          </a:solidFill>
          <a:ln w="12700">
            <a:solidFill>
              <a:srgbClr val="C7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28800" y="1645920"/>
            <a:ext cx="1965960" cy="658368"/>
          </a:xfrm>
          <a:prstGeom prst="rect">
            <a:avLst/>
          </a:prstGeom>
          <a:noFill/>
        </p:spPr>
        <p:txBody>
          <a:bodyPr wrap="square" lIns="0" rIns="0" tIns="0" bIns="0" anchor="ctr">
            <a:spAutoFit/>
          </a:bodyPr>
          <a:lstStyle/>
          <a:p>
            <a:pPr algn="ctr">
              <a:lnSpc>
                <a:spcPct val="105000"/>
              </a:lnSpc>
            </a:pPr>
            <a:r>
              <a:rPr sz="1050" b="1" i="0">
                <a:solidFill>
                  <a:srgbClr val="C77D00"/>
                </a:solidFill>
                <a:latin typeface="Consolas"/>
              </a:rPr>
              <a:t>PENDING</a:t>
            </a:r>
          </a:p>
        </p:txBody>
      </p:sp>
      <p:sp>
        <p:nvSpPr>
          <p:cNvPr id="10" name="Rounded Rectangle 9"/>
          <p:cNvSpPr/>
          <p:nvPr/>
        </p:nvSpPr>
        <p:spPr>
          <a:xfrm>
            <a:off x="4937760" y="1645920"/>
            <a:ext cx="1965960" cy="658368"/>
          </a:xfrm>
          <a:prstGeom prst="roundRect">
            <a:avLst>
              <a:gd name="adj" fmla="val 25000"/>
            </a:avLst>
          </a:prstGeom>
          <a:solidFill>
            <a:srgbClr val="FFFFFF"/>
          </a:solidFill>
          <a:ln w="12700">
            <a:solidFill>
              <a:srgbClr val="2C7D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37760" y="1645920"/>
            <a:ext cx="1965960" cy="658368"/>
          </a:xfrm>
          <a:prstGeom prst="rect">
            <a:avLst/>
          </a:prstGeom>
          <a:noFill/>
        </p:spPr>
        <p:txBody>
          <a:bodyPr wrap="square" lIns="0" rIns="0" tIns="0" bIns="0" anchor="ctr">
            <a:spAutoFit/>
          </a:bodyPr>
          <a:lstStyle/>
          <a:p>
            <a:pPr algn="ctr">
              <a:lnSpc>
                <a:spcPct val="105000"/>
              </a:lnSpc>
            </a:pPr>
            <a:r>
              <a:rPr sz="1050" b="1" i="0">
                <a:solidFill>
                  <a:srgbClr val="2C7DA0"/>
                </a:solidFill>
                <a:latin typeface="Consolas"/>
              </a:rPr>
              <a:t>APPROVED</a:t>
            </a:r>
          </a:p>
        </p:txBody>
      </p:sp>
      <p:sp>
        <p:nvSpPr>
          <p:cNvPr id="12" name="Rounded Rectangle 11"/>
          <p:cNvSpPr/>
          <p:nvPr/>
        </p:nvSpPr>
        <p:spPr>
          <a:xfrm>
            <a:off x="8046720" y="1645920"/>
            <a:ext cx="1965960" cy="658368"/>
          </a:xfrm>
          <a:prstGeom prst="roundRect">
            <a:avLst>
              <a:gd name="adj" fmla="val 25000"/>
            </a:avLst>
          </a:prstGeom>
          <a:solidFill>
            <a:srgbClr val="FFFFFF"/>
          </a:solidFill>
          <a:ln w="1270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0" y="1645920"/>
            <a:ext cx="1965960" cy="658368"/>
          </a:xfrm>
          <a:prstGeom prst="rect">
            <a:avLst/>
          </a:prstGeom>
          <a:noFill/>
        </p:spPr>
        <p:txBody>
          <a:bodyPr wrap="square" lIns="0" rIns="0" tIns="0" bIns="0" anchor="ctr">
            <a:spAutoFit/>
          </a:bodyPr>
          <a:lstStyle/>
          <a:p>
            <a:pPr algn="ctr">
              <a:lnSpc>
                <a:spcPct val="105000"/>
              </a:lnSpc>
            </a:pPr>
            <a:r>
              <a:rPr sz="1050" b="1" i="0">
                <a:solidFill>
                  <a:srgbClr val="2E7D4F"/>
                </a:solidFill>
                <a:latin typeface="Consolas"/>
              </a:rPr>
              <a:t>RECOVERED</a:t>
            </a:r>
          </a:p>
        </p:txBody>
      </p:sp>
      <p:sp>
        <p:nvSpPr>
          <p:cNvPr id="14" name="Right Arrow 13"/>
          <p:cNvSpPr/>
          <p:nvPr/>
        </p:nvSpPr>
        <p:spPr>
          <a:xfrm>
            <a:off x="3822191" y="1856231"/>
            <a:ext cx="960120" cy="219456"/>
          </a:xfrm>
          <a:prstGeom prst="right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6931152" y="1856231"/>
            <a:ext cx="960120" cy="219456"/>
          </a:xfrm>
          <a:prstGeom prst="rightArrow">
            <a:avLst/>
          </a:prstGeom>
          <a:solidFill>
            <a:srgbClr val="B9C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22191" y="1463040"/>
            <a:ext cx="960120" cy="182880"/>
          </a:xfrm>
          <a:prstGeom prst="rect">
            <a:avLst/>
          </a:prstGeom>
          <a:noFill/>
        </p:spPr>
        <p:txBody>
          <a:bodyPr wrap="square" lIns="0" rIns="0" tIns="0" bIns="0" anchor="t">
            <a:spAutoFit/>
          </a:bodyPr>
          <a:lstStyle/>
          <a:p>
            <a:pPr algn="ctr">
              <a:lnSpc>
                <a:spcPct val="105000"/>
              </a:lnSpc>
            </a:pPr>
            <a:r>
              <a:rPr sz="650" b="0" i="0">
                <a:solidFill>
                  <a:srgbClr val="6B7A8C"/>
                </a:solidFill>
                <a:latin typeface="Segoe UI"/>
              </a:rPr>
              <a:t>approve</a:t>
            </a:r>
          </a:p>
        </p:txBody>
      </p:sp>
      <p:sp>
        <p:nvSpPr>
          <p:cNvPr id="17" name="TextBox 16"/>
          <p:cNvSpPr txBox="1"/>
          <p:nvPr/>
        </p:nvSpPr>
        <p:spPr>
          <a:xfrm>
            <a:off x="6931152" y="1463040"/>
            <a:ext cx="960120" cy="182880"/>
          </a:xfrm>
          <a:prstGeom prst="rect">
            <a:avLst/>
          </a:prstGeom>
          <a:noFill/>
        </p:spPr>
        <p:txBody>
          <a:bodyPr wrap="square" lIns="0" rIns="0" tIns="0" bIns="0" anchor="t">
            <a:spAutoFit/>
          </a:bodyPr>
          <a:lstStyle/>
          <a:p>
            <a:pPr algn="ctr">
              <a:lnSpc>
                <a:spcPct val="105000"/>
              </a:lnSpc>
            </a:pPr>
            <a:r>
              <a:rPr sz="650" b="0" i="0">
                <a:solidFill>
                  <a:srgbClr val="6B7A8C"/>
                </a:solidFill>
                <a:latin typeface="Segoe UI"/>
              </a:rPr>
              <a:t>handover</a:t>
            </a:r>
          </a:p>
        </p:txBody>
      </p:sp>
      <p:sp>
        <p:nvSpPr>
          <p:cNvPr id="18" name="Rounded Rectangle 17"/>
          <p:cNvSpPr/>
          <p:nvPr/>
        </p:nvSpPr>
        <p:spPr>
          <a:xfrm>
            <a:off x="1828800" y="2743200"/>
            <a:ext cx="1965960" cy="640080"/>
          </a:xfrm>
          <a:prstGeom prst="roundRect">
            <a:avLst>
              <a:gd name="adj" fmla="val 25000"/>
            </a:avLst>
          </a:prstGeom>
          <a:solidFill>
            <a:srgbClr val="FDECE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828800" y="2743200"/>
            <a:ext cx="1965960" cy="640080"/>
          </a:xfrm>
          <a:prstGeom prst="rect">
            <a:avLst/>
          </a:prstGeom>
          <a:noFill/>
        </p:spPr>
        <p:txBody>
          <a:bodyPr wrap="square" lIns="0" rIns="0" tIns="0" bIns="0" anchor="ctr">
            <a:spAutoFit/>
          </a:bodyPr>
          <a:lstStyle/>
          <a:p>
            <a:pPr algn="ctr">
              <a:lnSpc>
                <a:spcPct val="105000"/>
              </a:lnSpc>
            </a:pPr>
            <a:r>
              <a:rPr sz="1050" b="1" i="0">
                <a:solidFill>
                  <a:srgbClr val="C0392B"/>
                </a:solidFill>
                <a:latin typeface="Consolas"/>
              </a:rPr>
              <a:t>REJECTED</a:t>
            </a:r>
          </a:p>
        </p:txBody>
      </p:sp>
      <p:sp>
        <p:nvSpPr>
          <p:cNvPr id="20" name="Down Arrow 19"/>
          <p:cNvSpPr/>
          <p:nvPr/>
        </p:nvSpPr>
        <p:spPr>
          <a:xfrm>
            <a:off x="2688336" y="2359152"/>
            <a:ext cx="256032" cy="329184"/>
          </a:xfrm>
          <a:prstGeom prst="downArrow">
            <a:avLst/>
          </a:prstGeom>
          <a:solidFill>
            <a:srgbClr val="E0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2395728"/>
            <a:ext cx="1828800" cy="228600"/>
          </a:xfrm>
          <a:prstGeom prst="rect">
            <a:avLst/>
          </a:prstGeom>
          <a:noFill/>
        </p:spPr>
        <p:txBody>
          <a:bodyPr wrap="square" lIns="0" rIns="0" tIns="0" bIns="0" anchor="t">
            <a:spAutoFit/>
          </a:bodyPr>
          <a:lstStyle/>
          <a:p>
            <a:pPr algn="l">
              <a:lnSpc>
                <a:spcPct val="105000"/>
              </a:lnSpc>
            </a:pPr>
            <a:r>
              <a:rPr sz="750" b="0" i="0">
                <a:solidFill>
                  <a:srgbClr val="6B7A8C"/>
                </a:solidFill>
                <a:latin typeface="Segoe UI"/>
              </a:rPr>
              <a:t>reject → item stays OPEN</a:t>
            </a:r>
          </a:p>
        </p:txBody>
      </p:sp>
      <p:sp>
        <p:nvSpPr>
          <p:cNvPr id="22" name="TextBox 21"/>
          <p:cNvSpPr txBox="1"/>
          <p:nvPr/>
        </p:nvSpPr>
        <p:spPr>
          <a:xfrm>
            <a:off x="658368" y="3767328"/>
            <a:ext cx="5577840" cy="365760"/>
          </a:xfrm>
          <a:prstGeom prst="rect">
            <a:avLst/>
          </a:prstGeom>
          <a:noFill/>
        </p:spPr>
        <p:txBody>
          <a:bodyPr wrap="square" lIns="0" rIns="0" tIns="0" bIns="0">
            <a:spAutoFit/>
          </a:bodyPr>
          <a:lstStyle/>
          <a:p>
            <a:pPr>
              <a:lnSpc>
                <a:spcPct val="105000"/>
              </a:lnSpc>
              <a:spcAft>
                <a:spcPts val="1000"/>
              </a:spcAft>
            </a:pPr>
            <a:r>
              <a:rPr sz="1150" b="1">
                <a:solidFill>
                  <a:srgbClr val="2C7DA0"/>
                </a:solidFill>
                <a:latin typeface="Segoe UI"/>
              </a:rPr>
              <a:t>•  </a:t>
            </a:r>
            <a:r>
              <a:rPr sz="1150" b="0" i="0">
                <a:solidFill>
                  <a:srgbClr val="1F2A37"/>
                </a:solidFill>
                <a:latin typeface="Segoe UI"/>
              </a:rPr>
              <a:t>Proof of ownership is </a:t>
            </a:r>
            <a:r>
              <a:rPr sz="1150" b="1" i="0">
                <a:solidFill>
                  <a:srgbClr val="1F2A37"/>
                </a:solidFill>
                <a:latin typeface="Segoe UI"/>
              </a:rPr>
              <a:t>mandatory and stored</a:t>
            </a:r>
            <a:r>
              <a:rPr sz="1150" b="0" i="0">
                <a:solidFill>
                  <a:srgbClr val="1F2A37"/>
                </a:solidFill>
                <a:latin typeface="Segoe UI"/>
              </a:rPr>
              <a:t>.</a:t>
            </a:r>
          </a:p>
          <a:p>
            <a:pPr>
              <a:lnSpc>
                <a:spcPct val="105000"/>
              </a:lnSpc>
              <a:spcAft>
                <a:spcPts val="1000"/>
              </a:spcAft>
            </a:pPr>
            <a:r>
              <a:rPr sz="1150" b="1">
                <a:solidFill>
                  <a:srgbClr val="2C7DA0"/>
                </a:solidFill>
                <a:latin typeface="Segoe UI"/>
              </a:rPr>
              <a:t>•  </a:t>
            </a:r>
            <a:r>
              <a:rPr sz="1150" b="0" i="0">
                <a:solidFill>
                  <a:srgbClr val="1F2A37"/>
                </a:solidFill>
                <a:latin typeface="Segoe UI"/>
              </a:rPr>
              <a:t>Approving one claim </a:t>
            </a:r>
            <a:r>
              <a:rPr sz="1150" b="1" i="0">
                <a:solidFill>
                  <a:srgbClr val="1F2A37"/>
                </a:solidFill>
                <a:latin typeface="Segoe UI"/>
              </a:rPr>
              <a:t>auto-rejects</a:t>
            </a:r>
            <a:r>
              <a:rPr sz="1150" b="0" i="0">
                <a:solidFill>
                  <a:srgbClr val="1F2A37"/>
                </a:solidFill>
                <a:latin typeface="Segoe UI"/>
              </a:rPr>
              <a:t> the competing claims.</a:t>
            </a:r>
          </a:p>
          <a:p>
            <a:pPr>
              <a:lnSpc>
                <a:spcPct val="105000"/>
              </a:lnSpc>
              <a:spcAft>
                <a:spcPts val="1000"/>
              </a:spcAft>
            </a:pPr>
            <a:r>
              <a:rPr sz="1150" b="1">
                <a:solidFill>
                  <a:srgbClr val="2C7DA0"/>
                </a:solidFill>
                <a:latin typeface="Segoe UI"/>
              </a:rPr>
              <a:t>•  </a:t>
            </a:r>
            <a:r>
              <a:rPr sz="1150" b="0" i="0">
                <a:solidFill>
                  <a:srgbClr val="1F2A37"/>
                </a:solidFill>
                <a:latin typeface="Segoe UI"/>
              </a:rPr>
              <a:t>Every status change is logged by the </a:t>
            </a:r>
            <a:r>
              <a:rPr sz="1150" b="1" i="0">
                <a:solidFill>
                  <a:srgbClr val="1F2A37"/>
                </a:solidFill>
                <a:latin typeface="Segoe UI"/>
              </a:rPr>
              <a:t>trigger</a:t>
            </a:r>
            <a:r>
              <a:rPr sz="1150" b="0" i="0">
                <a:solidFill>
                  <a:srgbClr val="1F2A37"/>
                </a:solidFill>
                <a:latin typeface="Segoe UI"/>
              </a:rPr>
              <a:t> into item_status_history.</a:t>
            </a:r>
          </a:p>
          <a:p>
            <a:pPr>
              <a:lnSpc>
                <a:spcPct val="105000"/>
              </a:lnSpc>
              <a:spcAft>
                <a:spcPts val="1000"/>
              </a:spcAft>
            </a:pPr>
            <a:r>
              <a:rPr sz="1150" b="1">
                <a:solidFill>
                  <a:srgbClr val="2C7DA0"/>
                </a:solidFill>
                <a:latin typeface="Segoe UI"/>
              </a:rPr>
              <a:t>•  </a:t>
            </a:r>
            <a:r>
              <a:rPr sz="1150" b="0" i="0">
                <a:solidFill>
                  <a:srgbClr val="1F2A37"/>
                </a:solidFill>
                <a:latin typeface="Segoe UI"/>
              </a:rPr>
              <a:t>Staff see all claims; a student sees only their own (privacy).</a:t>
            </a:r>
          </a:p>
        </p:txBody>
      </p:sp>
      <p:sp>
        <p:nvSpPr>
          <p:cNvPr id="23" name="Rounded Rectangle 22"/>
          <p:cNvSpPr/>
          <p:nvPr/>
        </p:nvSpPr>
        <p:spPr>
          <a:xfrm>
            <a:off x="6492240" y="3401568"/>
            <a:ext cx="5029200" cy="228600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4233672"/>
            <a:ext cx="502920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25" name="TextBox 24"/>
          <p:cNvSpPr txBox="1"/>
          <p:nvPr/>
        </p:nvSpPr>
        <p:spPr>
          <a:xfrm>
            <a:off x="6492240" y="4544568"/>
            <a:ext cx="502920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Claims verification screen</a:t>
            </a:r>
          </a:p>
        </p:txBody>
      </p:sp>
      <p:sp>
        <p:nvSpPr>
          <p:cNvPr id="26" name="TextBox 25"/>
          <p:cNvSpPr txBox="1"/>
          <p:nvPr/>
        </p:nvSpPr>
        <p:spPr>
          <a:xfrm>
            <a:off x="6492240" y="4837176"/>
            <a:ext cx="502920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Insert screenshot at 1280 × 800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Module 6: reports and analytics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The numbers the college actually needs</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24</a:t>
            </a:r>
          </a:p>
        </p:txBody>
      </p:sp>
      <p:sp>
        <p:nvSpPr>
          <p:cNvPr id="8" name="TextBox 7"/>
          <p:cNvSpPr txBox="1"/>
          <p:nvPr/>
        </p:nvSpPr>
        <p:spPr>
          <a:xfrm>
            <a:off x="658368" y="1627632"/>
            <a:ext cx="4892040" cy="365760"/>
          </a:xfrm>
          <a:prstGeom prst="rect">
            <a:avLst/>
          </a:prstGeom>
          <a:noFill/>
        </p:spPr>
        <p:txBody>
          <a:bodyPr wrap="square" lIns="0" rIns="0" tIns="0" bIns="0">
            <a:spAutoFit/>
          </a:bodyPr>
          <a:lstStyle/>
          <a:p>
            <a:pPr>
              <a:lnSpc>
                <a:spcPct val="105000"/>
              </a:lnSpc>
              <a:spcAft>
                <a:spcPts val="1200"/>
              </a:spcAft>
            </a:pPr>
            <a:r>
              <a:rPr sz="1150" b="1">
                <a:solidFill>
                  <a:srgbClr val="2C7DA0"/>
                </a:solidFill>
                <a:latin typeface="Segoe UI"/>
              </a:rPr>
              <a:t>•  </a:t>
            </a:r>
            <a:r>
              <a:rPr sz="1150" b="0" i="0">
                <a:solidFill>
                  <a:srgbClr val="1F2A37"/>
                </a:solidFill>
                <a:latin typeface="Segoe UI"/>
              </a:rPr>
              <a:t>Counters: total reports, </a:t>
            </a:r>
            <a:r>
              <a:rPr sz="1150" b="1" i="0">
                <a:solidFill>
                  <a:srgbClr val="1F2A37"/>
                </a:solidFill>
                <a:latin typeface="Segoe UI"/>
              </a:rPr>
              <a:t>recovery rate</a:t>
            </a:r>
            <a:r>
              <a:rPr sz="1150" b="0" i="0">
                <a:solidFill>
                  <a:srgbClr val="1F2A37"/>
                </a:solidFill>
                <a:latin typeface="Segoe UI"/>
              </a:rPr>
              <a:t>, pending claims, total claims.</a:t>
            </a:r>
          </a:p>
          <a:p>
            <a:pPr>
              <a:lnSpc>
                <a:spcPct val="105000"/>
              </a:lnSpc>
              <a:spcAft>
                <a:spcPts val="1200"/>
              </a:spcAft>
            </a:pPr>
            <a:r>
              <a:rPr sz="1150" b="1">
                <a:solidFill>
                  <a:srgbClr val="2C7DA0"/>
                </a:solidFill>
                <a:latin typeface="Segoe UI"/>
              </a:rPr>
              <a:t>•  </a:t>
            </a:r>
            <a:r>
              <a:rPr sz="1150" b="0" i="0">
                <a:solidFill>
                  <a:srgbClr val="1F2A37"/>
                </a:solidFill>
                <a:latin typeface="Segoe UI"/>
              </a:rPr>
              <a:t>Breakdowns: category, item status, claim status, monthly lost vs found.</a:t>
            </a:r>
          </a:p>
          <a:p>
            <a:pPr>
              <a:lnSpc>
                <a:spcPct val="105000"/>
              </a:lnSpc>
              <a:spcAft>
                <a:spcPts val="1200"/>
              </a:spcAft>
            </a:pPr>
            <a:r>
              <a:rPr sz="1150" b="1">
                <a:solidFill>
                  <a:srgbClr val="2C7DA0"/>
                </a:solidFill>
                <a:latin typeface="Segoe UI"/>
              </a:rPr>
              <a:t>•  </a:t>
            </a:r>
            <a:r>
              <a:rPr sz="1150" b="0" i="0">
                <a:solidFill>
                  <a:srgbClr val="1F2A37"/>
                </a:solidFill>
                <a:latin typeface="Segoe UI"/>
              </a:rPr>
              <a:t>All figures from SQL GROUP BY — no full-table loading into Java.</a:t>
            </a:r>
          </a:p>
          <a:p>
            <a:pPr>
              <a:lnSpc>
                <a:spcPct val="105000"/>
              </a:lnSpc>
              <a:spcAft>
                <a:spcPts val="1200"/>
              </a:spcAft>
            </a:pPr>
            <a:r>
              <a:rPr sz="1150" b="1">
                <a:solidFill>
                  <a:srgbClr val="2C7DA0"/>
                </a:solidFill>
                <a:latin typeface="Segoe UI"/>
              </a:rPr>
              <a:t>•  </a:t>
            </a:r>
            <a:r>
              <a:rPr sz="1150" b="1" i="0">
                <a:solidFill>
                  <a:srgbClr val="1F2A37"/>
                </a:solidFill>
                <a:latin typeface="Segoe UI"/>
              </a:rPr>
              <a:t>CSV export</a:t>
            </a:r>
            <a:r>
              <a:rPr sz="1150" b="0" i="0">
                <a:solidFill>
                  <a:srgbClr val="1F2A37"/>
                </a:solidFill>
                <a:latin typeface="Segoe UI"/>
              </a:rPr>
              <a:t> for the weekly security review (UTF-8 with BOM).</a:t>
            </a:r>
          </a:p>
        </p:txBody>
      </p:sp>
      <p:sp>
        <p:nvSpPr>
          <p:cNvPr id="9" name="Rounded Rectangle 8"/>
          <p:cNvSpPr/>
          <p:nvPr/>
        </p:nvSpPr>
        <p:spPr>
          <a:xfrm>
            <a:off x="5806440" y="1609344"/>
            <a:ext cx="5715000" cy="3977639"/>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06440" y="3287268"/>
            <a:ext cx="571500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1" name="TextBox 10"/>
          <p:cNvSpPr txBox="1"/>
          <p:nvPr/>
        </p:nvSpPr>
        <p:spPr>
          <a:xfrm>
            <a:off x="5806440" y="3598163"/>
            <a:ext cx="571500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Reports and analytics screen</a:t>
            </a:r>
          </a:p>
        </p:txBody>
      </p:sp>
      <p:sp>
        <p:nvSpPr>
          <p:cNvPr id="12" name="TextBox 11"/>
          <p:cNvSpPr txBox="1"/>
          <p:nvPr/>
        </p:nvSpPr>
        <p:spPr>
          <a:xfrm>
            <a:off x="5806440" y="3890772"/>
            <a:ext cx="571500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Insert screenshot at 1280 × 800</a:t>
            </a:r>
          </a:p>
        </p:txBody>
      </p:sp>
      <p:sp>
        <p:nvSpPr>
          <p:cNvPr id="13" name="TextBox 12"/>
          <p:cNvSpPr txBox="1"/>
          <p:nvPr/>
        </p:nvSpPr>
        <p:spPr>
          <a:xfrm>
            <a:off x="658368" y="5394960"/>
            <a:ext cx="4892040" cy="822960"/>
          </a:xfrm>
          <a:prstGeom prst="rect">
            <a:avLst/>
          </a:prstGeom>
          <a:noFill/>
        </p:spPr>
        <p:txBody>
          <a:bodyPr wrap="square" lIns="0" rIns="0" tIns="0" bIns="0" anchor="t">
            <a:spAutoFit/>
          </a:bodyPr>
          <a:lstStyle/>
          <a:p>
            <a:pPr algn="l">
              <a:lnSpc>
                <a:spcPct val="130000"/>
              </a:lnSpc>
            </a:pPr>
            <a:r>
              <a:rPr sz="950" b="0" i="1">
                <a:solidFill>
                  <a:srgbClr val="6B7A8C"/>
                </a:solidFill>
                <a:latin typeface="Segoe UI"/>
              </a:rPr>
              <a:t>The recovery rate is available only because every handover is recorded.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User interface tour</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Six screens, one theme, consistent behaviour</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25</a:t>
            </a:r>
          </a:p>
        </p:txBody>
      </p:sp>
      <p:sp>
        <p:nvSpPr>
          <p:cNvPr id="8" name="Rounded Rectangle 7"/>
          <p:cNvSpPr/>
          <p:nvPr/>
        </p:nvSpPr>
        <p:spPr>
          <a:xfrm>
            <a:off x="658368" y="1627632"/>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2299716"/>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0" name="TextBox 9"/>
          <p:cNvSpPr txBox="1"/>
          <p:nvPr/>
        </p:nvSpPr>
        <p:spPr>
          <a:xfrm>
            <a:off x="658368" y="2610612"/>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Dashboard</a:t>
            </a:r>
          </a:p>
        </p:txBody>
      </p:sp>
      <p:sp>
        <p:nvSpPr>
          <p:cNvPr id="11" name="TextBox 10"/>
          <p:cNvSpPr txBox="1"/>
          <p:nvPr/>
        </p:nvSpPr>
        <p:spPr>
          <a:xfrm>
            <a:off x="658368" y="2903220"/>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Live counters + recent reports</a:t>
            </a:r>
          </a:p>
        </p:txBody>
      </p:sp>
      <p:sp>
        <p:nvSpPr>
          <p:cNvPr id="12" name="Rounded Rectangle 11"/>
          <p:cNvSpPr/>
          <p:nvPr/>
        </p:nvSpPr>
        <p:spPr>
          <a:xfrm>
            <a:off x="4398264" y="1627632"/>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98264" y="2299716"/>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4" name="TextBox 13"/>
          <p:cNvSpPr txBox="1"/>
          <p:nvPr/>
        </p:nvSpPr>
        <p:spPr>
          <a:xfrm>
            <a:off x="4398264" y="2610612"/>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Report an item</a:t>
            </a:r>
          </a:p>
        </p:txBody>
      </p:sp>
      <p:sp>
        <p:nvSpPr>
          <p:cNvPr id="15" name="TextBox 14"/>
          <p:cNvSpPr txBox="1"/>
          <p:nvPr/>
        </p:nvSpPr>
        <p:spPr>
          <a:xfrm>
            <a:off x="4398264" y="2903220"/>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Dynamic lost / found form</a:t>
            </a:r>
          </a:p>
        </p:txBody>
      </p:sp>
      <p:sp>
        <p:nvSpPr>
          <p:cNvPr id="16" name="Rounded Rectangle 15"/>
          <p:cNvSpPr/>
          <p:nvPr/>
        </p:nvSpPr>
        <p:spPr>
          <a:xfrm>
            <a:off x="8138160" y="1627632"/>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38160" y="2299716"/>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18" name="TextBox 17"/>
          <p:cNvSpPr txBox="1"/>
          <p:nvPr/>
        </p:nvSpPr>
        <p:spPr>
          <a:xfrm>
            <a:off x="8138160" y="2610612"/>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Search and claim</a:t>
            </a:r>
          </a:p>
        </p:txBody>
      </p:sp>
      <p:sp>
        <p:nvSpPr>
          <p:cNvPr id="19" name="TextBox 18"/>
          <p:cNvSpPr txBox="1"/>
          <p:nvPr/>
        </p:nvSpPr>
        <p:spPr>
          <a:xfrm>
            <a:off x="8138160" y="2903220"/>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Filtered table + detail dialog</a:t>
            </a:r>
          </a:p>
        </p:txBody>
      </p:sp>
      <p:sp>
        <p:nvSpPr>
          <p:cNvPr id="20" name="Rounded Rectangle 19"/>
          <p:cNvSpPr/>
          <p:nvPr/>
        </p:nvSpPr>
        <p:spPr>
          <a:xfrm>
            <a:off x="658368" y="3840480"/>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8368" y="4512564"/>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22" name="TextBox 21"/>
          <p:cNvSpPr txBox="1"/>
          <p:nvPr/>
        </p:nvSpPr>
        <p:spPr>
          <a:xfrm>
            <a:off x="658368" y="4823460"/>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Match suggestions</a:t>
            </a:r>
          </a:p>
        </p:txBody>
      </p:sp>
      <p:sp>
        <p:nvSpPr>
          <p:cNvPr id="23" name="TextBox 22"/>
          <p:cNvSpPr txBox="1"/>
          <p:nvPr/>
        </p:nvSpPr>
        <p:spPr>
          <a:xfrm>
            <a:off x="658368" y="5116068"/>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Scored pairs + explanation</a:t>
            </a:r>
          </a:p>
        </p:txBody>
      </p:sp>
      <p:sp>
        <p:nvSpPr>
          <p:cNvPr id="24" name="Rounded Rectangle 23"/>
          <p:cNvSpPr/>
          <p:nvPr/>
        </p:nvSpPr>
        <p:spPr>
          <a:xfrm>
            <a:off x="4398264" y="3840480"/>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398264" y="4512564"/>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26" name="TextBox 25"/>
          <p:cNvSpPr txBox="1"/>
          <p:nvPr/>
        </p:nvSpPr>
        <p:spPr>
          <a:xfrm>
            <a:off x="4398264" y="4823460"/>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Ownership claims</a:t>
            </a:r>
          </a:p>
        </p:txBody>
      </p:sp>
      <p:sp>
        <p:nvSpPr>
          <p:cNvPr id="27" name="TextBox 26"/>
          <p:cNvSpPr txBox="1"/>
          <p:nvPr/>
        </p:nvSpPr>
        <p:spPr>
          <a:xfrm>
            <a:off x="4398264" y="5116068"/>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Approve / reject / recover</a:t>
            </a:r>
          </a:p>
        </p:txBody>
      </p:sp>
      <p:sp>
        <p:nvSpPr>
          <p:cNvPr id="28" name="Rounded Rectangle 27"/>
          <p:cNvSpPr/>
          <p:nvPr/>
        </p:nvSpPr>
        <p:spPr>
          <a:xfrm>
            <a:off x="8138160" y="3840480"/>
            <a:ext cx="3383280" cy="1965960"/>
          </a:xfrm>
          <a:prstGeom prst="roundRect">
            <a:avLst>
              <a:gd name="adj" fmla="val 3000"/>
            </a:avLst>
          </a:prstGeom>
          <a:solidFill>
            <a:srgbClr val="EAF1F6"/>
          </a:solidFill>
          <a:ln w="12700">
            <a:solidFill>
              <a:srgbClr val="B9CF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38160" y="4512564"/>
            <a:ext cx="3383280" cy="274320"/>
          </a:xfrm>
          <a:prstGeom prst="rect">
            <a:avLst/>
          </a:prstGeom>
          <a:noFill/>
        </p:spPr>
        <p:txBody>
          <a:bodyPr wrap="square" lIns="0" rIns="0" tIns="0" bIns="0" anchor="t">
            <a:spAutoFit/>
          </a:bodyPr>
          <a:lstStyle/>
          <a:p>
            <a:pPr algn="ctr">
              <a:lnSpc>
                <a:spcPct val="105000"/>
              </a:lnSpc>
            </a:pPr>
            <a:r>
              <a:rPr sz="1000" b="1" i="0">
                <a:solidFill>
                  <a:srgbClr val="1F5C78"/>
                </a:solidFill>
                <a:latin typeface="Segoe UI"/>
              </a:rPr>
              <a:t>▣  SCREENSHOT</a:t>
            </a:r>
          </a:p>
        </p:txBody>
      </p:sp>
      <p:sp>
        <p:nvSpPr>
          <p:cNvPr id="30" name="TextBox 29"/>
          <p:cNvSpPr txBox="1"/>
          <p:nvPr/>
        </p:nvSpPr>
        <p:spPr>
          <a:xfrm>
            <a:off x="8138160" y="4823460"/>
            <a:ext cx="3383280" cy="292608"/>
          </a:xfrm>
          <a:prstGeom prst="rect">
            <a:avLst/>
          </a:prstGeom>
          <a:noFill/>
        </p:spPr>
        <p:txBody>
          <a:bodyPr wrap="square" lIns="0" rIns="0" tIns="0" bIns="0" anchor="t">
            <a:spAutoFit/>
          </a:bodyPr>
          <a:lstStyle/>
          <a:p>
            <a:pPr algn="ctr">
              <a:lnSpc>
                <a:spcPct val="105000"/>
              </a:lnSpc>
            </a:pPr>
            <a:r>
              <a:rPr sz="1300" b="1" i="0">
                <a:solidFill>
                  <a:srgbClr val="132A3E"/>
                </a:solidFill>
                <a:latin typeface="Segoe UI"/>
              </a:rPr>
              <a:t>Reports and analytics</a:t>
            </a:r>
          </a:p>
        </p:txBody>
      </p:sp>
      <p:sp>
        <p:nvSpPr>
          <p:cNvPr id="31" name="TextBox 30"/>
          <p:cNvSpPr txBox="1"/>
          <p:nvPr/>
        </p:nvSpPr>
        <p:spPr>
          <a:xfrm>
            <a:off x="8138160" y="5116068"/>
            <a:ext cx="3383280" cy="237744"/>
          </a:xfrm>
          <a:prstGeom prst="rect">
            <a:avLst/>
          </a:prstGeom>
          <a:noFill/>
        </p:spPr>
        <p:txBody>
          <a:bodyPr wrap="square" lIns="0" rIns="0" tIns="0" bIns="0" anchor="t">
            <a:spAutoFit/>
          </a:bodyPr>
          <a:lstStyle/>
          <a:p>
            <a:pPr algn="ctr">
              <a:lnSpc>
                <a:spcPct val="105000"/>
              </a:lnSpc>
            </a:pPr>
            <a:r>
              <a:rPr sz="850" b="0" i="0">
                <a:solidFill>
                  <a:srgbClr val="6B7A8C"/>
                </a:solidFill>
                <a:latin typeface="Segoe UI"/>
              </a:rPr>
              <a:t>GROUP BY summaries + CSV</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Testing</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Manual functional tests plus SQL-level verification</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26</a:t>
            </a:r>
          </a:p>
        </p:txBody>
      </p:sp>
      <p:graphicFrame>
        <p:nvGraphicFramePr>
          <p:cNvPr id="8" name="Table 7"/>
          <p:cNvGraphicFramePr>
            <a:graphicFrameLocks noGrp="1"/>
          </p:cNvGraphicFramePr>
          <p:nvPr/>
        </p:nvGraphicFramePr>
        <p:xfrm>
          <a:off x="658368" y="1572768"/>
          <a:ext cx="10874956" cy="3982212"/>
        </p:xfrm>
        <a:graphic>
          <a:graphicData uri="http://schemas.openxmlformats.org/drawingml/2006/table">
            <a:tbl>
              <a:tblPr/>
              <a:tblGrid>
                <a:gridCol w="543747"/>
                <a:gridCol w="3479986"/>
                <a:gridCol w="5219980"/>
                <a:gridCol w="1631243"/>
              </a:tblGrid>
              <a:tr h="306324">
                <a:tc>
                  <a:txBody>
                    <a:bodyPr wrap="square"/>
                    <a:lstStyle/>
                    <a:p>
                      <a:pPr algn="ctr">
                        <a:lnSpc>
                          <a:spcPct val="95000"/>
                        </a:lnSpc>
                      </a:pPr>
                      <a:r>
                        <a:rPr sz="919" b="1" i="0">
                          <a:solidFill>
                            <a:srgbClr val="FFFFFF"/>
                          </a:solidFill>
                          <a:latin typeface="Segoe UI"/>
                        </a:rPr>
                        <a:t>#</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19" b="1" i="0">
                          <a:solidFill>
                            <a:srgbClr val="FFFFFF"/>
                          </a:solidFill>
                          <a:latin typeface="Segoe UI"/>
                        </a:rPr>
                        <a:t>Test case</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l">
                        <a:lnSpc>
                          <a:spcPct val="95000"/>
                        </a:lnSpc>
                      </a:pPr>
                      <a:r>
                        <a:rPr sz="919" b="1" i="0">
                          <a:solidFill>
                            <a:srgbClr val="FFFFFF"/>
                          </a:solidFill>
                          <a:latin typeface="Segoe UI"/>
                        </a:rPr>
                        <a:t>Expected result</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c>
                  <a:txBody>
                    <a:bodyPr wrap="square"/>
                    <a:lstStyle/>
                    <a:p>
                      <a:pPr algn="ctr">
                        <a:lnSpc>
                          <a:spcPct val="95000"/>
                        </a:lnSpc>
                      </a:pPr>
                      <a:r>
                        <a:rPr sz="919" b="1" i="0">
                          <a:solidFill>
                            <a:srgbClr val="FFFFFF"/>
                          </a:solidFill>
                          <a:latin typeface="Segoe UI"/>
                        </a:rPr>
                        <a:t>Status</a:t>
                      </a:r>
                    </a:p>
                  </a:txBody>
                  <a:tcPr marL="91440" marR="54864" marT="18288" marB="18288" anchor="ctr">
                    <a:lnL w="9525" cap="flat" cmpd="sng" algn="ctr">
                      <a:noFill/>
                    </a:lnL>
                    <a:lnR w="9525" cap="flat" cmpd="sng" algn="ctr">
                      <a:noFill/>
                    </a:lnR>
                    <a:lnT w="9525" cap="flat" cmpd="sng" algn="ctr">
                      <a:noFill/>
                    </a:lnT>
                    <a:lnB w="9525" cap="flat" cmpd="sng" algn="ctr">
                      <a:noFill/>
                    </a:lnB>
                    <a:solidFill>
                      <a:srgbClr val="132A3E"/>
                    </a:solidFill>
                  </a:tcPr>
                </a:tc>
              </a:tr>
              <a:tr h="306324">
                <a:tc>
                  <a:txBody>
                    <a:bodyPr wrap="square"/>
                    <a:lstStyle/>
                    <a:p>
                      <a:pPr algn="ctr">
                        <a:lnSpc>
                          <a:spcPct val="95000"/>
                        </a:lnSpc>
                      </a:pPr>
                      <a:r>
                        <a:rPr sz="919" b="0" i="0">
                          <a:solidFill>
                            <a:srgbClr val="1F2A37"/>
                          </a:solidFill>
                          <a:latin typeface="Segoe UI"/>
                        </a:rPr>
                        <a:t>1</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Login with valid credentials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Dashboard opens with live counters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2</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Login with wrong password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“Invalid e-mail address or password”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06324">
                <a:tc>
                  <a:txBody>
                    <a:bodyPr wrap="square"/>
                    <a:lstStyle/>
                    <a:p>
                      <a:pPr algn="ctr">
                        <a:lnSpc>
                          <a:spcPct val="95000"/>
                        </a:lnSpc>
                      </a:pPr>
                      <a:r>
                        <a:rPr sz="919" b="0" i="0">
                          <a:solidFill>
                            <a:srgbClr val="1F2A37"/>
                          </a:solidFill>
                          <a:latin typeface="Segoe UI"/>
                        </a:rPr>
                        <a:t>3</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Register an existing e-mail</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Rejected with a clear message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4</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Report with a short title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Inline validation error</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06324">
                <a:tc>
                  <a:txBody>
                    <a:bodyPr wrap="square"/>
                    <a:lstStyle/>
                    <a:p>
                      <a:pPr algn="ctr">
                        <a:lnSpc>
                          <a:spcPct val="95000"/>
                        </a:lnSpc>
                      </a:pPr>
                      <a:r>
                        <a:rPr sz="919" b="0" i="0">
                          <a:solidFill>
                            <a:srgbClr val="1F2A37"/>
                          </a:solidFill>
                          <a:latin typeface="Segoe UI"/>
                        </a:rPr>
                        <a:t>5</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Report with a future date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Blocked by spinner maximum and service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6</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Search category + location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Only matching rows returned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06324">
                <a:tc>
                  <a:txBody>
                    <a:bodyPr wrap="square"/>
                    <a:lstStyle/>
                    <a:p>
                      <a:pPr algn="ctr">
                        <a:lnSpc>
                          <a:spcPct val="95000"/>
                        </a:lnSpc>
                      </a:pPr>
                      <a:r>
                        <a:rPr sz="919" b="0" i="0">
                          <a:solidFill>
                            <a:srgbClr val="1F2A37"/>
                          </a:solidFill>
                          <a:latin typeface="Segoe UI"/>
                        </a:rPr>
                        <a:t>7</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Claim your own report</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Claim form hidden</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8</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Submit the same claim twice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Blocked by service and unique key</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06324">
                <a:tc>
                  <a:txBody>
                    <a:bodyPr wrap="square"/>
                    <a:lstStyle/>
                    <a:p>
                      <a:pPr algn="ctr">
                        <a:lnSpc>
                          <a:spcPct val="95000"/>
                        </a:lnSpc>
                      </a:pPr>
                      <a:r>
                        <a:rPr sz="919" b="0" i="0">
                          <a:solidFill>
                            <a:srgbClr val="1F2A37"/>
                          </a:solidFill>
                          <a:latin typeface="Segoe UI"/>
                        </a:rPr>
                        <a:t>9</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Approve a claim</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Item CLAIMED, competing claims REJECTED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10</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Student calls approve directly</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ValidationException raised</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r h="306324">
                <a:tc>
                  <a:txBody>
                    <a:bodyPr wrap="square"/>
                    <a:lstStyle/>
                    <a:p>
                      <a:pPr algn="ctr">
                        <a:lnSpc>
                          <a:spcPct val="95000"/>
                        </a:lnSpc>
                      </a:pPr>
                      <a:r>
                        <a:rPr sz="919" b="0" i="0">
                          <a:solidFill>
                            <a:srgbClr val="1F2A37"/>
                          </a:solidFill>
                          <a:latin typeface="Segoe UI"/>
                        </a:rPr>
                        <a:t>11</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Export CSV and open in Excel</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l">
                        <a:lnSpc>
                          <a:spcPct val="95000"/>
                        </a:lnSpc>
                      </a:pPr>
                      <a:r>
                        <a:rPr sz="919" b="0" i="0">
                          <a:solidFill>
                            <a:srgbClr val="1F2A37"/>
                          </a:solidFill>
                          <a:latin typeface="Segoe UI"/>
                        </a:rPr>
                        <a:t>Correct columns, readable characters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FFFFF"/>
                    </a:solidFill>
                  </a:tcPr>
                </a:tc>
              </a:tr>
              <a:tr h="306324">
                <a:tc>
                  <a:txBody>
                    <a:bodyPr wrap="square"/>
                    <a:lstStyle/>
                    <a:p>
                      <a:pPr algn="ctr">
                        <a:lnSpc>
                          <a:spcPct val="95000"/>
                        </a:lnSpc>
                      </a:pPr>
                      <a:r>
                        <a:rPr sz="919" b="0" i="0">
                          <a:solidFill>
                            <a:srgbClr val="1F2A37"/>
                          </a:solidFill>
                          <a:latin typeface="Segoe UI"/>
                        </a:rPr>
                        <a:t>12</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Stop MySQL and start the app</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l">
                        <a:lnSpc>
                          <a:spcPct val="95000"/>
                        </a:lnSpc>
                      </a:pPr>
                      <a:r>
                        <a:rPr sz="919" b="0" i="0">
                          <a:solidFill>
                            <a:srgbClr val="1F2A37"/>
                          </a:solidFill>
                          <a:latin typeface="Segoe UI"/>
                        </a:rPr>
                        <a:t>Friendly connection message</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c>
                  <a:txBody>
                    <a:bodyPr wrap="square"/>
                    <a:lstStyle/>
                    <a:p>
                      <a:pPr algn="ctr">
                        <a:lnSpc>
                          <a:spcPct val="95000"/>
                        </a:lnSpc>
                      </a:pPr>
                      <a:r>
                        <a:rPr sz="919" b="0" i="0">
                          <a:solidFill>
                            <a:srgbClr val="1F2A37"/>
                          </a:solidFill>
                          <a:latin typeface="Segoe UI"/>
                        </a:rPr>
                        <a:t>Pass</a:t>
                      </a:r>
                    </a:p>
                  </a:txBody>
                  <a:tcPr marL="91440" marR="54864" marT="18288" marB="18288" anchor="ctr">
                    <a:lnL w="9525" cap="flat" cmpd="sng" algn="ctr">
                      <a:noFill/>
                    </a:lnL>
                    <a:lnR w="9525" cap="flat" cmpd="sng" algn="ctr">
                      <a:noFill/>
                    </a:lnR>
                    <a:lnT w="9525" cap="flat" cmpd="sng" algn="ctr">
                      <a:noFill/>
                    </a:lnT>
                    <a:lnB w="9525" cap="flat" cmpd="sng" algn="ctr">
                      <a:solidFill>
                        <a:srgbClr val="DCE3EA"/>
                      </a:solidFill>
                    </a:lnB>
                    <a:solidFill>
                      <a:srgbClr val="F7F9FB"/>
                    </a:solidFill>
                  </a:tcPr>
                </a:tc>
              </a:tr>
            </a:tbl>
          </a:graphicData>
        </a:graphic>
      </p:graphicFrame>
      <p:sp>
        <p:nvSpPr>
          <p:cNvPr id="9" name="TextBox 8"/>
          <p:cNvSpPr txBox="1"/>
          <p:nvPr/>
        </p:nvSpPr>
        <p:spPr>
          <a:xfrm>
            <a:off x="658368" y="5705856"/>
            <a:ext cx="10874959" cy="274320"/>
          </a:xfrm>
          <a:prstGeom prst="rect">
            <a:avLst/>
          </a:prstGeom>
          <a:noFill/>
        </p:spPr>
        <p:txBody>
          <a:bodyPr wrap="square" lIns="0" rIns="0" tIns="0" bIns="0" anchor="t">
            <a:spAutoFit/>
          </a:bodyPr>
          <a:lstStyle/>
          <a:p>
            <a:pPr algn="l">
              <a:lnSpc>
                <a:spcPct val="105000"/>
              </a:lnSpc>
            </a:pPr>
            <a:r>
              <a:rPr sz="950" b="0" i="1">
                <a:solidFill>
                  <a:srgbClr val="6B7A8C"/>
                </a:solidFill>
                <a:latin typeface="Segoe UI"/>
              </a:rPr>
              <a:t>Full 18-case table in docs/SETUP_AND_DEMO.md §9. Cases 9 and 10 are the important ones.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Results</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Measured on the seeded database</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27</a:t>
            </a:r>
          </a:p>
        </p:txBody>
      </p:sp>
      <p:sp>
        <p:nvSpPr>
          <p:cNvPr id="8" name="Rounded Rectangle 7"/>
          <p:cNvSpPr/>
          <p:nvPr/>
        </p:nvSpPr>
        <p:spPr>
          <a:xfrm>
            <a:off x="658368" y="1691640"/>
            <a:ext cx="2578608" cy="14173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801368"/>
            <a:ext cx="54864" cy="1197864"/>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74520"/>
            <a:ext cx="2212848" cy="640080"/>
          </a:xfrm>
          <a:prstGeom prst="rect">
            <a:avLst/>
          </a:prstGeom>
          <a:noFill/>
        </p:spPr>
        <p:txBody>
          <a:bodyPr wrap="square" lIns="0" rIns="0" tIns="0" bIns="0" anchor="t">
            <a:spAutoFit/>
          </a:bodyPr>
          <a:lstStyle/>
          <a:p>
            <a:pPr algn="l">
              <a:lnSpc>
                <a:spcPct val="105000"/>
              </a:lnSpc>
            </a:pPr>
            <a:r>
              <a:rPr sz="3400" b="1" i="0">
                <a:solidFill>
                  <a:srgbClr val="1F2A37"/>
                </a:solidFill>
                <a:latin typeface="Segoe UI"/>
              </a:rPr>
              <a:t>14</a:t>
            </a:r>
          </a:p>
        </p:txBody>
      </p:sp>
      <p:sp>
        <p:nvSpPr>
          <p:cNvPr id="11" name="TextBox 10"/>
          <p:cNvSpPr txBox="1"/>
          <p:nvPr/>
        </p:nvSpPr>
        <p:spPr>
          <a:xfrm>
            <a:off x="877824" y="2560320"/>
            <a:ext cx="2212848" cy="365760"/>
          </a:xfrm>
          <a:prstGeom prst="rect">
            <a:avLst/>
          </a:prstGeom>
          <a:noFill/>
        </p:spPr>
        <p:txBody>
          <a:bodyPr wrap="square" lIns="0" rIns="0" tIns="0" bIns="0" anchor="t">
            <a:spAutoFit/>
          </a:bodyPr>
          <a:lstStyle/>
          <a:p>
            <a:pPr algn="l">
              <a:lnSpc>
                <a:spcPct val="105000"/>
              </a:lnSpc>
            </a:pPr>
            <a:r>
              <a:rPr sz="1050" b="0" i="0">
                <a:solidFill>
                  <a:srgbClr val="6B7A8C"/>
                </a:solidFill>
                <a:latin typeface="Segoe UI"/>
              </a:rPr>
              <a:t>reports seeded (7 lost / 7 found)</a:t>
            </a:r>
          </a:p>
        </p:txBody>
      </p:sp>
      <p:sp>
        <p:nvSpPr>
          <p:cNvPr id="12" name="Rounded Rectangle 11"/>
          <p:cNvSpPr/>
          <p:nvPr/>
        </p:nvSpPr>
        <p:spPr>
          <a:xfrm>
            <a:off x="3401568" y="1691640"/>
            <a:ext cx="2578608" cy="14173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01568" y="1801368"/>
            <a:ext cx="54864" cy="1197864"/>
          </a:xfrm>
          <a:prstGeom prst="rect">
            <a:avLst/>
          </a:prstGeom>
          <a:solidFill>
            <a:srgbClr val="C7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1024" y="1874520"/>
            <a:ext cx="2212848" cy="640080"/>
          </a:xfrm>
          <a:prstGeom prst="rect">
            <a:avLst/>
          </a:prstGeom>
          <a:noFill/>
        </p:spPr>
        <p:txBody>
          <a:bodyPr wrap="square" lIns="0" rIns="0" tIns="0" bIns="0" anchor="t">
            <a:spAutoFit/>
          </a:bodyPr>
          <a:lstStyle/>
          <a:p>
            <a:pPr algn="l">
              <a:lnSpc>
                <a:spcPct val="105000"/>
              </a:lnSpc>
            </a:pPr>
            <a:r>
              <a:rPr sz="3400" b="1" i="0">
                <a:solidFill>
                  <a:srgbClr val="1F2A37"/>
                </a:solidFill>
                <a:latin typeface="Segoe UI"/>
              </a:rPr>
              <a:t>5</a:t>
            </a:r>
          </a:p>
        </p:txBody>
      </p:sp>
      <p:sp>
        <p:nvSpPr>
          <p:cNvPr id="15" name="TextBox 14"/>
          <p:cNvSpPr txBox="1"/>
          <p:nvPr/>
        </p:nvSpPr>
        <p:spPr>
          <a:xfrm>
            <a:off x="3621024" y="2560320"/>
            <a:ext cx="2212848" cy="365760"/>
          </a:xfrm>
          <a:prstGeom prst="rect">
            <a:avLst/>
          </a:prstGeom>
          <a:noFill/>
        </p:spPr>
        <p:txBody>
          <a:bodyPr wrap="square" lIns="0" rIns="0" tIns="0" bIns="0" anchor="t">
            <a:spAutoFit/>
          </a:bodyPr>
          <a:lstStyle/>
          <a:p>
            <a:pPr algn="l">
              <a:lnSpc>
                <a:spcPct val="105000"/>
              </a:lnSpc>
            </a:pPr>
            <a:r>
              <a:rPr sz="1050" b="0" i="0">
                <a:solidFill>
                  <a:srgbClr val="6B7A8C"/>
                </a:solidFill>
                <a:latin typeface="Segoe UI"/>
              </a:rPr>
              <a:t>ownership claims in every state</a:t>
            </a:r>
          </a:p>
        </p:txBody>
      </p:sp>
      <p:sp>
        <p:nvSpPr>
          <p:cNvPr id="16" name="Rounded Rectangle 15"/>
          <p:cNvSpPr/>
          <p:nvPr/>
        </p:nvSpPr>
        <p:spPr>
          <a:xfrm>
            <a:off x="6144768" y="1691640"/>
            <a:ext cx="2578608" cy="14173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44768" y="1801368"/>
            <a:ext cx="54864" cy="1197864"/>
          </a:xfrm>
          <a:prstGeom prst="rect">
            <a:avLst/>
          </a:prstGeom>
          <a:solidFill>
            <a:srgbClr val="1F5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874520"/>
            <a:ext cx="2212848" cy="640080"/>
          </a:xfrm>
          <a:prstGeom prst="rect">
            <a:avLst/>
          </a:prstGeom>
          <a:noFill/>
        </p:spPr>
        <p:txBody>
          <a:bodyPr wrap="square" lIns="0" rIns="0" tIns="0" bIns="0" anchor="t">
            <a:spAutoFit/>
          </a:bodyPr>
          <a:lstStyle/>
          <a:p>
            <a:pPr algn="l">
              <a:lnSpc>
                <a:spcPct val="105000"/>
              </a:lnSpc>
            </a:pPr>
            <a:r>
              <a:rPr sz="3400" b="1" i="0">
                <a:solidFill>
                  <a:srgbClr val="1F2A37"/>
                </a:solidFill>
                <a:latin typeface="Segoe UI"/>
              </a:rPr>
              <a:t>6</a:t>
            </a:r>
          </a:p>
        </p:txBody>
      </p:sp>
      <p:sp>
        <p:nvSpPr>
          <p:cNvPr id="19" name="TextBox 18"/>
          <p:cNvSpPr txBox="1"/>
          <p:nvPr/>
        </p:nvSpPr>
        <p:spPr>
          <a:xfrm>
            <a:off x="6364224" y="2560320"/>
            <a:ext cx="2212848" cy="365760"/>
          </a:xfrm>
          <a:prstGeom prst="rect">
            <a:avLst/>
          </a:prstGeom>
          <a:noFill/>
        </p:spPr>
        <p:txBody>
          <a:bodyPr wrap="square" lIns="0" rIns="0" tIns="0" bIns="0" anchor="t">
            <a:spAutoFit/>
          </a:bodyPr>
          <a:lstStyle/>
          <a:p>
            <a:pPr algn="l">
              <a:lnSpc>
                <a:spcPct val="105000"/>
              </a:lnSpc>
            </a:pPr>
            <a:r>
              <a:rPr sz="1050" b="0" i="0">
                <a:solidFill>
                  <a:srgbClr val="6B7A8C"/>
                </a:solidFill>
                <a:latin typeface="Segoe UI"/>
              </a:rPr>
              <a:t>suggested matches from real data</a:t>
            </a:r>
          </a:p>
        </p:txBody>
      </p:sp>
      <p:sp>
        <p:nvSpPr>
          <p:cNvPr id="20" name="Rounded Rectangle 19"/>
          <p:cNvSpPr/>
          <p:nvPr/>
        </p:nvSpPr>
        <p:spPr>
          <a:xfrm>
            <a:off x="8887968" y="1691640"/>
            <a:ext cx="2578608" cy="141732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887968" y="1801368"/>
            <a:ext cx="54864" cy="1197864"/>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07424" y="1874520"/>
            <a:ext cx="2212848" cy="640080"/>
          </a:xfrm>
          <a:prstGeom prst="rect">
            <a:avLst/>
          </a:prstGeom>
          <a:noFill/>
        </p:spPr>
        <p:txBody>
          <a:bodyPr wrap="square" lIns="0" rIns="0" tIns="0" bIns="0" anchor="t">
            <a:spAutoFit/>
          </a:bodyPr>
          <a:lstStyle/>
          <a:p>
            <a:pPr algn="l">
              <a:lnSpc>
                <a:spcPct val="105000"/>
              </a:lnSpc>
            </a:pPr>
            <a:r>
              <a:rPr sz="3400" b="1" i="0">
                <a:solidFill>
                  <a:srgbClr val="1F2A37"/>
                </a:solidFill>
                <a:latin typeface="Segoe UI"/>
              </a:rPr>
              <a:t>0</a:t>
            </a:r>
          </a:p>
        </p:txBody>
      </p:sp>
      <p:sp>
        <p:nvSpPr>
          <p:cNvPr id="23" name="TextBox 22"/>
          <p:cNvSpPr txBox="1"/>
          <p:nvPr/>
        </p:nvSpPr>
        <p:spPr>
          <a:xfrm>
            <a:off x="9107424" y="2560320"/>
            <a:ext cx="2212848" cy="365760"/>
          </a:xfrm>
          <a:prstGeom prst="rect">
            <a:avLst/>
          </a:prstGeom>
          <a:noFill/>
        </p:spPr>
        <p:txBody>
          <a:bodyPr wrap="square" lIns="0" rIns="0" tIns="0" bIns="0" anchor="t">
            <a:spAutoFit/>
          </a:bodyPr>
          <a:lstStyle/>
          <a:p>
            <a:pPr algn="l">
              <a:lnSpc>
                <a:spcPct val="105000"/>
              </a:lnSpc>
            </a:pPr>
            <a:r>
              <a:rPr sz="1050" b="0" i="0">
                <a:solidFill>
                  <a:srgbClr val="6B7A8C"/>
                </a:solidFill>
                <a:latin typeface="Segoe UI"/>
              </a:rPr>
              <a:t>inconsistent states after rollback tests</a:t>
            </a:r>
          </a:p>
        </p:txBody>
      </p:sp>
      <p:sp>
        <p:nvSpPr>
          <p:cNvPr id="24" name="Rounded Rectangle 23"/>
          <p:cNvSpPr/>
          <p:nvPr/>
        </p:nvSpPr>
        <p:spPr>
          <a:xfrm>
            <a:off x="658368" y="3566160"/>
            <a:ext cx="10874959" cy="182880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8407" y="3730752"/>
            <a:ext cx="3657600" cy="274320"/>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VALUE DELIVERED</a:t>
            </a:r>
          </a:p>
        </p:txBody>
      </p:sp>
      <p:sp>
        <p:nvSpPr>
          <p:cNvPr id="26" name="TextBox 25"/>
          <p:cNvSpPr txBox="1"/>
          <p:nvPr/>
        </p:nvSpPr>
        <p:spPr>
          <a:xfrm>
            <a:off x="978407" y="4041648"/>
            <a:ext cx="10143439" cy="1188720"/>
          </a:xfrm>
          <a:prstGeom prst="rect">
            <a:avLst/>
          </a:prstGeom>
          <a:noFill/>
        </p:spPr>
        <p:txBody>
          <a:bodyPr wrap="square" lIns="0" rIns="0" tIns="0" bIns="0" anchor="t">
            <a:spAutoFit/>
          </a:bodyPr>
          <a:lstStyle/>
          <a:p>
            <a:pPr algn="l">
              <a:lnSpc>
                <a:spcPct val="135000"/>
              </a:lnSpc>
            </a:pPr>
            <a:r>
              <a:rPr sz="1250" b="0" i="0">
                <a:solidFill>
                  <a:srgbClr val="1F2A37"/>
                </a:solidFill>
                <a:latin typeface="Segoe UI"/>
              </a:rPr>
              <a:t>A searchable, verifiable, auditable replacement for the notice board and the paper register. Approving a claim moves three rows in one transaction; the dashboard recovery rate and the item status update together, and the trigger records why.</a:t>
            </a:r>
          </a:p>
        </p:txBody>
      </p:sp>
      <p:sp>
        <p:nvSpPr>
          <p:cNvPr id="27" name="TextBox 26"/>
          <p:cNvSpPr txBox="1"/>
          <p:nvPr/>
        </p:nvSpPr>
        <p:spPr>
          <a:xfrm>
            <a:off x="658368" y="5623560"/>
            <a:ext cx="10874959" cy="365760"/>
          </a:xfrm>
          <a:prstGeom prst="rect">
            <a:avLst/>
          </a:prstGeom>
          <a:noFill/>
        </p:spPr>
        <p:txBody>
          <a:bodyPr wrap="square" lIns="0" rIns="0" tIns="0" bIns="0" anchor="t">
            <a:spAutoFit/>
          </a:bodyPr>
          <a:lstStyle/>
          <a:p>
            <a:pPr algn="l">
              <a:lnSpc>
                <a:spcPct val="105000"/>
              </a:lnSpc>
            </a:pPr>
            <a:r>
              <a:rPr sz="1050" b="0" i="1">
                <a:solidFill>
                  <a:srgbClr val="6B7A8C"/>
                </a:solidFill>
                <a:latin typeface="Segoe UI"/>
              </a:rPr>
              <a:t>Recovery rate = recovered items ÷ total reports — visible live, exportable on demand.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Limitations and future scope</a:t>
            </a:r>
          </a:p>
        </p:txBody>
      </p:sp>
      <p:sp>
        <p:nvSpPr>
          <p:cNvPr id="4" name="TextBox 3"/>
          <p:cNvSpPr txBox="1"/>
          <p:nvPr/>
        </p:nvSpPr>
        <p:spPr>
          <a:xfrm>
            <a:off x="868680" y="1033271"/>
            <a:ext cx="10664647" cy="347472"/>
          </a:xfrm>
          <a:prstGeom prst="rect">
            <a:avLst/>
          </a:prstGeom>
          <a:noFill/>
        </p:spPr>
        <p:txBody>
          <a:bodyPr wrap="square" lIns="0" rIns="0" tIns="0" bIns="0" anchor="t">
            <a:spAutoFit/>
          </a:bodyPr>
          <a:lstStyle/>
          <a:p>
            <a:pPr algn="l">
              <a:lnSpc>
                <a:spcPct val="105000"/>
              </a:lnSpc>
            </a:pPr>
            <a:r>
              <a:rPr sz="1150" b="0" i="0">
                <a:solidFill>
                  <a:srgbClr val="6B7A8C"/>
                </a:solidFill>
                <a:latin typeface="Segoe UI"/>
              </a:rPr>
              <a:t>Honest about what it is not — specific about what comes next</a:t>
            </a:r>
          </a:p>
        </p:txBody>
      </p:sp>
      <p:cxnSp>
        <p:nvCxnSpPr>
          <p:cNvPr id="5" name="Connector 4"/>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7" name="TextBox 6"/>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28</a:t>
            </a:r>
          </a:p>
        </p:txBody>
      </p:sp>
      <p:sp>
        <p:nvSpPr>
          <p:cNvPr id="8" name="Rounded Rectangle 7"/>
          <p:cNvSpPr/>
          <p:nvPr/>
        </p:nvSpPr>
        <p:spPr>
          <a:xfrm>
            <a:off x="658368" y="1645920"/>
            <a:ext cx="5349240" cy="365760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1792224"/>
            <a:ext cx="3657600" cy="274320"/>
          </a:xfrm>
          <a:prstGeom prst="rect">
            <a:avLst/>
          </a:prstGeom>
          <a:noFill/>
        </p:spPr>
        <p:txBody>
          <a:bodyPr wrap="square" lIns="0" rIns="0" tIns="0" bIns="0" anchor="t">
            <a:spAutoFit/>
          </a:bodyPr>
          <a:lstStyle/>
          <a:p>
            <a:pPr algn="l">
              <a:lnSpc>
                <a:spcPct val="105000"/>
              </a:lnSpc>
            </a:pPr>
            <a:r>
              <a:rPr sz="950" b="1" i="0">
                <a:solidFill>
                  <a:srgbClr val="C77D00"/>
                </a:solidFill>
                <a:latin typeface="Consolas"/>
              </a:rPr>
              <a:t>CURRENT LIMITATIONS</a:t>
            </a:r>
          </a:p>
        </p:txBody>
      </p:sp>
      <p:sp>
        <p:nvSpPr>
          <p:cNvPr id="10" name="TextBox 9"/>
          <p:cNvSpPr txBox="1"/>
          <p:nvPr/>
        </p:nvSpPr>
        <p:spPr>
          <a:xfrm>
            <a:off x="932688" y="2157984"/>
            <a:ext cx="4800600" cy="365760"/>
          </a:xfrm>
          <a:prstGeom prst="rect">
            <a:avLst/>
          </a:prstGeom>
          <a:noFill/>
        </p:spPr>
        <p:txBody>
          <a:bodyPr wrap="square" lIns="0" rIns="0" tIns="0" bIns="0">
            <a:spAutoFit/>
          </a:bodyPr>
          <a:lstStyle/>
          <a:p>
            <a:pPr>
              <a:lnSpc>
                <a:spcPct val="105000"/>
              </a:lnSpc>
              <a:spcAft>
                <a:spcPts val="1100"/>
              </a:spcAft>
            </a:pPr>
            <a:r>
              <a:rPr sz="1100" b="1">
                <a:solidFill>
                  <a:srgbClr val="C77D00"/>
                </a:solidFill>
                <a:latin typeface="Segoe UI"/>
              </a:rPr>
              <a:t>•  </a:t>
            </a:r>
            <a:r>
              <a:rPr sz="1100" b="0" i="0">
                <a:solidFill>
                  <a:srgbClr val="1F2A37"/>
                </a:solidFill>
                <a:latin typeface="Segoe UI"/>
              </a:rPr>
              <a:t>Desktop-only, single campus.</a:t>
            </a:r>
          </a:p>
          <a:p>
            <a:pPr>
              <a:lnSpc>
                <a:spcPct val="105000"/>
              </a:lnSpc>
              <a:spcAft>
                <a:spcPts val="1100"/>
              </a:spcAft>
            </a:pPr>
            <a:r>
              <a:rPr sz="1100" b="1">
                <a:solidFill>
                  <a:srgbClr val="C77D00"/>
                </a:solidFill>
                <a:latin typeface="Segoe UI"/>
              </a:rPr>
              <a:t>•  </a:t>
            </a:r>
            <a:r>
              <a:rPr sz="1100" b="0" i="0">
                <a:solidFill>
                  <a:srgbClr val="1F2A37"/>
                </a:solidFill>
                <a:latin typeface="Segoe UI"/>
              </a:rPr>
              <a:t>No photo attachment — text descriptions only.</a:t>
            </a:r>
          </a:p>
          <a:p>
            <a:pPr>
              <a:lnSpc>
                <a:spcPct val="105000"/>
              </a:lnSpc>
              <a:spcAft>
                <a:spcPts val="1100"/>
              </a:spcAft>
            </a:pPr>
            <a:r>
              <a:rPr sz="1100" b="1">
                <a:solidFill>
                  <a:srgbClr val="C77D00"/>
                </a:solidFill>
                <a:latin typeface="Segoe UI"/>
              </a:rPr>
              <a:t>•  </a:t>
            </a:r>
            <a:r>
              <a:rPr sz="1100" b="0" i="0">
                <a:solidFill>
                  <a:srgbClr val="1F2A37"/>
                </a:solidFill>
                <a:latin typeface="Segoe UI"/>
              </a:rPr>
              <a:t>SHA-256 without a salt: adequate for a project, not production.</a:t>
            </a:r>
          </a:p>
          <a:p>
            <a:pPr>
              <a:lnSpc>
                <a:spcPct val="105000"/>
              </a:lnSpc>
              <a:spcAft>
                <a:spcPts val="1100"/>
              </a:spcAft>
            </a:pPr>
            <a:r>
              <a:rPr sz="1100" b="1">
                <a:solidFill>
                  <a:srgbClr val="C77D00"/>
                </a:solidFill>
                <a:latin typeface="Segoe UI"/>
              </a:rPr>
              <a:t>•  </a:t>
            </a:r>
            <a:r>
              <a:rPr sz="1100" b="0" i="0">
                <a:solidFill>
                  <a:srgbClr val="1F2A37"/>
                </a:solidFill>
                <a:latin typeface="Segoe UI"/>
              </a:rPr>
              <a:t>Matching is rule-based, not machine-learned.</a:t>
            </a:r>
          </a:p>
          <a:p>
            <a:pPr>
              <a:lnSpc>
                <a:spcPct val="105000"/>
              </a:lnSpc>
              <a:spcAft>
                <a:spcPts val="1100"/>
              </a:spcAft>
            </a:pPr>
            <a:r>
              <a:rPr sz="1100" b="1">
                <a:solidFill>
                  <a:srgbClr val="C77D00"/>
                </a:solidFill>
                <a:latin typeface="Segoe UI"/>
              </a:rPr>
              <a:t>•  </a:t>
            </a:r>
            <a:r>
              <a:rPr sz="1100" b="0" i="0">
                <a:solidFill>
                  <a:srgbClr val="1F2A37"/>
                </a:solidFill>
                <a:latin typeface="Segoe UI"/>
              </a:rPr>
              <a:t>Categories and locations are maintained in SQL, not in the UI.</a:t>
            </a:r>
          </a:p>
        </p:txBody>
      </p:sp>
      <p:sp>
        <p:nvSpPr>
          <p:cNvPr id="11" name="Rounded Rectangle 10"/>
          <p:cNvSpPr/>
          <p:nvPr/>
        </p:nvSpPr>
        <p:spPr>
          <a:xfrm>
            <a:off x="6190488" y="1645920"/>
            <a:ext cx="5349240" cy="3657600"/>
          </a:xfrm>
          <a:prstGeom prst="roundRect">
            <a:avLst>
              <a:gd name="adj" fmla="val 5000"/>
            </a:avLst>
          </a:prstGeom>
          <a:solidFill>
            <a:srgbClr val="FFFFFF"/>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64807" y="1792224"/>
            <a:ext cx="3657600" cy="274320"/>
          </a:xfrm>
          <a:prstGeom prst="rect">
            <a:avLst/>
          </a:prstGeom>
          <a:noFill/>
        </p:spPr>
        <p:txBody>
          <a:bodyPr wrap="square" lIns="0" rIns="0" tIns="0" bIns="0" anchor="t">
            <a:spAutoFit/>
          </a:bodyPr>
          <a:lstStyle/>
          <a:p>
            <a:pPr algn="l">
              <a:lnSpc>
                <a:spcPct val="105000"/>
              </a:lnSpc>
            </a:pPr>
            <a:r>
              <a:rPr sz="950" b="1" i="0">
                <a:solidFill>
                  <a:srgbClr val="2E7D4F"/>
                </a:solidFill>
                <a:latin typeface="Consolas"/>
              </a:rPr>
              <a:t>NEXT STEPS</a:t>
            </a:r>
          </a:p>
        </p:txBody>
      </p:sp>
      <p:sp>
        <p:nvSpPr>
          <p:cNvPr id="13" name="TextBox 12"/>
          <p:cNvSpPr txBox="1"/>
          <p:nvPr/>
        </p:nvSpPr>
        <p:spPr>
          <a:xfrm>
            <a:off x="6464807" y="2157984"/>
            <a:ext cx="4800600" cy="365760"/>
          </a:xfrm>
          <a:prstGeom prst="rect">
            <a:avLst/>
          </a:prstGeom>
          <a:noFill/>
        </p:spPr>
        <p:txBody>
          <a:bodyPr wrap="square" lIns="0" rIns="0" tIns="0" bIns="0">
            <a:spAutoFit/>
          </a:bodyPr>
          <a:lstStyle/>
          <a:p>
            <a:pPr>
              <a:lnSpc>
                <a:spcPct val="105000"/>
              </a:lnSpc>
              <a:spcAft>
                <a:spcPts val="1100"/>
              </a:spcAft>
            </a:pPr>
            <a:r>
              <a:rPr sz="1100" b="1">
                <a:solidFill>
                  <a:srgbClr val="2E7D4F"/>
                </a:solidFill>
                <a:latin typeface="Segoe UI"/>
              </a:rPr>
              <a:t>•  </a:t>
            </a:r>
            <a:r>
              <a:rPr sz="1100" b="0" i="0">
                <a:solidFill>
                  <a:srgbClr val="1F2A37"/>
                </a:solidFill>
                <a:latin typeface="Segoe UI"/>
              </a:rPr>
              <a:t>Photo upload + image similarity search.</a:t>
            </a:r>
          </a:p>
          <a:p>
            <a:pPr>
              <a:lnSpc>
                <a:spcPct val="105000"/>
              </a:lnSpc>
              <a:spcAft>
                <a:spcPts val="1100"/>
              </a:spcAft>
            </a:pPr>
            <a:r>
              <a:rPr sz="1100" b="1">
                <a:solidFill>
                  <a:srgbClr val="2E7D4F"/>
                </a:solidFill>
                <a:latin typeface="Segoe UI"/>
              </a:rPr>
              <a:t>•  </a:t>
            </a:r>
            <a:r>
              <a:rPr sz="1100" b="0" i="0">
                <a:solidFill>
                  <a:srgbClr val="1F2A37"/>
                </a:solidFill>
                <a:latin typeface="Segoe UI"/>
              </a:rPr>
              <a:t>E-mail / SMS notification on a new match.</a:t>
            </a:r>
          </a:p>
          <a:p>
            <a:pPr>
              <a:lnSpc>
                <a:spcPct val="105000"/>
              </a:lnSpc>
              <a:spcAft>
                <a:spcPts val="1100"/>
              </a:spcAft>
            </a:pPr>
            <a:r>
              <a:rPr sz="1100" b="1">
                <a:solidFill>
                  <a:srgbClr val="2E7D4F"/>
                </a:solidFill>
                <a:latin typeface="Segoe UI"/>
              </a:rPr>
              <a:t>•  </a:t>
            </a:r>
            <a:r>
              <a:rPr sz="1100" b="0" i="0">
                <a:solidFill>
                  <a:srgbClr val="1F2A37"/>
                </a:solidFill>
                <a:latin typeface="Segoe UI"/>
              </a:rPr>
              <a:t>Web or mobile client on the same database.</a:t>
            </a:r>
          </a:p>
          <a:p>
            <a:pPr>
              <a:lnSpc>
                <a:spcPct val="105000"/>
              </a:lnSpc>
              <a:spcAft>
                <a:spcPts val="1100"/>
              </a:spcAft>
            </a:pPr>
            <a:r>
              <a:rPr sz="1100" b="1">
                <a:solidFill>
                  <a:srgbClr val="2E7D4F"/>
                </a:solidFill>
                <a:latin typeface="Segoe UI"/>
              </a:rPr>
              <a:t>•  </a:t>
            </a:r>
            <a:r>
              <a:rPr sz="1100" b="0" i="0">
                <a:solidFill>
                  <a:srgbClr val="1F2A37"/>
                </a:solidFill>
                <a:latin typeface="Segoe UI"/>
              </a:rPr>
              <a:t>QR-code tags on lab equipment.</a:t>
            </a:r>
          </a:p>
          <a:p>
            <a:pPr>
              <a:lnSpc>
                <a:spcPct val="105000"/>
              </a:lnSpc>
              <a:spcAft>
                <a:spcPts val="1100"/>
              </a:spcAft>
            </a:pPr>
            <a:r>
              <a:rPr sz="1100" b="1">
                <a:solidFill>
                  <a:srgbClr val="2E7D4F"/>
                </a:solidFill>
                <a:latin typeface="Segoe UI"/>
              </a:rPr>
              <a:t>•  </a:t>
            </a:r>
            <a:r>
              <a:rPr sz="1100" b="0" i="0">
                <a:solidFill>
                  <a:srgbClr val="1F2A37"/>
                </a:solidFill>
                <a:latin typeface="Segoe UI"/>
              </a:rPr>
              <a:t>Salted BCrypt hashing and an audit login table.</a:t>
            </a:r>
          </a:p>
        </p:txBody>
      </p:sp>
      <p:sp>
        <p:nvSpPr>
          <p:cNvPr id="14" name="TextBox 13"/>
          <p:cNvSpPr txBox="1"/>
          <p:nvPr/>
        </p:nvSpPr>
        <p:spPr>
          <a:xfrm>
            <a:off x="658368" y="5532120"/>
            <a:ext cx="10874959" cy="457200"/>
          </a:xfrm>
          <a:prstGeom prst="rect">
            <a:avLst/>
          </a:prstGeom>
          <a:noFill/>
        </p:spPr>
        <p:txBody>
          <a:bodyPr wrap="square" lIns="0" rIns="0" tIns="0" bIns="0" anchor="t">
            <a:spAutoFit/>
          </a:bodyPr>
          <a:lstStyle/>
          <a:p>
            <a:pPr algn="l">
              <a:lnSpc>
                <a:spcPct val="105000"/>
              </a:lnSpc>
            </a:pPr>
            <a:r>
              <a:rPr sz="1150" b="0" i="1">
                <a:solidFill>
                  <a:srgbClr val="6B7A8C"/>
                </a:solidFill>
                <a:latin typeface="Segoe UI"/>
              </a:rPr>
              <a:t>Each item is a well-scoped extension, not a rewrite — because the layers are separated.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658368" y="530352"/>
            <a:ext cx="64008" cy="56692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475488"/>
            <a:ext cx="10673791" cy="502920"/>
          </a:xfrm>
          <a:prstGeom prst="rect">
            <a:avLst/>
          </a:prstGeom>
          <a:noFill/>
        </p:spPr>
        <p:txBody>
          <a:bodyPr wrap="square" lIns="0" rIns="0" tIns="0" bIns="0" anchor="t">
            <a:spAutoFit/>
          </a:bodyPr>
          <a:lstStyle/>
          <a:p>
            <a:pPr algn="l">
              <a:lnSpc>
                <a:spcPct val="105000"/>
              </a:lnSpc>
            </a:pPr>
            <a:r>
              <a:rPr sz="2600" b="1" i="0">
                <a:solidFill>
                  <a:srgbClr val="132A3E"/>
                </a:solidFill>
                <a:latin typeface="Segoe UI"/>
              </a:rPr>
              <a:t>Conclusion</a:t>
            </a:r>
          </a:p>
        </p:txBody>
      </p:sp>
      <p:cxnSp>
        <p:nvCxnSpPr>
          <p:cNvPr id="4" name="Connector 3"/>
          <p:cNvCxnSpPr/>
          <p:nvPr/>
        </p:nvCxnSpPr>
        <p:spPr>
          <a:xfrm>
            <a:off x="658368" y="6364224"/>
            <a:ext cx="10874959" cy="0"/>
          </a:xfrm>
          <a:prstGeom prst="line">
            <a:avLst/>
          </a:prstGeom>
          <a:ln w="12700">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6428232"/>
            <a:ext cx="8229600" cy="228600"/>
          </a:xfrm>
          <a:prstGeom prst="rect">
            <a:avLst/>
          </a:prstGeom>
          <a:noFill/>
        </p:spPr>
        <p:txBody>
          <a:bodyPr wrap="square" lIns="0" rIns="0" tIns="0" bIns="0" anchor="t">
            <a:spAutoFit/>
          </a:bodyPr>
          <a:lstStyle/>
          <a:p>
            <a:pPr algn="l">
              <a:lnSpc>
                <a:spcPct val="105000"/>
              </a:lnSpc>
            </a:pPr>
            <a:r>
              <a:rPr sz="850" b="0" i="0">
                <a:solidFill>
                  <a:srgbClr val="6B7A8C"/>
                </a:solidFill>
                <a:latin typeface="Segoe UI"/>
              </a:rPr>
              <a:t>Campus Lost &amp; Found Management System  ·  OOPS + DBMS Mini Project</a:t>
            </a:r>
          </a:p>
        </p:txBody>
      </p:sp>
      <p:sp>
        <p:nvSpPr>
          <p:cNvPr id="6" name="TextBox 5"/>
          <p:cNvSpPr txBox="1"/>
          <p:nvPr/>
        </p:nvSpPr>
        <p:spPr>
          <a:xfrm>
            <a:off x="10801807" y="6428232"/>
            <a:ext cx="731520" cy="228600"/>
          </a:xfrm>
          <a:prstGeom prst="rect">
            <a:avLst/>
          </a:prstGeom>
          <a:noFill/>
        </p:spPr>
        <p:txBody>
          <a:bodyPr wrap="square" lIns="0" rIns="0" tIns="0" bIns="0" anchor="t">
            <a:spAutoFit/>
          </a:bodyPr>
          <a:lstStyle/>
          <a:p>
            <a:pPr algn="r">
              <a:lnSpc>
                <a:spcPct val="105000"/>
              </a:lnSpc>
            </a:pPr>
            <a:r>
              <a:rPr sz="900" b="1" i="0">
                <a:solidFill>
                  <a:srgbClr val="6B7A8C"/>
                </a:solidFill>
                <a:latin typeface="Segoe UI"/>
              </a:rPr>
              <a:t>29</a:t>
            </a:r>
          </a:p>
        </p:txBody>
      </p:sp>
      <p:sp>
        <p:nvSpPr>
          <p:cNvPr id="7" name="TextBox 6"/>
          <p:cNvSpPr txBox="1"/>
          <p:nvPr/>
        </p:nvSpPr>
        <p:spPr>
          <a:xfrm>
            <a:off x="658368" y="1600200"/>
            <a:ext cx="10874959" cy="914400"/>
          </a:xfrm>
          <a:prstGeom prst="rect">
            <a:avLst/>
          </a:prstGeom>
          <a:noFill/>
        </p:spPr>
        <p:txBody>
          <a:bodyPr wrap="square" lIns="0" rIns="0" tIns="0" bIns="0" anchor="t">
            <a:spAutoFit/>
          </a:bodyPr>
          <a:lstStyle/>
          <a:p>
            <a:pPr algn="l">
              <a:lnSpc>
                <a:spcPct val="125000"/>
              </a:lnSpc>
            </a:pPr>
            <a:r>
              <a:rPr sz="3000" b="1" i="0">
                <a:solidFill>
                  <a:srgbClr val="132A3E"/>
                </a:solidFill>
                <a:latin typeface="Segoe UI"/>
              </a:rPr>
              <a:t>One database, one workflow,</a:t>
            </a:r>
          </a:p>
          <a:p>
            <a:pPr algn="l">
              <a:lnSpc>
                <a:spcPct val="125000"/>
              </a:lnSpc>
            </a:pPr>
            <a:r>
              <a:rPr sz="3000" b="1" i="0">
                <a:solidFill>
                  <a:srgbClr val="132A3E"/>
                </a:solidFill>
                <a:latin typeface="Segoe UI"/>
              </a:rPr>
              <a:t>zero lost-and-found chaos.</a:t>
            </a:r>
          </a:p>
        </p:txBody>
      </p:sp>
      <p:sp>
        <p:nvSpPr>
          <p:cNvPr id="8" name="TextBox 7"/>
          <p:cNvSpPr txBox="1"/>
          <p:nvPr/>
        </p:nvSpPr>
        <p:spPr>
          <a:xfrm>
            <a:off x="658368" y="3154680"/>
            <a:ext cx="1371600" cy="274320"/>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PROBLEM</a:t>
            </a:r>
          </a:p>
        </p:txBody>
      </p:sp>
      <p:sp>
        <p:nvSpPr>
          <p:cNvPr id="9" name="TextBox 8"/>
          <p:cNvSpPr txBox="1"/>
          <p:nvPr/>
        </p:nvSpPr>
        <p:spPr>
          <a:xfrm>
            <a:off x="2167128" y="3108960"/>
            <a:ext cx="9320479" cy="777240"/>
          </a:xfrm>
          <a:prstGeom prst="rect">
            <a:avLst/>
          </a:prstGeom>
          <a:noFill/>
        </p:spPr>
        <p:txBody>
          <a:bodyPr wrap="square" lIns="0" rIns="0" tIns="0" bIns="0" anchor="t">
            <a:spAutoFit/>
          </a:bodyPr>
          <a:lstStyle/>
          <a:p>
            <a:pPr algn="l">
              <a:lnSpc>
                <a:spcPct val="130000"/>
              </a:lnSpc>
            </a:pPr>
            <a:r>
              <a:rPr sz="1250" b="0" i="0">
                <a:solidFill>
                  <a:srgbClr val="1F2A37"/>
                </a:solidFill>
                <a:latin typeface="Segoe UI"/>
              </a:rPr>
              <a:t>Fragmented, unsearchable, unverifiable reporting.</a:t>
            </a:r>
          </a:p>
        </p:txBody>
      </p:sp>
      <p:cxnSp>
        <p:nvCxnSpPr>
          <p:cNvPr id="10" name="Connector 9"/>
          <p:cNvCxnSpPr/>
          <p:nvPr/>
        </p:nvCxnSpPr>
        <p:spPr>
          <a:xfrm>
            <a:off x="2167128" y="3959352"/>
            <a:ext cx="936619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4178808"/>
            <a:ext cx="1371600" cy="274320"/>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SOLUTION</a:t>
            </a:r>
          </a:p>
        </p:txBody>
      </p:sp>
      <p:sp>
        <p:nvSpPr>
          <p:cNvPr id="12" name="TextBox 11"/>
          <p:cNvSpPr txBox="1"/>
          <p:nvPr/>
        </p:nvSpPr>
        <p:spPr>
          <a:xfrm>
            <a:off x="2167128" y="4133088"/>
            <a:ext cx="9320479" cy="777240"/>
          </a:xfrm>
          <a:prstGeom prst="rect">
            <a:avLst/>
          </a:prstGeom>
          <a:noFill/>
        </p:spPr>
        <p:txBody>
          <a:bodyPr wrap="square" lIns="0" rIns="0" tIns="0" bIns="0" anchor="t">
            <a:spAutoFit/>
          </a:bodyPr>
          <a:lstStyle/>
          <a:p>
            <a:pPr algn="l">
              <a:lnSpc>
                <a:spcPct val="130000"/>
              </a:lnSpc>
            </a:pPr>
            <a:r>
              <a:rPr sz="1250" b="0" i="0">
                <a:solidFill>
                  <a:srgbClr val="1F2A37"/>
                </a:solidFill>
                <a:latin typeface="Segoe UI"/>
              </a:rPr>
              <a:t>A layered Java + MySQL application with verified recovery.</a:t>
            </a:r>
          </a:p>
        </p:txBody>
      </p:sp>
      <p:cxnSp>
        <p:nvCxnSpPr>
          <p:cNvPr id="13" name="Connector 12"/>
          <p:cNvCxnSpPr/>
          <p:nvPr/>
        </p:nvCxnSpPr>
        <p:spPr>
          <a:xfrm>
            <a:off x="2167128" y="4983480"/>
            <a:ext cx="9366199"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5202936"/>
            <a:ext cx="1371600" cy="274320"/>
          </a:xfrm>
          <a:prstGeom prst="rect">
            <a:avLst/>
          </a:prstGeom>
          <a:noFill/>
        </p:spPr>
        <p:txBody>
          <a:bodyPr wrap="square" lIns="0" rIns="0" tIns="0" bIns="0" anchor="t">
            <a:spAutoFit/>
          </a:bodyPr>
          <a:lstStyle/>
          <a:p>
            <a:pPr algn="l">
              <a:lnSpc>
                <a:spcPct val="105000"/>
              </a:lnSpc>
            </a:pPr>
            <a:r>
              <a:rPr sz="900" b="1" i="0">
                <a:solidFill>
                  <a:srgbClr val="2C7DA0"/>
                </a:solidFill>
                <a:latin typeface="Consolas"/>
              </a:rPr>
              <a:t>LEARNING</a:t>
            </a:r>
          </a:p>
        </p:txBody>
      </p:sp>
      <p:sp>
        <p:nvSpPr>
          <p:cNvPr id="15" name="TextBox 14"/>
          <p:cNvSpPr txBox="1"/>
          <p:nvPr/>
        </p:nvSpPr>
        <p:spPr>
          <a:xfrm>
            <a:off x="2167128" y="5157216"/>
            <a:ext cx="9320479" cy="777240"/>
          </a:xfrm>
          <a:prstGeom prst="rect">
            <a:avLst/>
          </a:prstGeom>
          <a:noFill/>
        </p:spPr>
        <p:txBody>
          <a:bodyPr wrap="square" lIns="0" rIns="0" tIns="0" bIns="0" anchor="t">
            <a:spAutoFit/>
          </a:bodyPr>
          <a:lstStyle/>
          <a:p>
            <a:pPr algn="l">
              <a:lnSpc>
                <a:spcPct val="130000"/>
              </a:lnSpc>
            </a:pPr>
            <a:r>
              <a:rPr sz="1250" b="0" i="0">
                <a:solidFill>
                  <a:srgbClr val="1F2A37"/>
                </a:solidFill>
                <a:latin typeface="Segoe UI"/>
              </a:rPr>
              <a:t>OOPS and DBMS applied where they genuinely fit — inheritance for item types, transactions for claims, views for matching.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32A3E"/>
        </a:solidFill>
        <a:effectLst/>
      </p:bgPr>
    </p:bg>
    <p:spTree>
      <p:nvGrpSpPr>
        <p:cNvPr id="1" name=""/>
        <p:cNvGrpSpPr/>
        <p:nvPr/>
      </p:nvGrpSpPr>
      <p:grpSpPr/>
      <p:sp>
        <p:nvSpPr>
          <p:cNvPr id="2" name="Oval 1"/>
          <p:cNvSpPr/>
          <p:nvPr/>
        </p:nvSpPr>
        <p:spPr>
          <a:xfrm>
            <a:off x="8412480" y="3108960"/>
            <a:ext cx="5120640" cy="5120640"/>
          </a:xfrm>
          <a:prstGeom prst="ellipse">
            <a:avLst/>
          </a:prstGeom>
          <a:solidFill>
            <a:srgbClr val="9FC9DD">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965960"/>
            <a:ext cx="7863840" cy="822960"/>
          </a:xfrm>
          <a:prstGeom prst="rect">
            <a:avLst/>
          </a:prstGeom>
          <a:noFill/>
        </p:spPr>
        <p:txBody>
          <a:bodyPr wrap="square" lIns="0" rIns="0" tIns="0" bIns="0" anchor="t">
            <a:spAutoFit/>
          </a:bodyPr>
          <a:lstStyle/>
          <a:p>
            <a:pPr algn="l">
              <a:lnSpc>
                <a:spcPct val="105000"/>
              </a:lnSpc>
            </a:pPr>
            <a:r>
              <a:rPr sz="4800" b="1" i="0">
                <a:solidFill>
                  <a:srgbClr val="FFFFFF"/>
                </a:solidFill>
                <a:latin typeface="Segoe UI"/>
              </a:rPr>
              <a:t>Thank you</a:t>
            </a:r>
          </a:p>
        </p:txBody>
      </p:sp>
      <p:sp>
        <p:nvSpPr>
          <p:cNvPr id="4" name="TextBox 3"/>
          <p:cNvSpPr txBox="1"/>
          <p:nvPr/>
        </p:nvSpPr>
        <p:spPr>
          <a:xfrm>
            <a:off x="658368" y="2788920"/>
            <a:ext cx="7863840" cy="457200"/>
          </a:xfrm>
          <a:prstGeom prst="rect">
            <a:avLst/>
          </a:prstGeom>
          <a:noFill/>
        </p:spPr>
        <p:txBody>
          <a:bodyPr wrap="square" lIns="0" rIns="0" tIns="0" bIns="0" anchor="t">
            <a:spAutoFit/>
          </a:bodyPr>
          <a:lstStyle/>
          <a:p>
            <a:pPr algn="l">
              <a:lnSpc>
                <a:spcPct val="105000"/>
              </a:lnSpc>
            </a:pPr>
            <a:r>
              <a:rPr sz="2200" b="0" i="0">
                <a:solidFill>
                  <a:srgbClr val="C9D6E2"/>
                </a:solidFill>
                <a:latin typeface="Segoe UI"/>
              </a:rPr>
              <a:t>Questions?</a:t>
            </a:r>
          </a:p>
        </p:txBody>
      </p:sp>
      <p:sp>
        <p:nvSpPr>
          <p:cNvPr id="5" name="Rectangle 4"/>
          <p:cNvSpPr/>
          <p:nvPr/>
        </p:nvSpPr>
        <p:spPr>
          <a:xfrm>
            <a:off x="685800" y="3456432"/>
            <a:ext cx="1417320" cy="64008"/>
          </a:xfrm>
          <a:prstGeom prst="rect">
            <a:avLst/>
          </a:prstGeom>
          <a:solidFill>
            <a:srgbClr val="2C7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794760"/>
            <a:ext cx="7498079" cy="822960"/>
          </a:xfrm>
          <a:prstGeom prst="rect">
            <a:avLst/>
          </a:prstGeom>
          <a:noFill/>
        </p:spPr>
        <p:txBody>
          <a:bodyPr wrap="square" lIns="0" rIns="0" tIns="0" bIns="0" anchor="t">
            <a:spAutoFit/>
          </a:bodyPr>
          <a:lstStyle/>
          <a:p>
            <a:pPr algn="l">
              <a:lnSpc>
                <a:spcPct val="135000"/>
              </a:lnSpc>
            </a:pPr>
            <a:r>
              <a:rPr sz="1350" b="0" i="0">
                <a:solidFill>
                  <a:srgbClr val="C9D6E2"/>
                </a:solidFill>
                <a:latin typeface="Segoe UI"/>
              </a:rPr>
              <a:t>Happy to demonstrate any screen live — including the transaction</a:t>
            </a:r>
          </a:p>
          <a:p>
            <a:pPr algn="l">
              <a:lnSpc>
                <a:spcPct val="135000"/>
              </a:lnSpc>
            </a:pPr>
            <a:r>
              <a:rPr sz="1350" b="0" i="0">
                <a:solidFill>
                  <a:srgbClr val="C9D6E2"/>
                </a:solidFill>
                <a:latin typeface="Segoe UI"/>
              </a:rPr>
              <a:t>behind the approve button.</a:t>
            </a:r>
          </a:p>
        </p:txBody>
      </p:sp>
      <p:sp>
        <p:nvSpPr>
          <p:cNvPr id="7" name="TextBox 6"/>
          <p:cNvSpPr txBox="1"/>
          <p:nvPr/>
        </p:nvSpPr>
        <p:spPr>
          <a:xfrm>
            <a:off x="658368" y="5074920"/>
            <a:ext cx="8412480" cy="274320"/>
          </a:xfrm>
          <a:prstGeom prst="rect">
            <a:avLst/>
          </a:prstGeom>
          <a:noFill/>
        </p:spPr>
        <p:txBody>
          <a:bodyPr wrap="square" lIns="0" rIns="0" tIns="0" bIns="0" anchor="t">
            <a:spAutoFit/>
          </a:bodyPr>
          <a:lstStyle/>
          <a:p>
            <a:pPr algn="l">
              <a:lnSpc>
                <a:spcPct val="105000"/>
              </a:lnSpc>
            </a:pPr>
            <a:r>
              <a:rPr sz="850" b="1" i="0">
                <a:solidFill>
                  <a:srgbClr val="6E8CA8"/>
                </a:solidFill>
                <a:latin typeface="Segoe UI"/>
              </a:rPr>
              <a:t>DEMO ACCOUNTS</a:t>
            </a:r>
          </a:p>
        </p:txBody>
      </p:sp>
      <p:sp>
        <p:nvSpPr>
          <p:cNvPr id="8" name="TextBox 7"/>
          <p:cNvSpPr txBox="1"/>
          <p:nvPr/>
        </p:nvSpPr>
        <p:spPr>
          <a:xfrm>
            <a:off x="658368" y="5349240"/>
            <a:ext cx="8686800" cy="548640"/>
          </a:xfrm>
          <a:prstGeom prst="rect">
            <a:avLst/>
          </a:prstGeom>
          <a:noFill/>
        </p:spPr>
        <p:txBody>
          <a:bodyPr wrap="square" lIns="0" rIns="0" tIns="0" bIns="0" anchor="t">
            <a:spAutoFit/>
          </a:bodyPr>
          <a:lstStyle/>
          <a:p>
            <a:pPr algn="l">
              <a:lnSpc>
                <a:spcPct val="105000"/>
              </a:lnSpc>
            </a:pPr>
            <a:r>
              <a:rPr sz="1200" b="1" i="0">
                <a:solidFill>
                  <a:srgbClr val="8FD3DE"/>
                </a:solidFill>
                <a:latin typeface="Consolas"/>
              </a:rPr>
              <a:t>security@campus.edu / staff123     ·     arjun@campus.edu / student123</a:t>
            </a:r>
          </a:p>
        </p:txBody>
      </p:sp>
      <p:sp>
        <p:nvSpPr>
          <p:cNvPr id="9" name="TextBox 8"/>
          <p:cNvSpPr txBox="1"/>
          <p:nvPr/>
        </p:nvSpPr>
        <p:spPr>
          <a:xfrm>
            <a:off x="8424367" y="6419088"/>
            <a:ext cx="3108960" cy="228600"/>
          </a:xfrm>
          <a:prstGeom prst="rect">
            <a:avLst/>
          </a:prstGeom>
          <a:noFill/>
        </p:spPr>
        <p:txBody>
          <a:bodyPr wrap="square" lIns="0" rIns="0" tIns="0" bIns="0" anchor="t">
            <a:spAutoFit/>
          </a:bodyPr>
          <a:lstStyle/>
          <a:p>
            <a:pPr algn="r">
              <a:lnSpc>
                <a:spcPct val="105000"/>
              </a:lnSpc>
            </a:pPr>
            <a:r>
              <a:rPr sz="900" b="0" i="0">
                <a:solidFill>
                  <a:srgbClr val="6E8CA8"/>
                </a:solidFill>
                <a:latin typeface="Segoe UI"/>
              </a:rPr>
              <a:t>Campus Lost &amp; Found  ·  2025–26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Lost &amp; Found Management System</dc:title>
  <dc:subject>OOPS + DBMS mini project presentation</dc:subject>
  <dc:creator>Campus Lost &amp; Found project</dc:creator>
  <cp:keywords>Java, Swing, JDBC, MySQL, OOPS, DBMS</cp:keywords>
  <dc:description>Generated from docs/PPT_SLIDES.md</dc:description>
  <cp:lastModifiedBy>Steve Canny</cp:lastModifiedBy>
  <cp:revision>1</cp:revision>
  <dcterms:created xsi:type="dcterms:W3CDTF">2013-01-27T09:14:16Z</dcterms:created>
  <dcterms:modified xsi:type="dcterms:W3CDTF">2013-01-27T09:15:58Z</dcterms:modified>
  <cp:category/>
</cp:coreProperties>
</file>